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8" r:id="rId3"/>
    <p:sldId id="259" r:id="rId4"/>
    <p:sldId id="260" r:id="rId5"/>
    <p:sldId id="261" r:id="rId6"/>
    <p:sldId id="267" r:id="rId7"/>
    <p:sldId id="262" r:id="rId8"/>
    <p:sldId id="268" r:id="rId9"/>
    <p:sldId id="263" r:id="rId10"/>
    <p:sldId id="264" r:id="rId11"/>
    <p:sldId id="269" r:id="rId12"/>
    <p:sldId id="270" r:id="rId13"/>
    <p:sldId id="271" r:id="rId14"/>
    <p:sldId id="272" r:id="rId15"/>
    <p:sldId id="265" r:id="rId16"/>
    <p:sldId id="273" r:id="rId17"/>
    <p:sldId id="274" r:id="rId18"/>
    <p:sldId id="282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66" r:id="rId27"/>
  </p:sldIdLst>
  <p:sldSz cx="9144000" cy="5143500" type="screen16x9"/>
  <p:notesSz cx="6858000" cy="9144000"/>
  <p:embeddedFontLst>
    <p:embeddedFont>
      <p:font typeface="Rubik" panose="020B0604020202020204" charset="-79"/>
      <p:regular r:id="rId29"/>
      <p:bold r:id="rId30"/>
      <p:italic r:id="rId31"/>
      <p:boldItalic r:id="rId32"/>
    </p:embeddedFont>
    <p:embeddedFont>
      <p:font typeface="Rubik Light" panose="020B0604020202020204" charset="-79"/>
      <p:regular r:id="rId33"/>
      <p:bold r:id="rId34"/>
      <p:italic r:id="rId35"/>
      <p:boldItalic r:id="rId36"/>
    </p:embeddedFont>
    <p:embeddedFont>
      <p:font typeface="Rubik Medium" panose="020B0604020202020204" charset="-79"/>
      <p:regular r:id="rId37"/>
      <p:bold r:id="rId38"/>
      <p:italic r:id="rId39"/>
      <p:boldItalic r:id="rId40"/>
    </p:embeddedFont>
    <p:embeddedFont>
      <p:font typeface="Rubik SemiBold" panose="020B0604020202020204" charset="-79"/>
      <p:regular r:id="rId41"/>
      <p:bold r:id="rId42"/>
      <p:italic r:id="rId43"/>
      <p:boldItalic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5" roundtripDataSignature="AMtx7mi1nl8uAJepcjcA2CnLI/GAkZtj/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C7B"/>
    <a:srgbClr val="FFFFFF"/>
    <a:srgbClr val="BCCCDC"/>
    <a:srgbClr val="B1C3D7"/>
    <a:srgbClr val="4285F4"/>
    <a:srgbClr val="01949E"/>
    <a:srgbClr val="212121"/>
    <a:srgbClr val="EEEEEE"/>
    <a:srgbClr val="E4EAEB"/>
    <a:srgbClr val="E9EB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5" autoAdjust="0"/>
    <p:restoredTop sz="94660"/>
  </p:normalViewPr>
  <p:slideViewPr>
    <p:cSldViewPr snapToGrid="0">
      <p:cViewPr varScale="1">
        <p:scale>
          <a:sx n="86" d="100"/>
          <a:sy n="86" d="100"/>
        </p:scale>
        <p:origin x="798" y="7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1.fntdata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42" Type="http://schemas.openxmlformats.org/officeDocument/2006/relationships/font" Target="fonts/font14.fntdata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1.fntdata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40" Type="http://schemas.openxmlformats.org/officeDocument/2006/relationships/font" Target="fonts/font12.fntdata"/><Relationship Id="rId45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8.fntdata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4" Type="http://schemas.openxmlformats.org/officeDocument/2006/relationships/font" Target="fonts/font1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43" Type="http://schemas.openxmlformats.org/officeDocument/2006/relationships/font" Target="fonts/font15.fntdata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font" Target="fonts/font10.fntdata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" name="Google Shape;7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65ee868302_0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g265ee868302_0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65ee868302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g265ee868302_0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65ee868302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g265ee868302_0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916556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3ec2985a68_1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g23ec2985a68_1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3ec2985a68_1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g23ec2985a68_1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135660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3ec2985a68_1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g23ec2985a68_1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3ec2985a68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g23ec2985a68_1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3ec2985a68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g23ec2985a68_1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67704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3ec2985a68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g23ec2985a68_1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195654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3ec2985a68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g23ec2985a68_1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698484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3ec2985a68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g23ec2985a68_1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485617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3ec2985a68_1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g23ec2985a68_1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3ec2985a68_1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g23ec2985a68_1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1780626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3ec2985a68_1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g23ec2985a68_1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6808405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3ec2985a68_1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g23ec2985a68_1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1222908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3ec2985a68_1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g23ec2985a68_1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543709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3ec2985a68_1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g23ec2985a68_1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2727834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3ec2985a68_1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g23ec2985a68_1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447471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3ec2985a68_1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g23ec2985a68_1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4032979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3ec2985a68_1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g23ec2985a68_1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2315640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3ec2985a68_1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g23ec2985a68_1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8793003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3ec2985a68_1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g23ec2985a68_1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148410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7" name="Google Shape;17;p1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8" name="Google Shape;1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" name="Google Shape;21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14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2" name="Google Shape;32;p1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6" name="Google Shape;36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1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1" name="Google Shape;41;p1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5" name="Google Shape;45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0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2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13" Type="http://schemas.microsoft.com/office/2007/relationships/hdphoto" Target="../media/hdphoto1.wdp"/><Relationship Id="rId3" Type="http://schemas.openxmlformats.org/officeDocument/2006/relationships/image" Target="../media/image1.png"/><Relationship Id="rId7" Type="http://schemas.openxmlformats.org/officeDocument/2006/relationships/hyperlink" Target="https://www.linkedin.com/in/sitimuyassaroh/" TargetMode="External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hyperlink" Target="https://github.com/sitimuyassaroh" TargetMode="External"/><Relationship Id="rId5" Type="http://schemas.openxmlformats.org/officeDocument/2006/relationships/image" Target="../media/image5.png"/><Relationship Id="rId10" Type="http://schemas.openxmlformats.org/officeDocument/2006/relationships/image" Target="../media/image9.svg"/><Relationship Id="rId4" Type="http://schemas.openxmlformats.org/officeDocument/2006/relationships/image" Target="../media/image4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hyperlink" Target="https://drive.google.com/file/d/1NbeTNyXZ7y2EBiK7kMSGba79cA57JmWs/view?usp=sharing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theforage.com/completion-certificates/9PBTqmSxAf6zZTseP/io9DzWKe3PTsiS6GG_9PBTqmSxAf6zZTseP_6aa35fd67b6283118ce67f04_1789530753885_completion_certificate.pdf" TargetMode="External"/><Relationship Id="rId5" Type="http://schemas.openxmlformats.org/officeDocument/2006/relationships/hyperlink" Target="https://drive.google.com/file/d/1b0NBtba9CVo-GfNpY7X4rj1aCk7TZ9Sm/view?usp=sharing" TargetMode="Externa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sitimuyassaroh/Kimia_Farma_Business_Data_Analysis.git" TargetMode="External"/><Relationship Id="rId5" Type="http://schemas.openxmlformats.org/officeDocument/2006/relationships/hyperlink" Target="https://drive.google.com/file/d/1o_a-X9EhvqyrYCIUCOlmhHn047JjY_NC/view?usp=drivesdk" TargetMode="Externa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ithub.com/sitimuyassaroh/Kimia_Farma_Business_Data_Analysis/commit/5176d762e4861abe1a46e16078e7da421a6aebbc" TargetMode="Externa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ithub.com/sitimuyassaroh/Kimia_Farma_Business_Data_Analysis/commit/5176d762e4861abe1a46e16078e7da421a6aebbc" TargetMode="Externa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ithub.com/sitimuyassaroh/Kimia_Farma_Business_Data_Analysis/commit/5176d762e4861abe1a46e16078e7da421a6aebbc" TargetMode="Externa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ithub.com/sitimuyassaroh/Kimia_Farma_Business_Data_Analysis/commit/5176d762e4861abe1a46e16078e7da421a6aebbc" TargetMode="Externa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hyperlink" Target="https://datastudio.google.com/reporting/8cbeb960-9fad-4140-818f-db680a9861ff" TargetMode="External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1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4.png"/><Relationship Id="rId9" Type="http://schemas.openxmlformats.org/officeDocument/2006/relationships/image" Target="../media/image44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1.png"/><Relationship Id="rId7" Type="http://schemas.openxmlformats.org/officeDocument/2006/relationships/hyperlink" Target="https://datastudio.google.com/reporting/8cbeb960-9fad-4140-818f-db680a9861ff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hyperlink" Target="https://drive.google.com/file/d/1o_a-X9EhvqyrYCIUCOlmhHn047JjY_NC/view?usp=drivesdk" TargetMode="External"/><Relationship Id="rId5" Type="http://schemas.openxmlformats.org/officeDocument/2006/relationships/image" Target="../media/image3.png"/><Relationship Id="rId10" Type="http://schemas.openxmlformats.org/officeDocument/2006/relationships/image" Target="../media/image15.png"/><Relationship Id="rId4" Type="http://schemas.openxmlformats.org/officeDocument/2006/relationships/image" Target="../media/image2.png"/><Relationship Id="rId9" Type="http://schemas.openxmlformats.org/officeDocument/2006/relationships/hyperlink" Target="https://github.com/sitimuyassaroh/Kimia_Farma_Business_Data_Analysis.gi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9FAB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9800" y="186500"/>
            <a:ext cx="1399901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"/>
          <p:cNvSpPr txBox="1"/>
          <p:nvPr/>
        </p:nvSpPr>
        <p:spPr>
          <a:xfrm>
            <a:off x="517900" y="1281296"/>
            <a:ext cx="6664953" cy="800189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en" sz="4000" b="1" dirty="0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rPr>
              <a:t>Performance Analytics</a:t>
            </a:r>
            <a:endParaRPr sz="4000" b="0" i="0" u="none" strike="noStrike" cap="none" dirty="0">
              <a:solidFill>
                <a:schemeClr val="lt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57" name="Google Shape;57;p1"/>
          <p:cNvSpPr txBox="1"/>
          <p:nvPr/>
        </p:nvSpPr>
        <p:spPr>
          <a:xfrm>
            <a:off x="517900" y="3130300"/>
            <a:ext cx="7289100" cy="5694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" sz="2500">
                <a:solidFill>
                  <a:schemeClr val="lt1"/>
                </a:solidFill>
                <a:latin typeface="Rubik SemiBold"/>
                <a:ea typeface="Rubik SemiBold"/>
                <a:cs typeface="Rubik SemiBold"/>
                <a:sym typeface="Rubik SemiBold"/>
              </a:rPr>
              <a:t>Kimia Farma </a:t>
            </a:r>
            <a:r>
              <a:rPr lang="en" sz="2500" b="0" i="0" u="none" strike="noStrike" cap="none">
                <a:solidFill>
                  <a:schemeClr val="lt1"/>
                </a:solidFill>
                <a:latin typeface="Rubik SemiBold"/>
                <a:ea typeface="Rubik SemiBold"/>
                <a:cs typeface="Rubik SemiBold"/>
                <a:sym typeface="Rubik SemiBold"/>
              </a:rPr>
              <a:t>- </a:t>
            </a:r>
            <a:r>
              <a:rPr lang="en" sz="2500">
                <a:solidFill>
                  <a:schemeClr val="lt1"/>
                </a:solidFill>
                <a:latin typeface="Rubik SemiBold"/>
                <a:ea typeface="Rubik SemiBold"/>
                <a:cs typeface="Rubik SemiBold"/>
                <a:sym typeface="Rubik SemiBold"/>
              </a:rPr>
              <a:t>Big Data Analytics</a:t>
            </a:r>
            <a:endParaRPr sz="2500" b="0" i="0" u="none" strike="noStrike" cap="none">
              <a:solidFill>
                <a:schemeClr val="lt1"/>
              </a:solidFill>
              <a:latin typeface="Rubik SemiBold"/>
              <a:ea typeface="Rubik SemiBold"/>
              <a:cs typeface="Rubik SemiBold"/>
              <a:sym typeface="Rubik SemiBold"/>
            </a:endParaRPr>
          </a:p>
        </p:txBody>
      </p:sp>
      <p:sp>
        <p:nvSpPr>
          <p:cNvPr id="58" name="Google Shape;58;p1"/>
          <p:cNvSpPr/>
          <p:nvPr/>
        </p:nvSpPr>
        <p:spPr>
          <a:xfrm>
            <a:off x="6757125" y="-621925"/>
            <a:ext cx="3135000" cy="3051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"/>
          <p:cNvSpPr txBox="1"/>
          <p:nvPr/>
        </p:nvSpPr>
        <p:spPr>
          <a:xfrm>
            <a:off x="1769125" y="172450"/>
            <a:ext cx="457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" sz="3000" b="0" i="0" u="none" strike="noStrike" cap="none">
                <a:solidFill>
                  <a:schemeClr val="lt1"/>
                </a:solidFill>
                <a:latin typeface="Rubik SemiBold"/>
                <a:ea typeface="Rubik SemiBold"/>
                <a:cs typeface="Rubik SemiBold"/>
                <a:sym typeface="Rubik SemiBold"/>
              </a:rPr>
              <a:t>X</a:t>
            </a:r>
            <a:endParaRPr sz="3000" b="0" i="0" u="none" strike="noStrike" cap="none">
              <a:solidFill>
                <a:schemeClr val="lt1"/>
              </a:solidFill>
              <a:latin typeface="Rubik SemiBold"/>
              <a:ea typeface="Rubik SemiBold"/>
              <a:cs typeface="Rubik SemiBold"/>
              <a:sym typeface="Rubik SemiBold"/>
            </a:endParaRPr>
          </a:p>
        </p:txBody>
      </p:sp>
      <p:sp>
        <p:nvSpPr>
          <p:cNvPr id="60" name="Google Shape;60;p1"/>
          <p:cNvSpPr txBox="1"/>
          <p:nvPr/>
        </p:nvSpPr>
        <p:spPr>
          <a:xfrm>
            <a:off x="517900" y="3699700"/>
            <a:ext cx="4392000" cy="954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0" i="0" u="none" strike="noStrike" cap="none" dirty="0">
                <a:solidFill>
                  <a:schemeClr val="lt1"/>
                </a:solidFill>
                <a:latin typeface="Rubik Light"/>
                <a:ea typeface="Rubik Light"/>
                <a:cs typeface="Rubik Light"/>
                <a:sym typeface="Rubik Light"/>
              </a:rPr>
              <a:t>Presented by</a:t>
            </a:r>
            <a:endParaRPr sz="2000" b="0" i="0" u="none" strike="noStrike" cap="none" dirty="0">
              <a:solidFill>
                <a:schemeClr val="lt1"/>
              </a:solidFill>
              <a:latin typeface="Rubik Light"/>
              <a:ea typeface="Rubik Light"/>
              <a:cs typeface="Rubik Light"/>
              <a:sym typeface="Rubik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3000" dirty="0">
                <a:solidFill>
                  <a:schemeClr val="lt1"/>
                </a:solidFill>
                <a:latin typeface="Rubik Light"/>
                <a:ea typeface="Rubik Light"/>
                <a:cs typeface="Rubik Light"/>
                <a:sym typeface="Rubik Light"/>
              </a:rPr>
              <a:t>Siti Muyassaroh</a:t>
            </a:r>
            <a:endParaRPr sz="3000" b="0" i="0" u="none" strike="noStrike" cap="none" dirty="0">
              <a:solidFill>
                <a:schemeClr val="lt1"/>
              </a:solidFill>
              <a:latin typeface="Rubik Light"/>
              <a:ea typeface="Rubik Light"/>
              <a:cs typeface="Rubik Light"/>
              <a:sym typeface="Rubik Light"/>
            </a:endParaRPr>
          </a:p>
        </p:txBody>
      </p:sp>
      <p:pic>
        <p:nvPicPr>
          <p:cNvPr id="61" name="Google Shape;61;p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50825" y="133900"/>
            <a:ext cx="1581660" cy="5694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56;p1">
            <a:extLst>
              <a:ext uri="{FF2B5EF4-FFF2-40B4-BE49-F238E27FC236}">
                <a16:creationId xmlns:a16="http://schemas.microsoft.com/office/drawing/2014/main" id="{B730FF39-A1CC-2B4B-19E3-DED0C12A49FA}"/>
              </a:ext>
            </a:extLst>
          </p:cNvPr>
          <p:cNvSpPr txBox="1"/>
          <p:nvPr/>
        </p:nvSpPr>
        <p:spPr>
          <a:xfrm>
            <a:off x="517900" y="1878107"/>
            <a:ext cx="6664953" cy="55396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buSzPts val="4500"/>
            </a:pPr>
            <a:r>
              <a:rPr lang="en" sz="2400" b="1" i="1" dirty="0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rPr>
              <a:t>Kimia Farma Business Year 2020-2023</a:t>
            </a:r>
            <a:endParaRPr lang="en" sz="2400" b="0" i="1" u="none" strike="noStrike" cap="none" dirty="0">
              <a:solidFill>
                <a:schemeClr val="lt1"/>
              </a:solidFill>
              <a:latin typeface="Rubik"/>
              <a:ea typeface="Rubik"/>
              <a:cs typeface="Rubik"/>
              <a:sym typeface="Rubi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3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-12126" y="0"/>
            <a:ext cx="9156126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EF5C5EA-BC8F-DE10-7A95-FDF6E6027360}"/>
              </a:ext>
            </a:extLst>
          </p:cNvPr>
          <p:cNvSpPr/>
          <p:nvPr/>
        </p:nvSpPr>
        <p:spPr>
          <a:xfrm>
            <a:off x="2917754" y="892098"/>
            <a:ext cx="6238372" cy="3271817"/>
          </a:xfrm>
          <a:prstGeom prst="rect">
            <a:avLst/>
          </a:prstGeom>
          <a:solidFill>
            <a:srgbClr val="003C7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3" name="Google Shape;73;p3"/>
          <p:cNvPicPr preferRelativeResize="0"/>
          <p:nvPr/>
        </p:nvPicPr>
        <p:blipFill rotWithShape="1">
          <a:blip r:embed="rId4">
            <a:alphaModFix/>
          </a:blip>
          <a:srcRect t="5658" b="5649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3"/>
          <p:cNvSpPr txBox="1"/>
          <p:nvPr/>
        </p:nvSpPr>
        <p:spPr>
          <a:xfrm>
            <a:off x="3054813" y="1278747"/>
            <a:ext cx="35046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400" b="1" dirty="0">
                <a:solidFill>
                  <a:schemeClr val="bg1"/>
                </a:solidFill>
                <a:latin typeface="Rubik SemiBold"/>
                <a:ea typeface="Rubik SemiBold"/>
                <a:cs typeface="Rubik SemiBold"/>
                <a:sym typeface="Rubik SemiBold"/>
              </a:rPr>
              <a:t>Siti Muyassaroh</a:t>
            </a:r>
            <a:endParaRPr sz="2400" b="1" i="0" u="none" strike="noStrike" cap="none" dirty="0">
              <a:solidFill>
                <a:schemeClr val="bg1"/>
              </a:solidFill>
              <a:latin typeface="Rubik SemiBold"/>
              <a:ea typeface="Rubik SemiBold"/>
              <a:cs typeface="Rubik SemiBold"/>
              <a:sym typeface="Rubik SemiBold"/>
            </a:endParaRPr>
          </a:p>
        </p:txBody>
      </p:sp>
      <p:sp>
        <p:nvSpPr>
          <p:cNvPr id="79" name="Google Shape;79;p3"/>
          <p:cNvSpPr txBox="1"/>
          <p:nvPr/>
        </p:nvSpPr>
        <p:spPr>
          <a:xfrm>
            <a:off x="3054812" y="1706511"/>
            <a:ext cx="5812461" cy="2400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200" dirty="0">
                <a:solidFill>
                  <a:schemeClr val="bg1"/>
                </a:solidFill>
                <a:latin typeface="Rubik Medium"/>
                <a:ea typeface="Rubik Medium"/>
                <a:cs typeface="Rubik Medium"/>
                <a:sym typeface="Rubik Medium"/>
              </a:rPr>
              <a:t>Data Enthusiast with strong skills in statistical data analysis, project data, and laboratory research data; holds a bachelor’s degree from Universitas Gadjah </a:t>
            </a:r>
            <a:r>
              <a:rPr lang="en-US" sz="1200" dirty="0" err="1">
                <a:solidFill>
                  <a:schemeClr val="bg1"/>
                </a:solidFill>
                <a:latin typeface="Rubik Medium"/>
                <a:ea typeface="Rubik Medium"/>
                <a:cs typeface="Rubik Medium"/>
                <a:sym typeface="Rubik Medium"/>
              </a:rPr>
              <a:t>Mada</a:t>
            </a:r>
            <a:r>
              <a:rPr lang="en-US" sz="1200" dirty="0">
                <a:solidFill>
                  <a:schemeClr val="bg1"/>
                </a:solidFill>
                <a:latin typeface="Rubik Medium"/>
                <a:ea typeface="Rubik Medium"/>
                <a:cs typeface="Rubik Medium"/>
                <a:sym typeface="Rubik Medium"/>
              </a:rPr>
              <a:t>. Has experience related to these competencies gained through thesis research, research projects, and a project-based internship at a consulting firm (Deloitte Australia). Has experience participating in data analysis bootcamps and obtaining certifications in SQL and Python. Proficient in tools such as MySQL, Python, SPSS Statistics, Tableau, </a:t>
            </a:r>
            <a:r>
              <a:rPr lang="en-US" sz="1200" dirty="0" err="1">
                <a:solidFill>
                  <a:schemeClr val="bg1"/>
                </a:solidFill>
                <a:latin typeface="Rubik Medium"/>
                <a:ea typeface="Rubik Medium"/>
                <a:cs typeface="Rubik Medium"/>
                <a:sym typeface="Rubik Medium"/>
              </a:rPr>
              <a:t>Ms.Excel</a:t>
            </a:r>
            <a:r>
              <a:rPr lang="en-US" sz="1200" dirty="0">
                <a:solidFill>
                  <a:schemeClr val="bg1"/>
                </a:solidFill>
                <a:latin typeface="Rubik Medium"/>
                <a:ea typeface="Rubik Medium"/>
                <a:cs typeface="Rubik Medium"/>
                <a:sym typeface="Rubik Medium"/>
              </a:rPr>
              <a:t> and visualization tools like Data Studio and Power BI.</a:t>
            </a:r>
            <a:endParaRPr sz="1200" u="none" strike="noStrike" cap="none" dirty="0">
              <a:solidFill>
                <a:schemeClr val="bg1"/>
              </a:solidFill>
              <a:latin typeface="Rubik Medium"/>
              <a:ea typeface="Rubik Medium"/>
              <a:cs typeface="Rubik Medium"/>
              <a:sym typeface="Rubik Medium"/>
            </a:endParaRPr>
          </a:p>
        </p:txBody>
      </p:sp>
      <p:pic>
        <p:nvPicPr>
          <p:cNvPr id="81" name="Google Shape;81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5699" y="3700177"/>
            <a:ext cx="307399" cy="283739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9045" y="3337855"/>
            <a:ext cx="307399" cy="20246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3"/>
          <p:cNvSpPr txBox="1"/>
          <p:nvPr/>
        </p:nvSpPr>
        <p:spPr>
          <a:xfrm>
            <a:off x="699110" y="3602543"/>
            <a:ext cx="3438588" cy="438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D" sz="1100" b="1" u="none" strike="noStrike" cap="none" dirty="0">
                <a:solidFill>
                  <a:schemeClr val="tx1"/>
                </a:solidFill>
                <a:latin typeface="Rubik Medium"/>
                <a:ea typeface="Rubik Medium"/>
                <a:cs typeface="Rubik Medium"/>
                <a:sym typeface="Rubik Medium"/>
                <a:hlinkClick r:id="rId7" tooltip="https://www.linkedin.com/in/sitimuyassaroh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Siti </a:t>
            </a:r>
            <a:r>
              <a:rPr lang="en-ID" sz="1100" b="1" u="none" strike="noStrike" cap="none" dirty="0" err="1">
                <a:solidFill>
                  <a:schemeClr val="tx1"/>
                </a:solidFill>
                <a:latin typeface="Rubik Medium"/>
                <a:ea typeface="Rubik Medium"/>
                <a:cs typeface="Rubik Medium"/>
                <a:sym typeface="Rubik Medium"/>
                <a:hlinkClick r:id="rId7" tooltip="https://www.linkedin.com/in/sitimuyassaroh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Muyassaroh</a:t>
            </a:r>
            <a:endParaRPr sz="1100" b="1" u="none" strike="noStrike" cap="none" dirty="0">
              <a:solidFill>
                <a:schemeClr val="tx1"/>
              </a:solidFill>
              <a:latin typeface="Rubik Medium"/>
              <a:ea typeface="Rubik Medium"/>
              <a:cs typeface="Rubik Medium"/>
              <a:sym typeface="Rubik Medium"/>
            </a:endParaRPr>
          </a:p>
        </p:txBody>
      </p:sp>
      <p:sp>
        <p:nvSpPr>
          <p:cNvPr id="85" name="Google Shape;85;p3"/>
          <p:cNvSpPr txBox="1"/>
          <p:nvPr/>
        </p:nvSpPr>
        <p:spPr>
          <a:xfrm>
            <a:off x="686984" y="3176987"/>
            <a:ext cx="3504600" cy="523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D" sz="1100" dirty="0">
                <a:latin typeface="Rubik Medium"/>
                <a:ea typeface="Rubik Medium"/>
                <a:cs typeface="Rubik Medium"/>
                <a:sym typeface="Rubik Medium"/>
              </a:rPr>
              <a:t>s</a:t>
            </a:r>
            <a:r>
              <a:rPr lang="en" sz="1100" dirty="0">
                <a:latin typeface="Rubik Medium"/>
                <a:ea typeface="Rubik Medium"/>
                <a:cs typeface="Rubik Medium"/>
                <a:sym typeface="Rubik Medium"/>
              </a:rPr>
              <a:t>iti.muyassaroh039@gmail.com</a:t>
            </a:r>
            <a:endParaRPr lang="en" sz="1100" u="none" strike="noStrike" cap="none" dirty="0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1100" dirty="0">
                <a:latin typeface="Rubik Medium"/>
                <a:ea typeface="Rubik Medium"/>
                <a:cs typeface="Rubik Medium"/>
                <a:sym typeface="Rubik Medium"/>
              </a:rPr>
              <a:t>ayasmyssarh@gmail.com</a:t>
            </a:r>
            <a:endParaRPr sz="1100" u="none" strike="noStrike" cap="none" dirty="0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FE619DE-1F06-094E-2608-F867F4D10164}"/>
              </a:ext>
            </a:extLst>
          </p:cNvPr>
          <p:cNvSpPr/>
          <p:nvPr/>
        </p:nvSpPr>
        <p:spPr>
          <a:xfrm>
            <a:off x="418145" y="460095"/>
            <a:ext cx="2081463" cy="2309988"/>
          </a:xfrm>
          <a:prstGeom prst="ellipse">
            <a:avLst/>
          </a:prstGeom>
          <a:blipFill dpi="0"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7" name="Google Shape;76;p3">
            <a:extLst>
              <a:ext uri="{FF2B5EF4-FFF2-40B4-BE49-F238E27FC236}">
                <a16:creationId xmlns:a16="http://schemas.microsoft.com/office/drawing/2014/main" id="{8B2D3949-D375-9446-77AA-D7D84DFF7B0A}"/>
              </a:ext>
            </a:extLst>
          </p:cNvPr>
          <p:cNvSpPr txBox="1"/>
          <p:nvPr/>
        </p:nvSpPr>
        <p:spPr>
          <a:xfrm>
            <a:off x="3054813" y="979585"/>
            <a:ext cx="35046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1800" i="1" u="none" strike="noStrike" cap="none" dirty="0">
                <a:solidFill>
                  <a:schemeClr val="bg1"/>
                </a:solidFill>
                <a:latin typeface="Rubik SemiBold"/>
                <a:ea typeface="Rubik SemiBold"/>
                <a:cs typeface="Rubik SemiBold"/>
                <a:sym typeface="Rubik SemiBold"/>
              </a:rPr>
              <a:t>Hello, I’m</a:t>
            </a:r>
            <a:endParaRPr sz="1800" i="1" u="none" strike="noStrike" cap="none" dirty="0">
              <a:solidFill>
                <a:schemeClr val="bg1"/>
              </a:solidFill>
              <a:latin typeface="Rubik SemiBold"/>
              <a:ea typeface="Rubik SemiBold"/>
              <a:cs typeface="Rubik SemiBold"/>
              <a:sym typeface="Rubik SemiBo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3A74FEF-F1C0-7238-9EFF-A702C887F250}"/>
              </a:ext>
            </a:extLst>
          </p:cNvPr>
          <p:cNvSpPr txBox="1"/>
          <p:nvPr/>
        </p:nvSpPr>
        <p:spPr>
          <a:xfrm>
            <a:off x="340499" y="4770301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100" dirty="0">
                <a:solidFill>
                  <a:schemeClr val="accent2">
                    <a:lumMod val="75000"/>
                    <a:lumOff val="25000"/>
                  </a:schemeClr>
                </a:solidFill>
                <a:latin typeface="Rubik"/>
                <a:ea typeface="Rubik"/>
                <a:cs typeface="Rubik"/>
                <a:sym typeface="Rubik"/>
              </a:rPr>
              <a:t>Kimia </a:t>
            </a:r>
            <a:r>
              <a:rPr lang="en-ID" sz="1100" dirty="0" err="1">
                <a:solidFill>
                  <a:schemeClr val="accent2">
                    <a:lumMod val="75000"/>
                    <a:lumOff val="25000"/>
                  </a:schemeClr>
                </a:solidFill>
                <a:latin typeface="Rubik"/>
                <a:ea typeface="Rubik"/>
                <a:cs typeface="Rubik"/>
                <a:sym typeface="Rubik"/>
              </a:rPr>
              <a:t>Farma</a:t>
            </a:r>
            <a:r>
              <a:rPr lang="en-ID" sz="1100" dirty="0">
                <a:solidFill>
                  <a:schemeClr val="accent2">
                    <a:lumMod val="75000"/>
                    <a:lumOff val="25000"/>
                  </a:schemeClr>
                </a:solidFill>
                <a:latin typeface="Rubik"/>
                <a:ea typeface="Rubik"/>
                <a:cs typeface="Rubik"/>
                <a:sym typeface="Rubik"/>
              </a:rPr>
              <a:t> Performance Analytics 2020-2023</a:t>
            </a:r>
            <a:endParaRPr lang="en-ID" sz="1100" dirty="0">
              <a:solidFill>
                <a:schemeClr val="accent2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6" name="Graphic 5" descr="Marker with solid fill">
            <a:extLst>
              <a:ext uri="{FF2B5EF4-FFF2-40B4-BE49-F238E27FC236}">
                <a16:creationId xmlns:a16="http://schemas.microsoft.com/office/drawing/2014/main" id="{5EEE0FBD-03EF-6862-0C3B-A88CDC095BE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76727" y="2835235"/>
            <a:ext cx="410257" cy="410257"/>
          </a:xfrm>
          <a:prstGeom prst="rect">
            <a:avLst/>
          </a:prstGeom>
        </p:spPr>
      </p:pic>
      <p:sp>
        <p:nvSpPr>
          <p:cNvPr id="8" name="Google Shape;84;p3">
            <a:extLst>
              <a:ext uri="{FF2B5EF4-FFF2-40B4-BE49-F238E27FC236}">
                <a16:creationId xmlns:a16="http://schemas.microsoft.com/office/drawing/2014/main" id="{63F4E652-C597-F4BF-326D-D14A917616DD}"/>
              </a:ext>
            </a:extLst>
          </p:cNvPr>
          <p:cNvSpPr txBox="1"/>
          <p:nvPr/>
        </p:nvSpPr>
        <p:spPr>
          <a:xfrm>
            <a:off x="686984" y="3947709"/>
            <a:ext cx="3438588" cy="438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D" sz="1100" b="1" u="none" strike="noStrike" cap="none" dirty="0">
                <a:solidFill>
                  <a:schemeClr val="tx1"/>
                </a:solidFill>
                <a:latin typeface="Rubik Medium"/>
                <a:ea typeface="Rubik Medium"/>
                <a:cs typeface="Rubik Medium"/>
                <a:sym typeface="Rubik Medium"/>
                <a:hlinkClick r:id="rId11"/>
              </a:rPr>
              <a:t>Siti </a:t>
            </a:r>
            <a:r>
              <a:rPr lang="en-ID" sz="1100" b="1" u="none" strike="noStrike" cap="none" dirty="0" err="1">
                <a:solidFill>
                  <a:schemeClr val="tx1"/>
                </a:solidFill>
                <a:latin typeface="Rubik Medium"/>
                <a:ea typeface="Rubik Medium"/>
                <a:cs typeface="Rubik Medium"/>
                <a:sym typeface="Rubik Medium"/>
                <a:hlinkClick r:id="rId11"/>
              </a:rPr>
              <a:t>Muyassaroh</a:t>
            </a:r>
            <a:endParaRPr sz="1100" b="1" u="none" strike="noStrike" cap="none" dirty="0">
              <a:solidFill>
                <a:schemeClr val="tx1"/>
              </a:solidFill>
              <a:latin typeface="Rubik Medium"/>
              <a:ea typeface="Rubik Medium"/>
              <a:cs typeface="Rubik Medium"/>
              <a:sym typeface="Rubik Medium"/>
            </a:endParaRPr>
          </a:p>
        </p:txBody>
      </p:sp>
      <p:pic>
        <p:nvPicPr>
          <p:cNvPr id="9" name="Image 3" descr="ikon">
            <a:extLst>
              <a:ext uri="{FF2B5EF4-FFF2-40B4-BE49-F238E27FC236}">
                <a16:creationId xmlns:a16="http://schemas.microsoft.com/office/drawing/2014/main" id="{78F0B5BC-3F22-C832-3D9B-01A511A211E4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prstClr val="black"/>
              <a:schemeClr val="accent2">
                <a:tint val="45000"/>
                <a:satMod val="400000"/>
              </a:schemeClr>
            </a:duotone>
            <a:alphaModFix/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artisticGlowEdges/>
                    </a14:imgEffect>
                    <a14:imgEffect>
                      <a14:colorTemperature colorTemp="11500"/>
                    </a14:imgEffect>
                    <a14:imgEffect>
                      <a14:saturation sat="118000"/>
                    </a14:imgEffect>
                    <a14:imgEffect>
                      <a14:brightnessContrast bright="-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42705" y="4039670"/>
            <a:ext cx="283739" cy="283739"/>
          </a:xfrm>
          <a:prstGeom prst="rect">
            <a:avLst/>
          </a:prstGeom>
        </p:spPr>
      </p:pic>
      <p:sp>
        <p:nvSpPr>
          <p:cNvPr id="10" name="Google Shape;85;p3">
            <a:extLst>
              <a:ext uri="{FF2B5EF4-FFF2-40B4-BE49-F238E27FC236}">
                <a16:creationId xmlns:a16="http://schemas.microsoft.com/office/drawing/2014/main" id="{A6826674-126B-79AC-AF31-3A2625ACB6CB}"/>
              </a:ext>
            </a:extLst>
          </p:cNvPr>
          <p:cNvSpPr txBox="1"/>
          <p:nvPr/>
        </p:nvSpPr>
        <p:spPr>
          <a:xfrm>
            <a:off x="699110" y="2876265"/>
            <a:ext cx="3504600" cy="35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100" dirty="0">
                <a:latin typeface="Rubik Medium"/>
                <a:ea typeface="Rubik Medium"/>
                <a:cs typeface="Rubik Medium"/>
                <a:sym typeface="Rubik Medium"/>
              </a:rPr>
              <a:t>Bandung, Indonesia</a:t>
            </a:r>
            <a:endParaRPr sz="1100" u="none" strike="noStrike" cap="none" dirty="0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g265ee868302_0_130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g265ee868302_0_130"/>
          <p:cNvPicPr preferRelativeResize="0"/>
          <p:nvPr/>
        </p:nvPicPr>
        <p:blipFill rotWithShape="1">
          <a:blip r:embed="rId4">
            <a:alphaModFix/>
          </a:blip>
          <a:srcRect t="5658" b="5649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g265ee868302_0_130"/>
          <p:cNvSpPr txBox="1"/>
          <p:nvPr/>
        </p:nvSpPr>
        <p:spPr>
          <a:xfrm>
            <a:off x="340499" y="1711125"/>
            <a:ext cx="8653200" cy="1477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just">
              <a:lnSpc>
                <a:spcPct val="200000"/>
              </a:lnSpc>
              <a:buClr>
                <a:schemeClr val="dk1"/>
              </a:buClr>
              <a:buSzPts val="1100"/>
            </a:pPr>
            <a:r>
              <a:rPr lang="en" b="1" dirty="0">
                <a:latin typeface="Rubik"/>
                <a:ea typeface="Rubik"/>
                <a:cs typeface="Rubik"/>
                <a:sym typeface="Rubik"/>
              </a:rPr>
              <a:t>Data Analysis with SQL Certified| </a:t>
            </a:r>
            <a:r>
              <a:rPr lang="en" b="1" dirty="0">
                <a:solidFill>
                  <a:schemeClr val="accent5"/>
                </a:solidFill>
                <a:latin typeface="Rubik"/>
                <a:ea typeface="Rubik"/>
                <a:cs typeface="Rubik"/>
                <a:sym typeface="Rubik"/>
                <a:hlinkClick r:id="rId5"/>
              </a:rPr>
              <a:t>link certificate</a:t>
            </a:r>
            <a:r>
              <a:rPr lang="en" b="1" dirty="0">
                <a:solidFill>
                  <a:schemeClr val="accent5"/>
                </a:solidFill>
                <a:latin typeface="Rubik"/>
                <a:ea typeface="Rubik"/>
                <a:cs typeface="Rubik"/>
                <a:sym typeface="Rubik"/>
              </a:rPr>
              <a:t>			                 </a:t>
            </a:r>
            <a:r>
              <a:rPr lang="en" dirty="0">
                <a:solidFill>
                  <a:schemeClr val="accent5"/>
                </a:solidFill>
                <a:latin typeface="Rubik"/>
                <a:ea typeface="Rubik"/>
                <a:cs typeface="Rubik"/>
                <a:sym typeface="Rubik"/>
              </a:rPr>
              <a:t>September, 2026</a:t>
            </a:r>
            <a:endParaRPr lang="en" dirty="0"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dirty="0">
                <a:latin typeface="Rubik"/>
                <a:ea typeface="Rubik"/>
                <a:cs typeface="Rubik"/>
                <a:sym typeface="Rubik"/>
              </a:rPr>
              <a:t>Data Analytics Deloitte Australia | </a:t>
            </a:r>
            <a:r>
              <a:rPr lang="en" b="1" dirty="0">
                <a:solidFill>
                  <a:schemeClr val="accent5"/>
                </a:solidFill>
                <a:latin typeface="Rubik"/>
                <a:ea typeface="Rubik"/>
                <a:cs typeface="Rubik"/>
                <a:sym typeface="Rubik"/>
                <a:hlinkClick r:id="rId6"/>
              </a:rPr>
              <a:t>link certificate</a:t>
            </a:r>
            <a:r>
              <a:rPr lang="en" b="1" dirty="0">
                <a:solidFill>
                  <a:schemeClr val="accent5"/>
                </a:solidFill>
                <a:latin typeface="Rubik"/>
                <a:ea typeface="Rubik"/>
                <a:cs typeface="Rubik"/>
                <a:sym typeface="Rubik"/>
              </a:rPr>
              <a:t>			                 </a:t>
            </a:r>
            <a:r>
              <a:rPr lang="en" dirty="0">
                <a:solidFill>
                  <a:schemeClr val="accent5"/>
                </a:solidFill>
                <a:latin typeface="Rubik"/>
                <a:ea typeface="Rubik"/>
                <a:cs typeface="Rubik"/>
                <a:sym typeface="Rubik"/>
              </a:rPr>
              <a:t>September, 2026</a:t>
            </a:r>
            <a:endParaRPr lang="en" dirty="0"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dirty="0">
                <a:latin typeface="Rubik"/>
                <a:ea typeface="Rubik"/>
                <a:cs typeface="Rubik"/>
                <a:sym typeface="Rubik"/>
              </a:rPr>
              <a:t>Data Science Bootcamp | </a:t>
            </a:r>
            <a:r>
              <a:rPr lang="en" b="1" dirty="0">
                <a:solidFill>
                  <a:schemeClr val="accent5"/>
                </a:solidFill>
                <a:latin typeface="Rubik"/>
                <a:ea typeface="Rubik"/>
                <a:cs typeface="Rubik"/>
                <a:sym typeface="Rubik"/>
                <a:hlinkClick r:id="rId7"/>
              </a:rPr>
              <a:t>link certificate</a:t>
            </a:r>
            <a:r>
              <a:rPr lang="en" b="1" dirty="0">
                <a:solidFill>
                  <a:schemeClr val="accent5"/>
                </a:solidFill>
                <a:latin typeface="Rubik"/>
                <a:ea typeface="Rubik"/>
                <a:cs typeface="Rubik"/>
                <a:sym typeface="Rubik"/>
              </a:rPr>
              <a:t>					</a:t>
            </a:r>
            <a:r>
              <a:rPr lang="en" dirty="0">
                <a:solidFill>
                  <a:schemeClr val="accent5"/>
                </a:solidFill>
                <a:latin typeface="Rubik"/>
                <a:ea typeface="Rubik"/>
                <a:cs typeface="Rubik"/>
                <a:sym typeface="Rubik"/>
              </a:rPr>
              <a:t>August, 2023</a:t>
            </a:r>
            <a:endParaRPr b="0" i="0" u="none" strike="noStrike" cap="none" dirty="0">
              <a:solidFill>
                <a:schemeClr val="accent5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93" name="Google Shape;93;g265ee868302_0_130"/>
          <p:cNvSpPr txBox="1"/>
          <p:nvPr/>
        </p:nvSpPr>
        <p:spPr>
          <a:xfrm>
            <a:off x="2263698" y="452038"/>
            <a:ext cx="6539802" cy="646500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49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en" sz="3000" b="1" dirty="0">
                <a:latin typeface="Rubik"/>
                <a:ea typeface="Rubik"/>
                <a:cs typeface="Rubik"/>
                <a:sym typeface="Rubik"/>
              </a:rPr>
              <a:t>Courses and </a:t>
            </a:r>
            <a:r>
              <a:rPr lang="en" sz="3000" b="1" dirty="0">
                <a:solidFill>
                  <a:schemeClr val="accent5"/>
                </a:solidFill>
                <a:latin typeface="Rubik"/>
                <a:ea typeface="Rubik"/>
                <a:cs typeface="Rubik"/>
                <a:sym typeface="Rubik"/>
              </a:rPr>
              <a:t>Certification</a:t>
            </a:r>
            <a:endParaRPr sz="3000" b="1" i="0" strike="noStrike" cap="none" dirty="0">
              <a:solidFill>
                <a:schemeClr val="accent5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079E6F-E737-B16E-0A95-B42488117E41}"/>
              </a:ext>
            </a:extLst>
          </p:cNvPr>
          <p:cNvSpPr txBox="1"/>
          <p:nvPr/>
        </p:nvSpPr>
        <p:spPr>
          <a:xfrm>
            <a:off x="340499" y="4770301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100" dirty="0">
                <a:solidFill>
                  <a:schemeClr val="accent2">
                    <a:lumMod val="75000"/>
                    <a:lumOff val="25000"/>
                  </a:schemeClr>
                </a:solidFill>
                <a:latin typeface="Rubik"/>
                <a:ea typeface="Rubik"/>
                <a:cs typeface="Rubik"/>
                <a:sym typeface="Rubik"/>
              </a:rPr>
              <a:t>Kimia </a:t>
            </a:r>
            <a:r>
              <a:rPr lang="en-ID" sz="1100" dirty="0" err="1">
                <a:solidFill>
                  <a:schemeClr val="accent2">
                    <a:lumMod val="75000"/>
                    <a:lumOff val="25000"/>
                  </a:schemeClr>
                </a:solidFill>
                <a:latin typeface="Rubik"/>
                <a:ea typeface="Rubik"/>
                <a:cs typeface="Rubik"/>
                <a:sym typeface="Rubik"/>
              </a:rPr>
              <a:t>Farma</a:t>
            </a:r>
            <a:r>
              <a:rPr lang="en-ID" sz="1100" dirty="0">
                <a:solidFill>
                  <a:schemeClr val="accent2">
                    <a:lumMod val="75000"/>
                    <a:lumOff val="25000"/>
                  </a:schemeClr>
                </a:solidFill>
                <a:latin typeface="Rubik"/>
                <a:ea typeface="Rubik"/>
                <a:cs typeface="Rubik"/>
                <a:sym typeface="Rubik"/>
              </a:rPr>
              <a:t> Performance Analytics 2020-2023</a:t>
            </a:r>
            <a:endParaRPr lang="en-ID" sz="1100" dirty="0">
              <a:solidFill>
                <a:schemeClr val="accent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Google Shape;58;p1">
            <a:extLst>
              <a:ext uri="{FF2B5EF4-FFF2-40B4-BE49-F238E27FC236}">
                <a16:creationId xmlns:a16="http://schemas.microsoft.com/office/drawing/2014/main" id="{6ECCB235-E7C0-A700-42F2-A3CC4643082C}"/>
              </a:ext>
            </a:extLst>
          </p:cNvPr>
          <p:cNvSpPr/>
          <p:nvPr/>
        </p:nvSpPr>
        <p:spPr>
          <a:xfrm>
            <a:off x="-1043700" y="-1525500"/>
            <a:ext cx="3135000" cy="3051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4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4"/>
          <p:cNvPicPr preferRelativeResize="0"/>
          <p:nvPr/>
        </p:nvPicPr>
        <p:blipFill rotWithShape="1">
          <a:blip r:embed="rId4">
            <a:alphaModFix/>
          </a:blip>
          <a:srcRect t="5658" b="5649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4"/>
          <p:cNvSpPr txBox="1"/>
          <p:nvPr/>
        </p:nvSpPr>
        <p:spPr>
          <a:xfrm>
            <a:off x="340500" y="1364951"/>
            <a:ext cx="8462999" cy="2400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90488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1" i="0" u="none" strike="noStrike" cap="none" dirty="0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Kimia </a:t>
            </a:r>
            <a:r>
              <a:rPr lang="en-US" sz="1200" b="1" i="0" u="none" strike="noStrike" cap="none" dirty="0" err="1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Farma</a:t>
            </a:r>
            <a:r>
              <a:rPr lang="en-US" sz="1200" b="1" i="0" u="none" strike="noStrike" cap="none" dirty="0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 </a:t>
            </a:r>
            <a:r>
              <a:rPr lang="en-US" sz="1200" i="0" u="none" strike="noStrike" cap="none" dirty="0" err="1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adalah</a:t>
            </a:r>
            <a:r>
              <a:rPr lang="en-US" sz="1200" i="0" u="none" strike="noStrike" cap="none" dirty="0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 </a:t>
            </a:r>
            <a:r>
              <a:rPr lang="en-US" sz="1200" i="0" u="none" strike="noStrike" cap="none" dirty="0" err="1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perusahaan</a:t>
            </a:r>
            <a:r>
              <a:rPr lang="en-US" sz="1200" i="0" u="none" strike="noStrike" cap="none" dirty="0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 </a:t>
            </a:r>
            <a:r>
              <a:rPr lang="en-US" sz="1200" i="0" u="none" strike="noStrike" cap="none" dirty="0" err="1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industri</a:t>
            </a:r>
            <a:r>
              <a:rPr lang="en-US" sz="1200" i="0" u="none" strike="noStrike" cap="none" dirty="0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 </a:t>
            </a:r>
            <a:r>
              <a:rPr lang="en-US" sz="1200" i="0" u="none" strike="noStrike" cap="none" dirty="0" err="1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farmasi</a:t>
            </a:r>
            <a:r>
              <a:rPr lang="en-US" sz="1200" i="0" u="none" strike="noStrike" cap="none" dirty="0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 </a:t>
            </a:r>
            <a:r>
              <a:rPr lang="en-US" sz="1200" i="0" u="none" strike="noStrike" cap="none" dirty="0" err="1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pertama</a:t>
            </a:r>
            <a:r>
              <a:rPr lang="en-US" sz="1200" i="0" u="none" strike="noStrike" cap="none" dirty="0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 di Indonesia yang </a:t>
            </a:r>
            <a:r>
              <a:rPr lang="en-US" sz="1200" i="0" u="none" strike="noStrike" cap="none" dirty="0" err="1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menjadi</a:t>
            </a:r>
            <a:r>
              <a:rPr lang="en-US" sz="1200" i="0" u="none" strike="noStrike" cap="none" dirty="0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 </a:t>
            </a:r>
            <a:r>
              <a:rPr lang="en-US" sz="1200" i="0" u="none" strike="noStrike" cap="none" dirty="0" err="1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bagian</a:t>
            </a:r>
            <a:r>
              <a:rPr lang="en-US" sz="1200" i="0" u="none" strike="noStrike" cap="none" dirty="0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 </a:t>
            </a:r>
            <a:r>
              <a:rPr lang="en-US" sz="1200" i="0" u="none" strike="noStrike" cap="none" dirty="0" err="1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dari</a:t>
            </a:r>
            <a:r>
              <a:rPr lang="en-US" sz="1200" i="0" u="none" strike="noStrike" cap="none" dirty="0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 BUMN </a:t>
            </a:r>
            <a:r>
              <a:rPr lang="en-US" sz="1200" i="0" u="none" strike="noStrike" cap="none" dirty="0" err="1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sebagai</a:t>
            </a:r>
            <a:r>
              <a:rPr lang="en-US" sz="1200" i="0" u="none" strike="noStrike" cap="none" dirty="0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 </a:t>
            </a:r>
            <a:r>
              <a:rPr lang="en-US" sz="1200" i="0" u="none" strike="noStrike" cap="none" dirty="0" err="1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perusahaan</a:t>
            </a:r>
            <a:r>
              <a:rPr lang="en-US" sz="1200" i="0" u="none" strike="noStrike" cap="none" dirty="0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 </a:t>
            </a:r>
            <a:r>
              <a:rPr lang="en-US" sz="1200" i="0" u="none" strike="noStrike" cap="none" dirty="0" err="1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farmasi</a:t>
            </a:r>
            <a:r>
              <a:rPr lang="en-US" sz="1200" i="0" u="none" strike="noStrike" cap="none" dirty="0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 </a:t>
            </a:r>
            <a:r>
              <a:rPr lang="en-US" sz="1200" i="0" u="none" strike="noStrike" cap="none" dirty="0" err="1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terbesar</a:t>
            </a:r>
            <a:r>
              <a:rPr lang="en-US" sz="1200" i="0" u="none" strike="noStrike" cap="none" dirty="0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. Kimia </a:t>
            </a:r>
            <a:r>
              <a:rPr lang="en-US" sz="1200" i="0" u="none" strike="noStrike" cap="none" dirty="0" err="1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Farma</a:t>
            </a:r>
            <a:r>
              <a:rPr lang="en-US" sz="1200" i="0" u="none" strike="noStrike" cap="none" dirty="0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 </a:t>
            </a:r>
            <a:r>
              <a:rPr lang="en-US" sz="1200" i="0" u="none" strike="noStrike" cap="none" dirty="0" err="1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didirikan</a:t>
            </a:r>
            <a:r>
              <a:rPr lang="en-US" sz="1200" i="0" u="none" strike="noStrike" cap="none" dirty="0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 oleh </a:t>
            </a:r>
            <a:r>
              <a:rPr lang="en-US" sz="1200" i="0" u="none" strike="noStrike" cap="none" dirty="0" err="1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pemerintah</a:t>
            </a:r>
            <a:r>
              <a:rPr lang="en-US" sz="1200" i="0" u="none" strike="noStrike" cap="none" dirty="0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 </a:t>
            </a:r>
            <a:r>
              <a:rPr lang="en-US" sz="1200" i="0" u="none" strike="noStrike" cap="none" dirty="0" err="1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Hindia</a:t>
            </a:r>
            <a:r>
              <a:rPr lang="en-US" sz="1200" i="0" u="none" strike="noStrike" cap="none" dirty="0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 Belanda pada </a:t>
            </a:r>
            <a:r>
              <a:rPr lang="en-US" sz="1200" i="0" u="none" strike="noStrike" cap="none" dirty="0" err="1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tahun</a:t>
            </a:r>
            <a:r>
              <a:rPr lang="en-US" sz="1200" i="0" u="none" strike="noStrike" cap="none" dirty="0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 1817 yang pada </a:t>
            </a:r>
            <a:r>
              <a:rPr lang="en-US" sz="1200" i="0" u="none" strike="noStrike" cap="none" dirty="0" err="1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saat</a:t>
            </a:r>
            <a:r>
              <a:rPr lang="en-US" sz="1200" i="0" u="none" strike="noStrike" cap="none" dirty="0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 </a:t>
            </a:r>
            <a:r>
              <a:rPr lang="en-US" sz="1200" i="0" u="none" strike="noStrike" cap="none" dirty="0" err="1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itu</a:t>
            </a:r>
            <a:r>
              <a:rPr lang="en-US" sz="1200" i="0" u="none" strike="noStrike" cap="none" dirty="0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 </a:t>
            </a:r>
            <a:r>
              <a:rPr lang="en-US" sz="1200" i="0" u="none" strike="noStrike" cap="none" dirty="0" err="1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bernama</a:t>
            </a:r>
            <a:r>
              <a:rPr lang="en-US" sz="1200" i="0" u="none" strike="noStrike" cap="none" dirty="0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 NV </a:t>
            </a:r>
            <a:r>
              <a:rPr lang="en-US" sz="1200" i="0" u="none" strike="noStrike" cap="none" dirty="0" err="1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Chemicalien</a:t>
            </a:r>
            <a:r>
              <a:rPr lang="en-US" sz="1200" i="0" u="none" strike="noStrike" cap="none" dirty="0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 Handle </a:t>
            </a:r>
            <a:r>
              <a:rPr lang="en-US" sz="1200" i="0" u="none" strike="noStrike" cap="none" dirty="0" err="1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Rathkamp</a:t>
            </a:r>
            <a:r>
              <a:rPr lang="en-US" sz="1200" i="0" u="none" strike="noStrike" cap="none" dirty="0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 &amp; Co. </a:t>
            </a:r>
            <a:r>
              <a:rPr lang="en-US" sz="1200" i="0" u="none" strike="noStrike" cap="none" dirty="0" err="1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Berdasarkan</a:t>
            </a:r>
            <a:r>
              <a:rPr lang="en-US" sz="1200" i="0" u="none" strike="noStrike" cap="none" dirty="0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 </a:t>
            </a:r>
            <a:r>
              <a:rPr lang="en-US" sz="1200" i="0" u="none" strike="noStrike" cap="none" dirty="0" err="1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kebijakan</a:t>
            </a:r>
            <a:r>
              <a:rPr lang="en-US" sz="1200" i="0" u="none" strike="noStrike" cap="none" dirty="0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 </a:t>
            </a:r>
            <a:r>
              <a:rPr lang="en-US" sz="1200" i="0" u="none" strike="noStrike" cap="none" dirty="0" err="1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nasionalisasi</a:t>
            </a:r>
            <a:r>
              <a:rPr lang="en-US" sz="1200" i="0" u="none" strike="noStrike" cap="none" dirty="0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 pada </a:t>
            </a:r>
            <a:r>
              <a:rPr lang="en-US" sz="1200" i="0" u="none" strike="noStrike" cap="none" dirty="0" err="1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tahun</a:t>
            </a:r>
            <a:r>
              <a:rPr lang="en-US" sz="1200" i="0" u="none" strike="noStrike" cap="none" dirty="0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 1958, </a:t>
            </a:r>
            <a:r>
              <a:rPr lang="en-US" sz="1200" i="0" u="none" strike="noStrike" cap="none" dirty="0" err="1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pemerintah</a:t>
            </a:r>
            <a:r>
              <a:rPr lang="en-US" sz="1200" i="0" u="none" strike="noStrike" cap="none" dirty="0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 </a:t>
            </a:r>
            <a:r>
              <a:rPr lang="en-US" sz="1200" i="0" u="none" strike="noStrike" cap="none" dirty="0" err="1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Republik</a:t>
            </a:r>
            <a:r>
              <a:rPr lang="en-US" sz="1200" i="0" u="none" strike="noStrike" cap="none" dirty="0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 Indonesia </a:t>
            </a:r>
            <a:r>
              <a:rPr lang="en-US" sz="1200" i="0" u="none" strike="noStrike" cap="none" dirty="0" err="1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menggabungkan</a:t>
            </a:r>
            <a:r>
              <a:rPr lang="en-US" sz="1200" i="0" u="none" strike="noStrike" cap="none" dirty="0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 </a:t>
            </a:r>
            <a:r>
              <a:rPr lang="en-US" sz="1200" i="0" u="none" strike="noStrike" cap="none" dirty="0" err="1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beberapa</a:t>
            </a:r>
            <a:r>
              <a:rPr lang="en-US" sz="1200" i="0" u="none" strike="noStrike" cap="none" dirty="0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 </a:t>
            </a:r>
            <a:r>
              <a:rPr lang="en-US" sz="1200" i="0" u="none" strike="noStrike" cap="none" dirty="0" err="1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perusahaan</a:t>
            </a:r>
            <a:r>
              <a:rPr lang="en-US" sz="1200" i="0" u="none" strike="noStrike" cap="none" dirty="0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 </a:t>
            </a:r>
            <a:r>
              <a:rPr lang="en-US" sz="1200" i="0" u="none" strike="noStrike" cap="none" dirty="0" err="1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farmasi</a:t>
            </a:r>
            <a:r>
              <a:rPr lang="en-US" sz="1200" i="0" u="none" strike="noStrike" cap="none" dirty="0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 </a:t>
            </a:r>
            <a:r>
              <a:rPr lang="en-US" sz="1200" i="0" u="none" strike="noStrike" cap="none" dirty="0" err="1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menjadi</a:t>
            </a:r>
            <a:r>
              <a:rPr lang="en-US" sz="1200" i="0" u="none" strike="noStrike" cap="none" dirty="0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 PNF (Perusahaan </a:t>
            </a:r>
            <a:r>
              <a:rPr lang="en-US" sz="1200" i="0" u="none" strike="noStrike" cap="none" dirty="0" err="1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Farmasi</a:t>
            </a:r>
            <a:r>
              <a:rPr lang="en-US" sz="1200" i="0" u="none" strike="noStrike" cap="none" dirty="0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 Negara) </a:t>
            </a:r>
            <a:r>
              <a:rPr lang="en-US" sz="1200" i="0" u="none" strike="noStrike" cap="none" dirty="0" err="1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Bhinneka</a:t>
            </a:r>
            <a:r>
              <a:rPr lang="en-US" sz="1200" i="0" u="none" strike="noStrike" cap="none" dirty="0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 Kimia </a:t>
            </a:r>
            <a:r>
              <a:rPr lang="en-US" sz="1200" i="0" u="none" strike="noStrike" cap="none" dirty="0" err="1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Farma</a:t>
            </a:r>
            <a:r>
              <a:rPr lang="en-US" sz="1200" i="0" u="none" strike="noStrike" cap="none" dirty="0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 yang </a:t>
            </a:r>
            <a:r>
              <a:rPr lang="en-US" sz="1200" i="0" u="none" strike="noStrike" cap="none" dirty="0" err="1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kemudian</a:t>
            </a:r>
            <a:r>
              <a:rPr lang="en-US" sz="1200" i="0" u="none" strike="noStrike" cap="none" dirty="0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 </a:t>
            </a:r>
            <a:r>
              <a:rPr lang="en-US" sz="1200" i="0" u="none" strike="noStrike" cap="none" dirty="0" err="1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nama</a:t>
            </a:r>
            <a:r>
              <a:rPr lang="en-US" sz="1200" i="0" u="none" strike="noStrike" cap="none" dirty="0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 </a:t>
            </a:r>
            <a:r>
              <a:rPr lang="en-US" sz="1200" i="0" u="none" strike="noStrike" cap="none" dirty="0" err="1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perusahaan</a:t>
            </a:r>
            <a:r>
              <a:rPr lang="en-US" sz="1200" i="0" u="none" strike="noStrike" cap="none" dirty="0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 </a:t>
            </a:r>
            <a:r>
              <a:rPr lang="en-US" sz="1200" i="0" u="none" strike="noStrike" cap="none" dirty="0" err="1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diubah</a:t>
            </a:r>
            <a:r>
              <a:rPr lang="en-US" sz="1200" i="0" u="none" strike="noStrike" cap="none" dirty="0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 </a:t>
            </a:r>
            <a:r>
              <a:rPr lang="en-US" sz="1200" i="0" u="none" strike="noStrike" cap="none" dirty="0" err="1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menjadi</a:t>
            </a:r>
            <a:r>
              <a:rPr lang="en-US" sz="1200" i="0" u="none" strike="noStrike" cap="none" dirty="0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 </a:t>
            </a:r>
            <a:r>
              <a:rPr lang="en-US" sz="1200" b="1" i="0" u="none" strike="noStrike" cap="none" dirty="0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PT Kimia </a:t>
            </a:r>
            <a:r>
              <a:rPr lang="en-US" sz="1200" b="1" i="0" u="none" strike="noStrike" cap="none" dirty="0" err="1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Farma</a:t>
            </a:r>
            <a:r>
              <a:rPr lang="en-US" sz="1200" b="1" i="0" u="none" strike="noStrike" cap="none" dirty="0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 (Persero) </a:t>
            </a:r>
            <a:r>
              <a:rPr lang="en-US" sz="1200" i="0" u="none" strike="noStrike" cap="none" dirty="0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pada 16 </a:t>
            </a:r>
            <a:r>
              <a:rPr lang="en-US" sz="1200" i="0" u="none" strike="noStrike" cap="none" dirty="0" err="1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Agustus</a:t>
            </a:r>
            <a:r>
              <a:rPr lang="en-US" sz="1200" i="0" u="none" strike="noStrike" cap="none" dirty="0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 1971. Kimia </a:t>
            </a:r>
            <a:r>
              <a:rPr lang="en-US" sz="1200" i="0" u="none" strike="noStrike" cap="none" dirty="0" err="1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Farma</a:t>
            </a:r>
            <a:r>
              <a:rPr lang="en-US" sz="1200" i="0" u="none" strike="noStrike" cap="none" dirty="0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 </a:t>
            </a:r>
            <a:r>
              <a:rPr lang="en-US" sz="1200" i="0" u="none" strike="noStrike" cap="none" dirty="0" err="1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berkomitmen</a:t>
            </a:r>
            <a:r>
              <a:rPr lang="en-US" sz="1200" i="0" u="none" strike="noStrike" cap="none" dirty="0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 </a:t>
            </a:r>
            <a:r>
              <a:rPr lang="en-US" sz="1200" i="0" u="none" strike="noStrike" cap="none" dirty="0" err="1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sebagai</a:t>
            </a:r>
            <a:r>
              <a:rPr lang="en-US" sz="1200" i="0" u="none" strike="noStrike" cap="none" dirty="0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 </a:t>
            </a:r>
            <a:r>
              <a:rPr lang="en-US" sz="1200" i="1" u="none" strike="noStrike" cap="none" dirty="0" err="1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perusahaan</a:t>
            </a:r>
            <a:r>
              <a:rPr lang="en-US" sz="1200" i="1" u="none" strike="noStrike" cap="none" dirty="0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 Healthcare </a:t>
            </a:r>
            <a:r>
              <a:rPr lang="en-US" sz="1200" i="0" u="none" strike="noStrike" cap="none" dirty="0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yang </a:t>
            </a:r>
            <a:r>
              <a:rPr lang="en-US" sz="1200" i="0" u="none" strike="noStrike" cap="none" dirty="0" err="1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tetap</a:t>
            </a:r>
            <a:r>
              <a:rPr lang="en-US" sz="1200" i="0" u="none" strike="noStrike" cap="none" dirty="0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 </a:t>
            </a:r>
            <a:r>
              <a:rPr lang="en-US" sz="1200" i="0" u="none" strike="noStrike" cap="none" dirty="0" err="1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menyediakan</a:t>
            </a:r>
            <a:r>
              <a:rPr lang="en-US" sz="1200" i="0" u="none" strike="noStrike" cap="none" dirty="0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 </a:t>
            </a:r>
            <a:r>
              <a:rPr lang="en-US" sz="1200" i="0" u="none" strike="noStrike" cap="none" dirty="0" err="1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layanan</a:t>
            </a:r>
            <a:r>
              <a:rPr lang="en-US" sz="1200" i="0" u="none" strike="noStrike" cap="none" dirty="0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 </a:t>
            </a:r>
            <a:r>
              <a:rPr lang="en-US" sz="1200" i="0" u="none" strike="noStrike" cap="none" dirty="0" err="1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kimia</a:t>
            </a:r>
            <a:r>
              <a:rPr lang="en-US" sz="1200" i="0" u="none" strike="noStrike" cap="none" dirty="0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 </a:t>
            </a:r>
            <a:r>
              <a:rPr lang="en-US" sz="1200" i="0" u="none" strike="noStrike" cap="none" dirty="0" err="1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farmasi</a:t>
            </a:r>
            <a:r>
              <a:rPr lang="en-US" sz="1200" i="0" u="none" strike="noStrike" cap="none" dirty="0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 </a:t>
            </a:r>
            <a:r>
              <a:rPr lang="en-US" sz="1200" i="0" u="none" strike="noStrike" cap="none" dirty="0" err="1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kepada</a:t>
            </a:r>
            <a:r>
              <a:rPr lang="en-US" sz="1200" i="0" u="none" strike="noStrike" cap="none" dirty="0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 </a:t>
            </a:r>
            <a:r>
              <a:rPr lang="en-US" sz="1200" i="0" u="none" strike="noStrike" cap="none" dirty="0" err="1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masyarakat</a:t>
            </a:r>
            <a:r>
              <a:rPr lang="en-US" sz="1200" i="0" u="none" strike="noStrike" cap="none" dirty="0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 Indonesia, </a:t>
            </a:r>
            <a:r>
              <a:rPr lang="en-US" sz="1200" i="0" u="none" strike="noStrike" cap="none" dirty="0" err="1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perdagangan</a:t>
            </a:r>
            <a:r>
              <a:rPr lang="en-US" sz="1200" i="0" u="none" strike="noStrike" cap="none" dirty="0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 dan </a:t>
            </a:r>
            <a:r>
              <a:rPr lang="en-US" sz="1200" i="0" u="none" strike="noStrike" cap="none" dirty="0" err="1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jaringan</a:t>
            </a:r>
            <a:r>
              <a:rPr lang="en-US" sz="1200" i="0" u="none" strike="noStrike" cap="none" dirty="0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 </a:t>
            </a:r>
            <a:r>
              <a:rPr lang="en-US" sz="1200" i="0" u="none" strike="noStrike" cap="none" dirty="0" err="1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distribusi</a:t>
            </a:r>
            <a:r>
              <a:rPr lang="en-US" sz="1200" i="0" u="none" strike="noStrike" cap="none" dirty="0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, </a:t>
            </a:r>
            <a:r>
              <a:rPr lang="en-US" sz="1200" i="0" u="none" strike="noStrike" cap="none" dirty="0" err="1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ritel</a:t>
            </a:r>
            <a:r>
              <a:rPr lang="en-US" sz="1200" i="0" u="none" strike="noStrike" cap="none" dirty="0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 </a:t>
            </a:r>
            <a:r>
              <a:rPr lang="en-US" sz="1200" i="0" u="none" strike="noStrike" cap="none" dirty="0" err="1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farmasi</a:t>
            </a:r>
            <a:r>
              <a:rPr lang="en-US" sz="1200" i="0" u="none" strike="noStrike" cap="none" dirty="0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 dan </a:t>
            </a:r>
            <a:r>
              <a:rPr lang="en-US" sz="1200" i="0" u="none" strike="noStrike" cap="none" dirty="0" err="1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layanan</a:t>
            </a:r>
            <a:r>
              <a:rPr lang="en-US" sz="1200" i="0" u="none" strike="noStrike" cap="none" dirty="0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 </a:t>
            </a:r>
            <a:r>
              <a:rPr lang="en-US" sz="1200" i="0" u="none" strike="noStrike" cap="none" dirty="0" err="1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kesehatan</a:t>
            </a:r>
            <a:r>
              <a:rPr lang="en-US" sz="1200" i="0" u="none" strike="noStrike" cap="none" dirty="0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, </a:t>
            </a:r>
            <a:r>
              <a:rPr lang="en-US" sz="1200" i="0" u="none" strike="noStrike" cap="none" dirty="0" err="1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optimalisasi</a:t>
            </a:r>
            <a:r>
              <a:rPr lang="en-US" sz="1200" i="0" u="none" strike="noStrike" cap="none" dirty="0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 </a:t>
            </a:r>
            <a:r>
              <a:rPr lang="en-US" sz="1200" i="0" u="none" strike="noStrike" cap="none" dirty="0" err="1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aset</a:t>
            </a:r>
            <a:r>
              <a:rPr lang="en-US" sz="1200" i="0" u="none" strike="noStrike" cap="none" dirty="0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, </a:t>
            </a:r>
            <a:r>
              <a:rPr lang="en-US" sz="1200" i="0" u="none" strike="noStrike" cap="none" dirty="0" err="1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serta</a:t>
            </a:r>
            <a:r>
              <a:rPr lang="en-US" sz="1200" i="0" u="none" strike="noStrike" cap="none" dirty="0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 </a:t>
            </a:r>
            <a:r>
              <a:rPr lang="en-US" sz="1200" i="0" u="none" strike="noStrike" cap="none" dirty="0" err="1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mengupayakan</a:t>
            </a:r>
            <a:r>
              <a:rPr lang="en-US" sz="1200" i="0" u="none" strike="noStrike" cap="none" dirty="0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 </a:t>
            </a:r>
            <a:r>
              <a:rPr lang="en-US" sz="1200" i="0" u="none" strike="noStrike" cap="none" dirty="0" err="1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manfaat</a:t>
            </a:r>
            <a:r>
              <a:rPr lang="en-US" sz="1200" i="0" u="none" strike="noStrike" cap="none" dirty="0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 </a:t>
            </a:r>
            <a:r>
              <a:rPr lang="en-US" sz="1200" i="0" u="none" strike="noStrike" cap="none" dirty="0" err="1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untuk</a:t>
            </a:r>
            <a:r>
              <a:rPr lang="en-US" sz="1200" i="0" u="none" strike="noStrike" cap="none" dirty="0">
                <a:solidFill>
                  <a:srgbClr val="000000"/>
                </a:solidFill>
                <a:latin typeface="Rubik" panose="020B0604020202020204" charset="-79"/>
                <a:ea typeface="Rubik"/>
                <a:cs typeface="Rubik" panose="020B0604020202020204" charset="-79"/>
                <a:sym typeface="Rubik"/>
              </a:rPr>
              <a:t> stakeholder.</a:t>
            </a:r>
          </a:p>
        </p:txBody>
      </p:sp>
      <p:sp>
        <p:nvSpPr>
          <p:cNvPr id="102" name="Google Shape;102;p4"/>
          <p:cNvSpPr txBox="1"/>
          <p:nvPr/>
        </p:nvSpPr>
        <p:spPr>
          <a:xfrm>
            <a:off x="340500" y="526791"/>
            <a:ext cx="6069739" cy="646500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49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en" sz="3000" b="1" dirty="0">
                <a:latin typeface="Rubik"/>
                <a:ea typeface="Rubik"/>
                <a:cs typeface="Rubik"/>
                <a:sym typeface="Rubik"/>
              </a:rPr>
              <a:t>About </a:t>
            </a:r>
            <a:r>
              <a:rPr lang="en" sz="3000" b="1" dirty="0">
                <a:solidFill>
                  <a:schemeClr val="accent5"/>
                </a:solidFill>
                <a:latin typeface="Rubik"/>
                <a:ea typeface="Rubik"/>
                <a:cs typeface="Rubik"/>
                <a:sym typeface="Rubik"/>
              </a:rPr>
              <a:t>            </a:t>
            </a:r>
            <a:endParaRPr sz="3000" b="1" i="0" u="none" strike="noStrike" cap="none" dirty="0">
              <a:solidFill>
                <a:schemeClr val="accent5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pic>
        <p:nvPicPr>
          <p:cNvPr id="103" name="Google Shape;103;p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59068" y="229305"/>
            <a:ext cx="1918347" cy="75065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1348911-67E1-E9A6-F868-B99D030A93D8}"/>
              </a:ext>
            </a:extLst>
          </p:cNvPr>
          <p:cNvSpPr txBox="1"/>
          <p:nvPr/>
        </p:nvSpPr>
        <p:spPr>
          <a:xfrm>
            <a:off x="340499" y="4770301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100" dirty="0">
                <a:solidFill>
                  <a:schemeClr val="accent2">
                    <a:lumMod val="75000"/>
                    <a:lumOff val="25000"/>
                  </a:schemeClr>
                </a:solidFill>
                <a:latin typeface="Rubik"/>
                <a:ea typeface="Rubik"/>
                <a:cs typeface="Rubik"/>
                <a:sym typeface="Rubik"/>
              </a:rPr>
              <a:t>Kimia </a:t>
            </a:r>
            <a:r>
              <a:rPr lang="en-ID" sz="1100" dirty="0" err="1">
                <a:solidFill>
                  <a:schemeClr val="accent2">
                    <a:lumMod val="75000"/>
                    <a:lumOff val="25000"/>
                  </a:schemeClr>
                </a:solidFill>
                <a:latin typeface="Rubik"/>
                <a:ea typeface="Rubik"/>
                <a:cs typeface="Rubik"/>
                <a:sym typeface="Rubik"/>
              </a:rPr>
              <a:t>Farma</a:t>
            </a:r>
            <a:r>
              <a:rPr lang="en-ID" sz="1100" dirty="0">
                <a:solidFill>
                  <a:schemeClr val="accent2">
                    <a:lumMod val="75000"/>
                    <a:lumOff val="25000"/>
                  </a:schemeClr>
                </a:solidFill>
                <a:latin typeface="Rubik"/>
                <a:ea typeface="Rubik"/>
                <a:cs typeface="Rubik"/>
                <a:sym typeface="Rubik"/>
              </a:rPr>
              <a:t> Performance Analytics 2020-2023</a:t>
            </a:r>
            <a:endParaRPr lang="en-ID" sz="1100" dirty="0">
              <a:solidFill>
                <a:schemeClr val="accent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Google Shape;58;p1">
            <a:extLst>
              <a:ext uri="{FF2B5EF4-FFF2-40B4-BE49-F238E27FC236}">
                <a16:creationId xmlns:a16="http://schemas.microsoft.com/office/drawing/2014/main" id="{3AD85320-5E70-6A3A-E702-F486781869A3}"/>
              </a:ext>
            </a:extLst>
          </p:cNvPr>
          <p:cNvSpPr/>
          <p:nvPr/>
        </p:nvSpPr>
        <p:spPr>
          <a:xfrm>
            <a:off x="6612832" y="3803626"/>
            <a:ext cx="3135000" cy="3051000"/>
          </a:xfrm>
          <a:prstGeom prst="ellipse">
            <a:avLst/>
          </a:prstGeom>
          <a:solidFill>
            <a:srgbClr val="003C7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g265ee868302_0_99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58;p1">
            <a:extLst>
              <a:ext uri="{FF2B5EF4-FFF2-40B4-BE49-F238E27FC236}">
                <a16:creationId xmlns:a16="http://schemas.microsoft.com/office/drawing/2014/main" id="{D3C764F7-9BC1-65AE-C225-4925C43E0F17}"/>
              </a:ext>
            </a:extLst>
          </p:cNvPr>
          <p:cNvSpPr/>
          <p:nvPr/>
        </p:nvSpPr>
        <p:spPr>
          <a:xfrm>
            <a:off x="8095609" y="993338"/>
            <a:ext cx="3135000" cy="3051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g265ee868302_0_99"/>
          <p:cNvPicPr preferRelativeResize="0"/>
          <p:nvPr/>
        </p:nvPicPr>
        <p:blipFill rotWithShape="1">
          <a:blip r:embed="rId4">
            <a:alphaModFix/>
          </a:blip>
          <a:srcRect t="5658" b="5649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g265ee868302_0_99"/>
          <p:cNvSpPr txBox="1"/>
          <p:nvPr/>
        </p:nvSpPr>
        <p:spPr>
          <a:xfrm>
            <a:off x="340500" y="452038"/>
            <a:ext cx="8463000" cy="646500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49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en" sz="3000" b="1" dirty="0">
                <a:latin typeface="Rubik"/>
                <a:ea typeface="Rubik"/>
                <a:cs typeface="Rubik"/>
                <a:sym typeface="Rubik"/>
              </a:rPr>
              <a:t>Project </a:t>
            </a:r>
            <a:r>
              <a:rPr lang="en" sz="3000" b="1" dirty="0">
                <a:solidFill>
                  <a:schemeClr val="accent5"/>
                </a:solidFill>
                <a:latin typeface="Rubik"/>
                <a:ea typeface="Rubik"/>
                <a:cs typeface="Rubik"/>
                <a:sym typeface="Rubik"/>
              </a:rPr>
              <a:t>Portfolio</a:t>
            </a:r>
            <a:endParaRPr sz="3000" b="1" i="0" u="none" strike="noStrike" cap="none" dirty="0">
              <a:solidFill>
                <a:schemeClr val="accent5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11" name="Google Shape;111;g265ee868302_0_99"/>
          <p:cNvSpPr txBox="1"/>
          <p:nvPr/>
        </p:nvSpPr>
        <p:spPr>
          <a:xfrm>
            <a:off x="340499" y="1178963"/>
            <a:ext cx="7409599" cy="2422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D" sz="1200" dirty="0" err="1">
                <a:latin typeface="Rubik"/>
                <a:ea typeface="Rubik"/>
                <a:cs typeface="Rubik"/>
                <a:sym typeface="Rubik"/>
              </a:rPr>
              <a:t>Proyek</a:t>
            </a:r>
            <a:r>
              <a:rPr lang="en-ID" sz="1200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latin typeface="Rubik"/>
                <a:ea typeface="Rubik"/>
                <a:cs typeface="Rubik"/>
                <a:sym typeface="Rubik"/>
              </a:rPr>
              <a:t>ini</a:t>
            </a:r>
            <a:r>
              <a:rPr lang="en-ID" sz="1200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latin typeface="Rubik"/>
                <a:ea typeface="Rubik"/>
                <a:cs typeface="Rubik"/>
                <a:sym typeface="Rubik"/>
              </a:rPr>
              <a:t>menganalisis</a:t>
            </a:r>
            <a:r>
              <a:rPr lang="en-ID" sz="1200" dirty="0">
                <a:latin typeface="Rubik"/>
                <a:ea typeface="Rubik"/>
                <a:cs typeface="Rubik"/>
                <a:sym typeface="Rubik"/>
              </a:rPr>
              <a:t> dan </a:t>
            </a:r>
            <a:r>
              <a:rPr lang="en-ID" sz="1200" dirty="0" err="1">
                <a:latin typeface="Rubik"/>
                <a:ea typeface="Rubik"/>
                <a:cs typeface="Rubik"/>
                <a:sym typeface="Rubik"/>
              </a:rPr>
              <a:t>mengevaluasi</a:t>
            </a:r>
            <a:r>
              <a:rPr lang="en-ID" sz="1200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latin typeface="Rubik"/>
                <a:ea typeface="Rubik"/>
                <a:cs typeface="Rubik"/>
                <a:sym typeface="Rubik"/>
              </a:rPr>
              <a:t>kinerja</a:t>
            </a:r>
            <a:r>
              <a:rPr lang="en-ID" sz="1200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latin typeface="Rubik"/>
                <a:ea typeface="Rubik"/>
                <a:cs typeface="Rubik"/>
                <a:sym typeface="Rubik"/>
              </a:rPr>
              <a:t>bisnis</a:t>
            </a:r>
            <a:r>
              <a:rPr lang="en-ID" sz="1200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ID" sz="1200" b="1" dirty="0">
                <a:latin typeface="Rubik"/>
                <a:ea typeface="Rubik"/>
                <a:cs typeface="Rubik"/>
                <a:sym typeface="Rubik"/>
              </a:rPr>
              <a:t>Kimia </a:t>
            </a:r>
            <a:r>
              <a:rPr lang="en-ID" sz="1200" b="1" dirty="0" err="1">
                <a:latin typeface="Rubik"/>
                <a:ea typeface="Rubik"/>
                <a:cs typeface="Rubik"/>
                <a:sym typeface="Rubik"/>
              </a:rPr>
              <a:t>Farma</a:t>
            </a:r>
            <a:r>
              <a:rPr lang="en-ID" sz="1200" b="1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ID" sz="1200" b="1" dirty="0" err="1">
                <a:latin typeface="Rubik"/>
                <a:ea typeface="Rubik"/>
                <a:cs typeface="Rubik"/>
                <a:sym typeface="Rubik"/>
              </a:rPr>
              <a:t>tahun</a:t>
            </a:r>
            <a:r>
              <a:rPr lang="en-ID" sz="1200" b="1" dirty="0">
                <a:latin typeface="Rubik"/>
                <a:ea typeface="Rubik"/>
                <a:cs typeface="Rubik"/>
                <a:sym typeface="Rubik"/>
              </a:rPr>
              <a:t> 2020-2023 </a:t>
            </a:r>
            <a:r>
              <a:rPr lang="en-ID" sz="1200" dirty="0" err="1">
                <a:latin typeface="Rubik"/>
                <a:ea typeface="Rubik"/>
                <a:cs typeface="Rubik"/>
                <a:sym typeface="Rubik"/>
              </a:rPr>
              <a:t>menggunakan</a:t>
            </a:r>
            <a:r>
              <a:rPr lang="en-ID" sz="1200" dirty="0">
                <a:latin typeface="Rubik"/>
                <a:ea typeface="Rubik"/>
                <a:cs typeface="Rubik"/>
                <a:sym typeface="Rubik"/>
              </a:rPr>
              <a:t> Google </a:t>
            </a:r>
            <a:r>
              <a:rPr lang="en-ID" sz="1200" dirty="0" err="1">
                <a:latin typeface="Rubik"/>
                <a:ea typeface="Rubik"/>
                <a:cs typeface="Rubik"/>
                <a:sym typeface="Rubik"/>
              </a:rPr>
              <a:t>BigQuery</a:t>
            </a:r>
            <a:r>
              <a:rPr lang="en-ID" sz="1200" dirty="0">
                <a:latin typeface="Rubik"/>
                <a:ea typeface="Rubik"/>
                <a:cs typeface="Rubik"/>
                <a:sym typeface="Rubik"/>
              </a:rPr>
              <a:t> dan Looker Studio. Data yang </a:t>
            </a:r>
            <a:r>
              <a:rPr lang="en-ID" sz="1200" dirty="0" err="1">
                <a:latin typeface="Rubik"/>
                <a:ea typeface="Rubik"/>
                <a:cs typeface="Rubik"/>
                <a:sym typeface="Rubik"/>
              </a:rPr>
              <a:t>tersedia</a:t>
            </a:r>
            <a:r>
              <a:rPr lang="en-ID" sz="1200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latin typeface="Rubik"/>
                <a:ea typeface="Rubik"/>
                <a:cs typeface="Rubik"/>
                <a:sym typeface="Rubik"/>
              </a:rPr>
              <a:t>terdiri</a:t>
            </a:r>
            <a:r>
              <a:rPr lang="en-ID" sz="1200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latin typeface="Rubik"/>
                <a:ea typeface="Rubik"/>
                <a:cs typeface="Rubik"/>
                <a:sym typeface="Rubik"/>
              </a:rPr>
              <a:t>dari</a:t>
            </a:r>
            <a:r>
              <a:rPr lang="en-ID" sz="1200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ID" sz="1200" b="1" dirty="0" err="1">
                <a:latin typeface="Rubik"/>
                <a:ea typeface="Rubik"/>
                <a:cs typeface="Rubik"/>
                <a:sym typeface="Rubik"/>
              </a:rPr>
              <a:t>empat</a:t>
            </a:r>
            <a:r>
              <a:rPr lang="en-ID" sz="1200" b="1" dirty="0">
                <a:latin typeface="Rubik"/>
                <a:ea typeface="Rubik"/>
                <a:cs typeface="Rubik"/>
                <a:sym typeface="Rubik"/>
              </a:rPr>
              <a:t> table dataset</a:t>
            </a:r>
            <a:r>
              <a:rPr lang="en-ID" sz="1200" dirty="0">
                <a:latin typeface="Rubik"/>
                <a:ea typeface="Rubik"/>
                <a:cs typeface="Rubik"/>
                <a:sym typeface="Rubik"/>
              </a:rPr>
              <a:t>, </a:t>
            </a:r>
            <a:r>
              <a:rPr lang="en-ID" sz="1200" dirty="0" err="1">
                <a:latin typeface="Rubik"/>
                <a:ea typeface="Rubik"/>
                <a:cs typeface="Rubik"/>
                <a:sym typeface="Rubik"/>
              </a:rPr>
              <a:t>yaitu</a:t>
            </a:r>
            <a:r>
              <a:rPr lang="en-ID" sz="1200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latin typeface="Rubik"/>
                <a:ea typeface="Rubik"/>
                <a:cs typeface="Rubik"/>
                <a:sym typeface="Rubik"/>
              </a:rPr>
              <a:t>transaksi</a:t>
            </a:r>
            <a:r>
              <a:rPr lang="en-ID" sz="1200" dirty="0">
                <a:latin typeface="Rubik"/>
                <a:ea typeface="Rubik"/>
                <a:cs typeface="Rubik"/>
                <a:sym typeface="Rubik"/>
              </a:rPr>
              <a:t>, </a:t>
            </a:r>
            <a:r>
              <a:rPr lang="en-ID" sz="1200" dirty="0" err="1">
                <a:latin typeface="Rubik"/>
                <a:ea typeface="Rubik"/>
                <a:cs typeface="Rubik"/>
                <a:sym typeface="Rubik"/>
              </a:rPr>
              <a:t>produk</a:t>
            </a:r>
            <a:r>
              <a:rPr lang="en-ID" sz="1200" dirty="0">
                <a:latin typeface="Rubik"/>
                <a:ea typeface="Rubik"/>
                <a:cs typeface="Rubik"/>
                <a:sym typeface="Rubik"/>
              </a:rPr>
              <a:t>, </a:t>
            </a:r>
            <a:r>
              <a:rPr lang="en-ID" sz="1200" dirty="0" err="1">
                <a:latin typeface="Rubik"/>
                <a:ea typeface="Rubik"/>
                <a:cs typeface="Rubik"/>
                <a:sym typeface="Rubik"/>
              </a:rPr>
              <a:t>cabang</a:t>
            </a:r>
            <a:r>
              <a:rPr lang="en-ID" sz="1200" dirty="0">
                <a:latin typeface="Rubik"/>
                <a:ea typeface="Rubik"/>
                <a:cs typeface="Rubik"/>
                <a:sym typeface="Rubik"/>
              </a:rPr>
              <a:t>, dan inventory. </a:t>
            </a:r>
            <a:r>
              <a:rPr lang="en-ID" sz="1200" dirty="0" err="1">
                <a:latin typeface="Rubik"/>
                <a:ea typeface="Rubik"/>
                <a:cs typeface="Rubik"/>
                <a:sym typeface="Rubik"/>
              </a:rPr>
              <a:t>Tiga</a:t>
            </a:r>
            <a:r>
              <a:rPr lang="en-ID" sz="1200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latin typeface="Rubik"/>
                <a:ea typeface="Rubik"/>
                <a:cs typeface="Rubik"/>
                <a:sym typeface="Rubik"/>
              </a:rPr>
              <a:t>tabel</a:t>
            </a:r>
            <a:r>
              <a:rPr lang="en-ID" sz="1200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latin typeface="Rubik"/>
                <a:ea typeface="Rubik"/>
                <a:cs typeface="Rubik"/>
                <a:sym typeface="Rubik"/>
              </a:rPr>
              <a:t>pertama</a:t>
            </a:r>
            <a:r>
              <a:rPr lang="en-ID" sz="1200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latin typeface="Rubik"/>
                <a:ea typeface="Rubik"/>
                <a:cs typeface="Rubik"/>
                <a:sym typeface="Rubik"/>
              </a:rPr>
              <a:t>digabung</a:t>
            </a:r>
            <a:r>
              <a:rPr lang="en-ID" sz="1200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latin typeface="Rubik"/>
                <a:ea typeface="Rubik"/>
                <a:cs typeface="Rubik"/>
                <a:sym typeface="Rubik"/>
              </a:rPr>
              <a:t>dengan</a:t>
            </a:r>
            <a:r>
              <a:rPr lang="en-ID" sz="1200" dirty="0">
                <a:latin typeface="Rubik"/>
                <a:ea typeface="Rubik"/>
                <a:cs typeface="Rubik"/>
                <a:sym typeface="Rubik"/>
              </a:rPr>
              <a:t> LEFT JOIN </a:t>
            </a:r>
            <a:r>
              <a:rPr lang="en-ID" sz="1200" dirty="0" err="1">
                <a:latin typeface="Rubik"/>
                <a:ea typeface="Rubik"/>
                <a:cs typeface="Rubik"/>
                <a:sym typeface="Rubik"/>
              </a:rPr>
              <a:t>menjadi</a:t>
            </a:r>
            <a:r>
              <a:rPr lang="en-ID" sz="1200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latin typeface="Rubik"/>
                <a:ea typeface="Rubik"/>
                <a:cs typeface="Rubik"/>
                <a:sym typeface="Rubik"/>
              </a:rPr>
              <a:t>satu</a:t>
            </a:r>
            <a:r>
              <a:rPr lang="en-ID" sz="1200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latin typeface="Rubik"/>
                <a:ea typeface="Rubik"/>
                <a:cs typeface="Rubik"/>
                <a:sym typeface="Rubik"/>
              </a:rPr>
              <a:t>tabel</a:t>
            </a:r>
            <a:r>
              <a:rPr lang="en-ID" sz="1200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latin typeface="Rubik"/>
                <a:ea typeface="Rubik"/>
                <a:cs typeface="Rubik"/>
                <a:sym typeface="Rubik"/>
              </a:rPr>
              <a:t>analisa</a:t>
            </a:r>
            <a:r>
              <a:rPr lang="en-ID" sz="1200" dirty="0">
                <a:latin typeface="Rubik"/>
                <a:ea typeface="Rubik"/>
                <a:cs typeface="Rubik"/>
                <a:sym typeface="Rubik"/>
              </a:rPr>
              <a:t> yang </a:t>
            </a:r>
            <a:r>
              <a:rPr lang="en-ID" sz="1200" dirty="0" err="1">
                <a:latin typeface="Rubik"/>
                <a:ea typeface="Rubik"/>
                <a:cs typeface="Rubik"/>
                <a:sym typeface="Rubik"/>
              </a:rPr>
              <a:t>memuat</a:t>
            </a:r>
            <a:r>
              <a:rPr lang="en-ID" sz="1200" dirty="0">
                <a:latin typeface="Rubik"/>
                <a:ea typeface="Rubik"/>
                <a:cs typeface="Rubik"/>
                <a:sym typeface="Rubik"/>
              </a:rPr>
              <a:t> nett sales dan nett profit. Dari </a:t>
            </a:r>
            <a:r>
              <a:rPr lang="en-ID" sz="1200" dirty="0" err="1">
                <a:latin typeface="Rubik"/>
                <a:ea typeface="Rubik"/>
                <a:cs typeface="Rubik"/>
                <a:sym typeface="Rubik"/>
              </a:rPr>
              <a:t>tabel</a:t>
            </a:r>
            <a:r>
              <a:rPr lang="en-ID" sz="1200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latin typeface="Rubik"/>
                <a:ea typeface="Rubik"/>
                <a:cs typeface="Rubik"/>
                <a:sym typeface="Rubik"/>
              </a:rPr>
              <a:t>tersebut</a:t>
            </a:r>
            <a:r>
              <a:rPr lang="en-ID" sz="1200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latin typeface="Rubik"/>
                <a:ea typeface="Rubik"/>
                <a:cs typeface="Rubik"/>
                <a:sym typeface="Rubik"/>
              </a:rPr>
              <a:t>dianalisis</a:t>
            </a:r>
            <a:r>
              <a:rPr lang="en-ID" sz="1200" dirty="0">
                <a:latin typeface="Rubik"/>
                <a:ea typeface="Rubik"/>
                <a:cs typeface="Rubik"/>
                <a:sym typeface="Rubik"/>
              </a:rPr>
              <a:t> total </a:t>
            </a:r>
            <a:r>
              <a:rPr lang="en-ID" sz="1200" dirty="0" err="1">
                <a:latin typeface="Rubik"/>
                <a:ea typeface="Rubik"/>
                <a:cs typeface="Rubik"/>
                <a:sym typeface="Rubik"/>
              </a:rPr>
              <a:t>penjualan</a:t>
            </a:r>
            <a:r>
              <a:rPr lang="en-ID" sz="1200" dirty="0">
                <a:latin typeface="Rubik"/>
                <a:ea typeface="Rubik"/>
                <a:cs typeface="Rubik"/>
                <a:sym typeface="Rubik"/>
              </a:rPr>
              <a:t> dan profit, </a:t>
            </a:r>
            <a:r>
              <a:rPr lang="en-ID" sz="1200" dirty="0" err="1">
                <a:latin typeface="Rubik"/>
                <a:ea typeface="Rubik"/>
                <a:cs typeface="Rubik"/>
                <a:sym typeface="Rubik"/>
              </a:rPr>
              <a:t>jumlah</a:t>
            </a:r>
            <a:r>
              <a:rPr lang="en-ID" sz="1200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latin typeface="Rubik"/>
                <a:ea typeface="Rubik"/>
                <a:cs typeface="Rubik"/>
                <a:sym typeface="Rubik"/>
              </a:rPr>
              <a:t>transaksi</a:t>
            </a:r>
            <a:r>
              <a:rPr lang="en-ID" sz="1200" dirty="0">
                <a:latin typeface="Rubik"/>
                <a:ea typeface="Rubik"/>
                <a:cs typeface="Rubik"/>
                <a:sym typeface="Rubik"/>
              </a:rPr>
              <a:t> dan customer, </a:t>
            </a:r>
            <a:r>
              <a:rPr lang="en-ID" sz="1200" dirty="0" err="1">
                <a:latin typeface="Rubik"/>
                <a:ea typeface="Rubik"/>
                <a:cs typeface="Rubik"/>
                <a:sym typeface="Rubik"/>
              </a:rPr>
              <a:t>kontribusi</a:t>
            </a:r>
            <a:r>
              <a:rPr lang="en-ID" sz="1200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latin typeface="Rubik"/>
                <a:ea typeface="Rubik"/>
                <a:cs typeface="Rubik"/>
                <a:sym typeface="Rubik"/>
              </a:rPr>
              <a:t>tiap</a:t>
            </a:r>
            <a:r>
              <a:rPr lang="en-ID" sz="1200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latin typeface="Rubik"/>
                <a:ea typeface="Rubik"/>
                <a:cs typeface="Rubik"/>
                <a:sym typeface="Rubik"/>
              </a:rPr>
              <a:t>provinsi</a:t>
            </a:r>
            <a:r>
              <a:rPr lang="en-ID" sz="1200" dirty="0">
                <a:latin typeface="Rubik"/>
                <a:ea typeface="Rubik"/>
                <a:cs typeface="Rubik"/>
                <a:sym typeface="Rubik"/>
              </a:rPr>
              <a:t> dan </a:t>
            </a:r>
            <a:r>
              <a:rPr lang="en-ID" sz="1200" dirty="0" err="1">
                <a:latin typeface="Rubik"/>
                <a:ea typeface="Rubik"/>
                <a:cs typeface="Rubik"/>
                <a:sym typeface="Rubik"/>
              </a:rPr>
              <a:t>kategori</a:t>
            </a:r>
            <a:r>
              <a:rPr lang="en-ID" sz="1200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latin typeface="Rubik"/>
                <a:ea typeface="Rubik"/>
                <a:cs typeface="Rubik"/>
                <a:sym typeface="Rubik"/>
              </a:rPr>
              <a:t>cabang</a:t>
            </a:r>
            <a:r>
              <a:rPr lang="en-ID" sz="1200" dirty="0">
                <a:latin typeface="Rubik"/>
                <a:ea typeface="Rubik"/>
                <a:cs typeface="Rubik"/>
                <a:sym typeface="Rubik"/>
              </a:rPr>
              <a:t>, </a:t>
            </a:r>
            <a:r>
              <a:rPr lang="en-ID" sz="1200" dirty="0" err="1">
                <a:latin typeface="Rubik"/>
                <a:ea typeface="Rubik"/>
                <a:cs typeface="Rubik"/>
                <a:sym typeface="Rubik"/>
              </a:rPr>
              <a:t>tren</a:t>
            </a:r>
            <a:r>
              <a:rPr lang="en-ID" sz="1200" dirty="0">
                <a:latin typeface="Rubik"/>
                <a:ea typeface="Rubik"/>
                <a:cs typeface="Rubik"/>
                <a:sym typeface="Rubik"/>
              </a:rPr>
              <a:t> profit </a:t>
            </a:r>
            <a:r>
              <a:rPr lang="en-ID" sz="1200" dirty="0" err="1">
                <a:latin typeface="Rubik"/>
                <a:ea typeface="Rubik"/>
                <a:cs typeface="Rubik"/>
                <a:sym typeface="Rubik"/>
              </a:rPr>
              <a:t>tahunan</a:t>
            </a:r>
            <a:r>
              <a:rPr lang="en-ID" sz="1200" dirty="0">
                <a:latin typeface="Rubik"/>
                <a:ea typeface="Rubik"/>
                <a:cs typeface="Rubik"/>
                <a:sym typeface="Rubik"/>
              </a:rPr>
              <a:t>, rating </a:t>
            </a:r>
            <a:r>
              <a:rPr lang="en-ID" sz="1200" dirty="0" err="1">
                <a:latin typeface="Rubik"/>
                <a:ea typeface="Rubik"/>
                <a:cs typeface="Rubik"/>
                <a:sym typeface="Rubik"/>
              </a:rPr>
              <a:t>cabang</a:t>
            </a:r>
            <a:r>
              <a:rPr lang="en-ID" sz="1200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latin typeface="Rubik"/>
                <a:ea typeface="Rubik"/>
                <a:cs typeface="Rubik"/>
                <a:sym typeface="Rubik"/>
              </a:rPr>
              <a:t>dibandingkan</a:t>
            </a:r>
            <a:r>
              <a:rPr lang="en-ID" sz="1200" dirty="0">
                <a:latin typeface="Rubik"/>
                <a:ea typeface="Rubik"/>
                <a:cs typeface="Rubik"/>
                <a:sym typeface="Rubik"/>
              </a:rPr>
              <a:t> rating </a:t>
            </a:r>
            <a:r>
              <a:rPr lang="en-ID" sz="1200" dirty="0" err="1">
                <a:latin typeface="Rubik"/>
                <a:ea typeface="Rubik"/>
                <a:cs typeface="Rubik"/>
                <a:sym typeface="Rubik"/>
              </a:rPr>
              <a:t>transaksi</a:t>
            </a:r>
            <a:r>
              <a:rPr lang="en-ID" sz="1200" dirty="0">
                <a:latin typeface="Rubik"/>
                <a:ea typeface="Rubik"/>
                <a:cs typeface="Rubik"/>
                <a:sym typeface="Rubik"/>
              </a:rPr>
              <a:t>, </a:t>
            </a:r>
            <a:r>
              <a:rPr lang="en-ID" sz="1200" dirty="0" err="1">
                <a:latin typeface="Rubik"/>
                <a:ea typeface="Rubik"/>
                <a:cs typeface="Rubik"/>
                <a:sym typeface="Rubik"/>
              </a:rPr>
              <a:t>komposisi</a:t>
            </a:r>
            <a:r>
              <a:rPr lang="en-ID" sz="1200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latin typeface="Rubik"/>
                <a:ea typeface="Rubik"/>
                <a:cs typeface="Rubik"/>
                <a:sym typeface="Rubik"/>
              </a:rPr>
              <a:t>produk</a:t>
            </a:r>
            <a:r>
              <a:rPr lang="en-ID" sz="1200" dirty="0">
                <a:latin typeface="Rubik"/>
                <a:ea typeface="Rubik"/>
                <a:cs typeface="Rubik"/>
                <a:sym typeface="Rubik"/>
              </a:rPr>
              <a:t>, </a:t>
            </a:r>
            <a:r>
              <a:rPr lang="en-ID" sz="1200" dirty="0" err="1">
                <a:latin typeface="Rubik"/>
                <a:ea typeface="Rubik"/>
                <a:cs typeface="Rubik"/>
                <a:sym typeface="Rubik"/>
              </a:rPr>
              <a:t>serta</a:t>
            </a:r>
            <a:r>
              <a:rPr lang="en-ID" sz="1200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latin typeface="Rubik"/>
                <a:ea typeface="Rubik"/>
                <a:cs typeface="Rubik"/>
                <a:sym typeface="Rubik"/>
              </a:rPr>
              <a:t>dampak</a:t>
            </a:r>
            <a:r>
              <a:rPr lang="en-ID" sz="1200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latin typeface="Rubik"/>
                <a:ea typeface="Rubik"/>
                <a:cs typeface="Rubik"/>
                <a:sym typeface="Rubik"/>
              </a:rPr>
              <a:t>diskon</a:t>
            </a:r>
            <a:r>
              <a:rPr lang="en-ID" sz="1200" dirty="0">
                <a:latin typeface="Rubik"/>
                <a:ea typeface="Rubik"/>
                <a:cs typeface="Rubik"/>
                <a:sym typeface="Rubik"/>
              </a:rPr>
              <a:t>. </a:t>
            </a:r>
            <a:r>
              <a:rPr lang="en-ID" sz="1200" b="1" dirty="0" err="1">
                <a:latin typeface="Rubik"/>
                <a:ea typeface="Rubik"/>
                <a:cs typeface="Rubik"/>
                <a:sym typeface="Rubik"/>
              </a:rPr>
              <a:t>Hasilnya</a:t>
            </a:r>
            <a:r>
              <a:rPr lang="en-ID" sz="1200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latin typeface="Rubik"/>
                <a:ea typeface="Rubik"/>
                <a:cs typeface="Rubik"/>
                <a:sym typeface="Rubik"/>
              </a:rPr>
              <a:t>divisualisasikan</a:t>
            </a:r>
            <a:r>
              <a:rPr lang="en-ID" sz="1200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latin typeface="Rubik"/>
                <a:ea typeface="Rubik"/>
                <a:cs typeface="Rubik"/>
                <a:sym typeface="Rubik"/>
              </a:rPr>
              <a:t>dalam</a:t>
            </a:r>
            <a:r>
              <a:rPr lang="en-ID" sz="1200" dirty="0">
                <a:latin typeface="Rubik"/>
                <a:ea typeface="Rubik"/>
                <a:cs typeface="Rubik"/>
                <a:sym typeface="Rubik"/>
              </a:rPr>
              <a:t> dashboard </a:t>
            </a:r>
            <a:r>
              <a:rPr lang="en-ID" sz="1200" dirty="0" err="1">
                <a:latin typeface="Rubik"/>
                <a:ea typeface="Rubik"/>
                <a:cs typeface="Rubik"/>
                <a:sym typeface="Rubik"/>
              </a:rPr>
              <a:t>untuk</a:t>
            </a:r>
            <a:r>
              <a:rPr lang="en-ID" sz="1200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latin typeface="Rubik"/>
                <a:ea typeface="Rubik"/>
                <a:cs typeface="Rubik"/>
                <a:sym typeface="Rubik"/>
              </a:rPr>
              <a:t>menentukan</a:t>
            </a:r>
            <a:r>
              <a:rPr lang="en-ID" sz="1200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latin typeface="Rubik"/>
                <a:ea typeface="Rubik"/>
                <a:cs typeface="Rubik"/>
                <a:sym typeface="Rubik"/>
              </a:rPr>
              <a:t>cabang</a:t>
            </a:r>
            <a:r>
              <a:rPr lang="en-ID" sz="1200" dirty="0">
                <a:latin typeface="Rubik"/>
                <a:ea typeface="Rubik"/>
                <a:cs typeface="Rubik"/>
                <a:sym typeface="Rubik"/>
              </a:rPr>
              <a:t> dan wilayah yang </a:t>
            </a:r>
            <a:r>
              <a:rPr lang="en-ID" sz="1200" dirty="0" err="1">
                <a:latin typeface="Rubik"/>
                <a:ea typeface="Rubik"/>
                <a:cs typeface="Rubik"/>
                <a:sym typeface="Rubik"/>
              </a:rPr>
              <a:t>menopang</a:t>
            </a:r>
            <a:r>
              <a:rPr lang="en-ID" sz="1200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latin typeface="Rubik"/>
                <a:ea typeface="Rubik"/>
                <a:cs typeface="Rubik"/>
                <a:sym typeface="Rubik"/>
              </a:rPr>
              <a:t>pendapatan</a:t>
            </a:r>
            <a:r>
              <a:rPr lang="en-ID" sz="1200" dirty="0">
                <a:latin typeface="Rubik"/>
                <a:ea typeface="Rubik"/>
                <a:cs typeface="Rubik"/>
                <a:sym typeface="Rubik"/>
              </a:rPr>
              <a:t>, </a:t>
            </a:r>
            <a:r>
              <a:rPr lang="en-ID" sz="1200" dirty="0" err="1">
                <a:latin typeface="Rubik"/>
                <a:ea typeface="Rubik"/>
                <a:cs typeface="Rubik"/>
                <a:sym typeface="Rubik"/>
              </a:rPr>
              <a:t>sekaligus</a:t>
            </a:r>
            <a:r>
              <a:rPr lang="en-ID" sz="1200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latin typeface="Rubik"/>
                <a:ea typeface="Rubik"/>
                <a:cs typeface="Rubik"/>
                <a:sym typeface="Rubik"/>
              </a:rPr>
              <a:t>peluang</a:t>
            </a:r>
            <a:r>
              <a:rPr lang="en-ID" sz="1200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latin typeface="Rubik"/>
                <a:ea typeface="Rubik"/>
                <a:cs typeface="Rubik"/>
                <a:sym typeface="Rubik"/>
              </a:rPr>
              <a:t>perbaikan</a:t>
            </a:r>
            <a:r>
              <a:rPr lang="en-ID" sz="1200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latin typeface="Rubik"/>
                <a:ea typeface="Rubik"/>
                <a:cs typeface="Rubik"/>
                <a:sym typeface="Rubik"/>
              </a:rPr>
              <a:t>kinerja</a:t>
            </a:r>
            <a:r>
              <a:rPr lang="en-ID" sz="1200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latin typeface="Rubik"/>
                <a:ea typeface="Rubik"/>
                <a:cs typeface="Rubik"/>
                <a:sym typeface="Rubik"/>
              </a:rPr>
              <a:t>perusahaan</a:t>
            </a:r>
            <a:r>
              <a:rPr lang="en-ID" sz="1200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latin typeface="Rubik"/>
                <a:ea typeface="Rubik"/>
                <a:cs typeface="Rubik"/>
                <a:sym typeface="Rubik"/>
              </a:rPr>
              <a:t>ke</a:t>
            </a:r>
            <a:r>
              <a:rPr lang="en-ID" sz="1200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latin typeface="Rubik"/>
                <a:ea typeface="Rubik"/>
                <a:cs typeface="Rubik"/>
                <a:sym typeface="Rubik"/>
              </a:rPr>
              <a:t>depan</a:t>
            </a:r>
            <a:r>
              <a:rPr lang="en-ID" sz="1200" dirty="0">
                <a:latin typeface="Rubik"/>
                <a:ea typeface="Rubik"/>
                <a:cs typeface="Rubik"/>
                <a:sym typeface="Rubik"/>
              </a:rPr>
              <a:t>.</a:t>
            </a:r>
            <a:endParaRPr lang="en-ID" sz="1200" i="0" u="none" strike="noStrike" cap="none" dirty="0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13" name="Google Shape;113;g265ee868302_0_99"/>
          <p:cNvSpPr txBox="1"/>
          <p:nvPr/>
        </p:nvSpPr>
        <p:spPr>
          <a:xfrm>
            <a:off x="6054900" y="4308666"/>
            <a:ext cx="30891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 dirty="0">
                <a:latin typeface="Rubik"/>
                <a:ea typeface="Rubik"/>
                <a:cs typeface="Rubik"/>
                <a:sym typeface="Rubik"/>
              </a:rPr>
              <a:t>Project explanation video </a:t>
            </a:r>
            <a:r>
              <a:rPr lang="en" sz="1200" b="1" dirty="0">
                <a:latin typeface="Rubik"/>
                <a:ea typeface="Rubik"/>
                <a:cs typeface="Rubik"/>
                <a:sym typeface="Rubik"/>
                <a:hlinkClick r:id="rId5"/>
              </a:rPr>
              <a:t>here!</a:t>
            </a:r>
            <a:endParaRPr sz="1200" b="1" dirty="0"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" name="Google Shape;113;g265ee868302_0_99">
            <a:extLst>
              <a:ext uri="{FF2B5EF4-FFF2-40B4-BE49-F238E27FC236}">
                <a16:creationId xmlns:a16="http://schemas.microsoft.com/office/drawing/2014/main" id="{F1F38DEE-C894-9220-4735-8A664DFE48FE}"/>
              </a:ext>
            </a:extLst>
          </p:cNvPr>
          <p:cNvSpPr txBox="1"/>
          <p:nvPr/>
        </p:nvSpPr>
        <p:spPr>
          <a:xfrm>
            <a:off x="340499" y="4308666"/>
            <a:ext cx="30891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 dirty="0">
                <a:latin typeface="Rubik"/>
                <a:ea typeface="Rubik"/>
                <a:cs typeface="Rubik"/>
                <a:sym typeface="Rubik"/>
              </a:rPr>
              <a:t>Github repository </a:t>
            </a:r>
            <a:r>
              <a:rPr lang="en" sz="1200" b="1" dirty="0">
                <a:latin typeface="Rubik"/>
                <a:ea typeface="Rubik"/>
                <a:cs typeface="Rubik"/>
                <a:sym typeface="Rubik"/>
                <a:hlinkClick r:id="rId6"/>
              </a:rPr>
              <a:t>here!</a:t>
            </a:r>
            <a:endParaRPr sz="1200" b="1" dirty="0"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8DB5E5-0892-012B-96D7-364FB473D961}"/>
              </a:ext>
            </a:extLst>
          </p:cNvPr>
          <p:cNvSpPr txBox="1"/>
          <p:nvPr/>
        </p:nvSpPr>
        <p:spPr>
          <a:xfrm>
            <a:off x="340499" y="4770301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100" dirty="0">
                <a:solidFill>
                  <a:schemeClr val="accent2">
                    <a:lumMod val="75000"/>
                    <a:lumOff val="25000"/>
                  </a:schemeClr>
                </a:solidFill>
                <a:latin typeface="Rubik"/>
                <a:ea typeface="Rubik"/>
                <a:cs typeface="Rubik"/>
                <a:sym typeface="Rubik"/>
              </a:rPr>
              <a:t>Kimia </a:t>
            </a:r>
            <a:r>
              <a:rPr lang="en-ID" sz="1100" dirty="0" err="1">
                <a:solidFill>
                  <a:schemeClr val="accent2">
                    <a:lumMod val="75000"/>
                    <a:lumOff val="25000"/>
                  </a:schemeClr>
                </a:solidFill>
                <a:latin typeface="Rubik"/>
                <a:ea typeface="Rubik"/>
                <a:cs typeface="Rubik"/>
                <a:sym typeface="Rubik"/>
              </a:rPr>
              <a:t>Farma</a:t>
            </a:r>
            <a:r>
              <a:rPr lang="en-ID" sz="1100" dirty="0">
                <a:solidFill>
                  <a:schemeClr val="accent2">
                    <a:lumMod val="75000"/>
                    <a:lumOff val="25000"/>
                  </a:schemeClr>
                </a:solidFill>
                <a:latin typeface="Rubik"/>
                <a:ea typeface="Rubik"/>
                <a:cs typeface="Rubik"/>
                <a:sym typeface="Rubik"/>
              </a:rPr>
              <a:t> Performance Analytics 2020-2023</a:t>
            </a:r>
            <a:endParaRPr lang="en-ID" sz="1100" dirty="0">
              <a:solidFill>
                <a:schemeClr val="accent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Shape 18">
            <a:extLst>
              <a:ext uri="{FF2B5EF4-FFF2-40B4-BE49-F238E27FC236}">
                <a16:creationId xmlns:a16="http://schemas.microsoft.com/office/drawing/2014/main" id="{A6F96F18-C1AF-A82E-8039-04DD3D761683}"/>
              </a:ext>
            </a:extLst>
          </p:cNvPr>
          <p:cNvSpPr/>
          <p:nvPr/>
        </p:nvSpPr>
        <p:spPr>
          <a:xfrm>
            <a:off x="441137" y="3660015"/>
            <a:ext cx="1083826" cy="461635"/>
          </a:xfrm>
          <a:prstGeom prst="roundRect">
            <a:avLst>
              <a:gd name="adj" fmla="val 49091"/>
            </a:avLst>
          </a:prstGeom>
          <a:solidFill>
            <a:schemeClr val="accent1"/>
          </a:solidFill>
          <a:ln/>
        </p:spPr>
      </p:sp>
      <p:sp>
        <p:nvSpPr>
          <p:cNvPr id="7" name="Text 19">
            <a:extLst>
              <a:ext uri="{FF2B5EF4-FFF2-40B4-BE49-F238E27FC236}">
                <a16:creationId xmlns:a16="http://schemas.microsoft.com/office/drawing/2014/main" id="{40CE6C49-B713-5B8B-A9E9-3D85C4D86854}"/>
              </a:ext>
            </a:extLst>
          </p:cNvPr>
          <p:cNvSpPr txBox="1"/>
          <p:nvPr/>
        </p:nvSpPr>
        <p:spPr>
          <a:xfrm>
            <a:off x="441137" y="3660015"/>
            <a:ext cx="1083826" cy="46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4 file CSV</a:t>
            </a:r>
            <a:endParaRPr lang="en-US" sz="1000" dirty="0"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8" name="Text 20">
            <a:extLst>
              <a:ext uri="{FF2B5EF4-FFF2-40B4-BE49-F238E27FC236}">
                <a16:creationId xmlns:a16="http://schemas.microsoft.com/office/drawing/2014/main" id="{24AC5F6A-6831-2978-CFEE-22A8E19AE676}"/>
              </a:ext>
            </a:extLst>
          </p:cNvPr>
          <p:cNvSpPr txBox="1"/>
          <p:nvPr/>
        </p:nvSpPr>
        <p:spPr>
          <a:xfrm>
            <a:off x="1489353" y="3660015"/>
            <a:ext cx="361275" cy="46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  <a:latin typeface="Rubik" panose="020B0604020202020204" charset="-79"/>
                <a:cs typeface="Rubik" panose="020B0604020202020204" charset="-79"/>
              </a:rPr>
              <a:t>&gt;</a:t>
            </a:r>
            <a:endParaRPr lang="en-US" sz="1000" dirty="0">
              <a:solidFill>
                <a:schemeClr val="tx1"/>
              </a:solidFill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9" name="Shape 21">
            <a:extLst>
              <a:ext uri="{FF2B5EF4-FFF2-40B4-BE49-F238E27FC236}">
                <a16:creationId xmlns:a16="http://schemas.microsoft.com/office/drawing/2014/main" id="{675C1EF9-60F2-E922-FFE8-73F9C4AEA10B}"/>
              </a:ext>
            </a:extLst>
          </p:cNvPr>
          <p:cNvSpPr/>
          <p:nvPr/>
        </p:nvSpPr>
        <p:spPr>
          <a:xfrm>
            <a:off x="1779282" y="3660015"/>
            <a:ext cx="1083826" cy="461635"/>
          </a:xfrm>
          <a:prstGeom prst="roundRect">
            <a:avLst>
              <a:gd name="adj" fmla="val 49091"/>
            </a:avLst>
          </a:prstGeom>
          <a:solidFill>
            <a:schemeClr val="accent1"/>
          </a:solidFill>
          <a:ln/>
        </p:spPr>
      </p:sp>
      <p:sp>
        <p:nvSpPr>
          <p:cNvPr id="10" name="Text 22">
            <a:extLst>
              <a:ext uri="{FF2B5EF4-FFF2-40B4-BE49-F238E27FC236}">
                <a16:creationId xmlns:a16="http://schemas.microsoft.com/office/drawing/2014/main" id="{0C9346AE-822D-2B93-8D15-2BD091506BC3}"/>
              </a:ext>
            </a:extLst>
          </p:cNvPr>
          <p:cNvSpPr txBox="1"/>
          <p:nvPr/>
        </p:nvSpPr>
        <p:spPr>
          <a:xfrm>
            <a:off x="1768131" y="3660015"/>
            <a:ext cx="1083826" cy="46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BigQuery</a:t>
            </a:r>
            <a:endParaRPr lang="en-US" sz="1000" dirty="0"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11" name="Text 23">
            <a:extLst>
              <a:ext uri="{FF2B5EF4-FFF2-40B4-BE49-F238E27FC236}">
                <a16:creationId xmlns:a16="http://schemas.microsoft.com/office/drawing/2014/main" id="{95381997-0964-8C25-2B12-F8A9C9343235}"/>
              </a:ext>
            </a:extLst>
          </p:cNvPr>
          <p:cNvSpPr txBox="1"/>
          <p:nvPr/>
        </p:nvSpPr>
        <p:spPr>
          <a:xfrm>
            <a:off x="2827496" y="3660015"/>
            <a:ext cx="361275" cy="46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  <a:latin typeface="Rubik" panose="020B0604020202020204" charset="-79"/>
                <a:cs typeface="Rubik" panose="020B0604020202020204" charset="-79"/>
              </a:rPr>
              <a:t>&gt;</a:t>
            </a:r>
            <a:endParaRPr lang="en-US" sz="1000" dirty="0">
              <a:solidFill>
                <a:schemeClr val="tx1"/>
              </a:solidFill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12" name="Shape 24">
            <a:extLst>
              <a:ext uri="{FF2B5EF4-FFF2-40B4-BE49-F238E27FC236}">
                <a16:creationId xmlns:a16="http://schemas.microsoft.com/office/drawing/2014/main" id="{A5D8BE74-B8C7-B600-D378-18A1CDE3E53D}"/>
              </a:ext>
            </a:extLst>
          </p:cNvPr>
          <p:cNvSpPr/>
          <p:nvPr/>
        </p:nvSpPr>
        <p:spPr>
          <a:xfrm>
            <a:off x="3162033" y="3660015"/>
            <a:ext cx="1532628" cy="461635"/>
          </a:xfrm>
          <a:prstGeom prst="roundRect">
            <a:avLst>
              <a:gd name="adj" fmla="val 49091"/>
            </a:avLst>
          </a:prstGeom>
          <a:solidFill>
            <a:srgbClr val="4285F4"/>
          </a:solidFill>
          <a:ln/>
        </p:spPr>
      </p:sp>
      <p:sp>
        <p:nvSpPr>
          <p:cNvPr id="13" name="Text 25">
            <a:extLst>
              <a:ext uri="{FF2B5EF4-FFF2-40B4-BE49-F238E27FC236}">
                <a16:creationId xmlns:a16="http://schemas.microsoft.com/office/drawing/2014/main" id="{05C125F7-0B9B-14BB-19D6-E643C9BA58E5}"/>
              </a:ext>
            </a:extLst>
          </p:cNvPr>
          <p:cNvSpPr txBox="1"/>
          <p:nvPr/>
        </p:nvSpPr>
        <p:spPr>
          <a:xfrm>
            <a:off x="3262397" y="3660015"/>
            <a:ext cx="1343053" cy="46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analysis_table_kf</a:t>
            </a:r>
            <a:endParaRPr lang="en-US" sz="1000" dirty="0"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14" name="Text 26">
            <a:extLst>
              <a:ext uri="{FF2B5EF4-FFF2-40B4-BE49-F238E27FC236}">
                <a16:creationId xmlns:a16="http://schemas.microsoft.com/office/drawing/2014/main" id="{2C6AB58E-6479-6DAB-FFB9-B34EA97C7AF9}"/>
              </a:ext>
            </a:extLst>
          </p:cNvPr>
          <p:cNvSpPr txBox="1"/>
          <p:nvPr/>
        </p:nvSpPr>
        <p:spPr>
          <a:xfrm>
            <a:off x="4667451" y="3660015"/>
            <a:ext cx="361275" cy="46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  <a:latin typeface="Rubik" panose="020B0604020202020204" charset="-79"/>
                <a:cs typeface="Rubik" panose="020B0604020202020204" charset="-79"/>
              </a:rPr>
              <a:t>&gt;</a:t>
            </a:r>
            <a:endParaRPr lang="en-US" sz="1000" dirty="0">
              <a:solidFill>
                <a:schemeClr val="tx1"/>
              </a:solidFill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15" name="Shape 27">
            <a:extLst>
              <a:ext uri="{FF2B5EF4-FFF2-40B4-BE49-F238E27FC236}">
                <a16:creationId xmlns:a16="http://schemas.microsoft.com/office/drawing/2014/main" id="{05377357-8CF9-5035-CE8A-0F2BFCB0B66D}"/>
              </a:ext>
            </a:extLst>
          </p:cNvPr>
          <p:cNvSpPr/>
          <p:nvPr/>
        </p:nvSpPr>
        <p:spPr>
          <a:xfrm>
            <a:off x="4946229" y="3660015"/>
            <a:ext cx="1083826" cy="461635"/>
          </a:xfrm>
          <a:prstGeom prst="roundRect">
            <a:avLst>
              <a:gd name="adj" fmla="val 49091"/>
            </a:avLst>
          </a:prstGeom>
          <a:solidFill>
            <a:schemeClr val="accent1"/>
          </a:solidFill>
          <a:ln/>
        </p:spPr>
      </p:sp>
      <p:sp>
        <p:nvSpPr>
          <p:cNvPr id="16" name="Text 28">
            <a:extLst>
              <a:ext uri="{FF2B5EF4-FFF2-40B4-BE49-F238E27FC236}">
                <a16:creationId xmlns:a16="http://schemas.microsoft.com/office/drawing/2014/main" id="{EA0CB39F-CEAF-418F-0635-E6B1C47FAC11}"/>
              </a:ext>
            </a:extLst>
          </p:cNvPr>
          <p:cNvSpPr txBox="1"/>
          <p:nvPr/>
        </p:nvSpPr>
        <p:spPr>
          <a:xfrm>
            <a:off x="4957385" y="3660015"/>
            <a:ext cx="1083826" cy="46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 err="1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Github</a:t>
            </a:r>
            <a:r>
              <a:rPr lang="en-US" sz="1000" b="1" dirty="0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 repository</a:t>
            </a:r>
            <a:endParaRPr lang="en-US" sz="1000" dirty="0"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17" name="Text 29">
            <a:extLst>
              <a:ext uri="{FF2B5EF4-FFF2-40B4-BE49-F238E27FC236}">
                <a16:creationId xmlns:a16="http://schemas.microsoft.com/office/drawing/2014/main" id="{59DC53C4-22E5-2678-750E-72FC3729C605}"/>
              </a:ext>
            </a:extLst>
          </p:cNvPr>
          <p:cNvSpPr txBox="1"/>
          <p:nvPr/>
        </p:nvSpPr>
        <p:spPr>
          <a:xfrm>
            <a:off x="6016753" y="3660015"/>
            <a:ext cx="361275" cy="46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  <a:latin typeface="Rubik" panose="020B0604020202020204" charset="-79"/>
                <a:cs typeface="Rubik" panose="020B0604020202020204" charset="-79"/>
              </a:rPr>
              <a:t>&gt;</a:t>
            </a:r>
            <a:endParaRPr lang="en-US" sz="1000" dirty="0">
              <a:solidFill>
                <a:schemeClr val="tx1"/>
              </a:solidFill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20" name="Shape 27">
            <a:extLst>
              <a:ext uri="{FF2B5EF4-FFF2-40B4-BE49-F238E27FC236}">
                <a16:creationId xmlns:a16="http://schemas.microsoft.com/office/drawing/2014/main" id="{F1939DC7-064C-C9E5-6DF1-6EF7EC287640}"/>
              </a:ext>
            </a:extLst>
          </p:cNvPr>
          <p:cNvSpPr/>
          <p:nvPr/>
        </p:nvSpPr>
        <p:spPr>
          <a:xfrm>
            <a:off x="6334228" y="3655714"/>
            <a:ext cx="1083826" cy="461635"/>
          </a:xfrm>
          <a:prstGeom prst="roundRect">
            <a:avLst>
              <a:gd name="adj" fmla="val 49091"/>
            </a:avLst>
          </a:prstGeom>
          <a:solidFill>
            <a:schemeClr val="accent1"/>
          </a:solidFill>
          <a:ln/>
        </p:spPr>
      </p:sp>
      <p:sp>
        <p:nvSpPr>
          <p:cNvPr id="21" name="Text 28">
            <a:extLst>
              <a:ext uri="{FF2B5EF4-FFF2-40B4-BE49-F238E27FC236}">
                <a16:creationId xmlns:a16="http://schemas.microsoft.com/office/drawing/2014/main" id="{F246767E-40C6-FB0D-1FA0-0623E6F0F73B}"/>
              </a:ext>
            </a:extLst>
          </p:cNvPr>
          <p:cNvSpPr txBox="1"/>
          <p:nvPr/>
        </p:nvSpPr>
        <p:spPr>
          <a:xfrm>
            <a:off x="6345384" y="3655714"/>
            <a:ext cx="1083826" cy="46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Looker Studio</a:t>
            </a:r>
            <a:endParaRPr lang="en-US" sz="1000" dirty="0">
              <a:latin typeface="Rubik" panose="020B0604020202020204" charset="-79"/>
              <a:cs typeface="Rubik" panose="020B0604020202020204" charset="-79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g265ee868302_0_99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58;p1">
            <a:extLst>
              <a:ext uri="{FF2B5EF4-FFF2-40B4-BE49-F238E27FC236}">
                <a16:creationId xmlns:a16="http://schemas.microsoft.com/office/drawing/2014/main" id="{73819745-6750-D817-9ED1-7A80F090F43C}"/>
              </a:ext>
            </a:extLst>
          </p:cNvPr>
          <p:cNvSpPr/>
          <p:nvPr/>
        </p:nvSpPr>
        <p:spPr>
          <a:xfrm>
            <a:off x="-936564" y="-1217312"/>
            <a:ext cx="3135000" cy="3051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g265ee868302_0_99"/>
          <p:cNvPicPr preferRelativeResize="0"/>
          <p:nvPr/>
        </p:nvPicPr>
        <p:blipFill rotWithShape="1">
          <a:blip r:embed="rId4">
            <a:alphaModFix/>
          </a:blip>
          <a:srcRect t="5658" b="5649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g265ee868302_0_99"/>
          <p:cNvSpPr txBox="1"/>
          <p:nvPr/>
        </p:nvSpPr>
        <p:spPr>
          <a:xfrm>
            <a:off x="340500" y="452038"/>
            <a:ext cx="8463000" cy="646500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49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en" sz="3000" b="1" dirty="0">
                <a:latin typeface="Rubik"/>
                <a:ea typeface="Rubik"/>
                <a:cs typeface="Rubik"/>
                <a:sym typeface="Rubik"/>
              </a:rPr>
              <a:t>Project </a:t>
            </a:r>
            <a:r>
              <a:rPr lang="en" sz="3000" b="1" dirty="0">
                <a:solidFill>
                  <a:schemeClr val="accent5"/>
                </a:solidFill>
                <a:latin typeface="Rubik"/>
                <a:ea typeface="Rubik"/>
                <a:cs typeface="Rubik"/>
                <a:sym typeface="Rubik"/>
              </a:rPr>
              <a:t>Portfolio</a:t>
            </a:r>
            <a:endParaRPr sz="3000" b="1" i="0" u="none" strike="noStrike" cap="none" dirty="0">
              <a:solidFill>
                <a:schemeClr val="accent5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3C8997-901B-7108-8406-FC9A80D0A9AD}"/>
              </a:ext>
            </a:extLst>
          </p:cNvPr>
          <p:cNvSpPr txBox="1"/>
          <p:nvPr/>
        </p:nvSpPr>
        <p:spPr>
          <a:xfrm>
            <a:off x="340499" y="4770301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100" dirty="0">
                <a:solidFill>
                  <a:schemeClr val="accent2">
                    <a:lumMod val="75000"/>
                    <a:lumOff val="25000"/>
                  </a:schemeClr>
                </a:solidFill>
                <a:latin typeface="Rubik"/>
                <a:ea typeface="Rubik"/>
                <a:cs typeface="Rubik"/>
                <a:sym typeface="Rubik"/>
              </a:rPr>
              <a:t>Kimia </a:t>
            </a:r>
            <a:r>
              <a:rPr lang="en-ID" sz="1100" dirty="0" err="1">
                <a:solidFill>
                  <a:schemeClr val="accent2">
                    <a:lumMod val="75000"/>
                    <a:lumOff val="25000"/>
                  </a:schemeClr>
                </a:solidFill>
                <a:latin typeface="Rubik"/>
                <a:ea typeface="Rubik"/>
                <a:cs typeface="Rubik"/>
                <a:sym typeface="Rubik"/>
              </a:rPr>
              <a:t>Farma</a:t>
            </a:r>
            <a:r>
              <a:rPr lang="en-ID" sz="1100" dirty="0">
                <a:solidFill>
                  <a:schemeClr val="accent2">
                    <a:lumMod val="75000"/>
                    <a:lumOff val="25000"/>
                  </a:schemeClr>
                </a:solidFill>
                <a:latin typeface="Rubik"/>
                <a:ea typeface="Rubik"/>
                <a:cs typeface="Rubik"/>
                <a:sym typeface="Rubik"/>
              </a:rPr>
              <a:t> Performance Analytics 2020-2023</a:t>
            </a:r>
            <a:endParaRPr lang="en-ID" sz="1100" dirty="0">
              <a:solidFill>
                <a:schemeClr val="accent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Card">
            <a:extLst>
              <a:ext uri="{FF2B5EF4-FFF2-40B4-BE49-F238E27FC236}">
                <a16:creationId xmlns:a16="http://schemas.microsoft.com/office/drawing/2014/main" id="{F4FDDE73-ABEC-24B8-E4BF-0E87263A430F}"/>
              </a:ext>
            </a:extLst>
          </p:cNvPr>
          <p:cNvSpPr/>
          <p:nvPr/>
        </p:nvSpPr>
        <p:spPr>
          <a:xfrm>
            <a:off x="502920" y="1192125"/>
            <a:ext cx="3840480" cy="3337560"/>
          </a:xfrm>
          <a:prstGeom prst="roundRect">
            <a:avLst>
              <a:gd name="adj" fmla="val 2192"/>
            </a:avLst>
          </a:prstGeom>
          <a:solidFill>
            <a:srgbClr val="003C7B"/>
          </a:solidFill>
          <a:ln/>
        </p:spPr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0F90D5E8-3605-0B1E-DD89-9543E0938502}"/>
              </a:ext>
            </a:extLst>
          </p:cNvPr>
          <p:cNvSpPr txBox="1"/>
          <p:nvPr/>
        </p:nvSpPr>
        <p:spPr>
          <a:xfrm>
            <a:off x="685800" y="1329285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  <a:latin typeface="Rubik" panose="020B0604020202020204" charset="-79"/>
                <a:cs typeface="Rubik" panose="020B0604020202020204" charset="-79"/>
              </a:rPr>
              <a:t>Latar belakang</a:t>
            </a:r>
            <a:endParaRPr lang="en-US" sz="1600" dirty="0"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9A0D111B-B90A-C37D-2371-9F06C4B25441}"/>
              </a:ext>
            </a:extLst>
          </p:cNvPr>
          <p:cNvSpPr txBox="1"/>
          <p:nvPr/>
        </p:nvSpPr>
        <p:spPr>
          <a:xfrm>
            <a:off x="685800" y="1649325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Kimia Farma perlu melihat kinerja 2020-2023 secara utuh: pendapatan, profit, sebaran cabang, dan kepuasan pelanggan.</a:t>
            </a:r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438CFB98-4718-0CBB-9CA7-7D261A71EF7B}"/>
              </a:ext>
            </a:extLst>
          </p:cNvPr>
          <p:cNvSpPr/>
          <p:nvPr/>
        </p:nvSpPr>
        <p:spPr>
          <a:xfrm>
            <a:off x="685800" y="2792325"/>
            <a:ext cx="3474720" cy="1554480"/>
          </a:xfrm>
          <a:prstGeom prst="roundRect">
            <a:avLst>
              <a:gd name="adj" fmla="val 4706"/>
            </a:avLst>
          </a:prstGeom>
          <a:solidFill>
            <a:schemeClr val="tx2"/>
          </a:solidFill>
          <a:ln/>
        </p:spPr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B417B133-984D-7EAA-AC5F-CA5F1C3AB72E}"/>
              </a:ext>
            </a:extLst>
          </p:cNvPr>
          <p:cNvSpPr txBox="1"/>
          <p:nvPr/>
        </p:nvSpPr>
        <p:spPr>
          <a:xfrm>
            <a:off x="822960" y="2883765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3C7B"/>
                </a:solidFill>
                <a:latin typeface="Rubik" panose="020B0604020202020204" charset="-79"/>
                <a:cs typeface="Rubik" panose="020B0604020202020204" charset="-79"/>
              </a:rPr>
              <a:t>PROBLEM STATEMENT</a:t>
            </a:r>
            <a:endParaRPr lang="en-US" sz="1100" dirty="0">
              <a:solidFill>
                <a:srgbClr val="003C7B"/>
              </a:solidFill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808E4AD5-AB1F-7B0F-0E4E-6671CBFA2099}"/>
              </a:ext>
            </a:extLst>
          </p:cNvPr>
          <p:cNvSpPr txBox="1"/>
          <p:nvPr/>
        </p:nvSpPr>
        <p:spPr>
          <a:xfrm>
            <a:off x="822960" y="3158085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Rubik" panose="020B0604020202020204" charset="-79"/>
                <a:cs typeface="Rubik" panose="020B0604020202020204" charset="-79"/>
              </a:rPr>
              <a:t>Cabang dan provinsi mana yang menopang pendapatan, dan di mana peluang perbaikannya?</a:t>
            </a:r>
            <a:endParaRPr lang="en-US" sz="1600" dirty="0">
              <a:solidFill>
                <a:schemeClr val="tx1"/>
              </a:solidFill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11" name="Card">
            <a:extLst>
              <a:ext uri="{FF2B5EF4-FFF2-40B4-BE49-F238E27FC236}">
                <a16:creationId xmlns:a16="http://schemas.microsoft.com/office/drawing/2014/main" id="{3077D1AD-EC8F-05D6-7F92-D8809825752E}"/>
              </a:ext>
            </a:extLst>
          </p:cNvPr>
          <p:cNvSpPr/>
          <p:nvPr/>
        </p:nvSpPr>
        <p:spPr>
          <a:xfrm>
            <a:off x="4572000" y="1192125"/>
            <a:ext cx="4160520" cy="731520"/>
          </a:xfrm>
          <a:prstGeom prst="roundRect">
            <a:avLst>
              <a:gd name="adj" fmla="val 10000"/>
            </a:avLst>
          </a:prstGeom>
          <a:solidFill>
            <a:srgbClr val="003C7B"/>
          </a:solidFill>
          <a:ln/>
        </p:spPr>
      </p:sp>
      <p:sp>
        <p:nvSpPr>
          <p:cNvPr id="12" name="IconCircle">
            <a:extLst>
              <a:ext uri="{FF2B5EF4-FFF2-40B4-BE49-F238E27FC236}">
                <a16:creationId xmlns:a16="http://schemas.microsoft.com/office/drawing/2014/main" id="{60117DE3-9C29-EDA1-4169-AA01ECBFA43E}"/>
              </a:ext>
            </a:extLst>
          </p:cNvPr>
          <p:cNvSpPr/>
          <p:nvPr/>
        </p:nvSpPr>
        <p:spPr>
          <a:xfrm>
            <a:off x="4681728" y="1301853"/>
            <a:ext cx="512064" cy="512064"/>
          </a:xfrm>
          <a:prstGeom prst="ellipse">
            <a:avLst/>
          </a:prstGeom>
          <a:solidFill>
            <a:srgbClr val="1F3C88"/>
          </a:solidFill>
          <a:ln/>
        </p:spPr>
      </p:sp>
      <p:pic>
        <p:nvPicPr>
          <p:cNvPr id="13" name="Image 0" descr="ikon">
            <a:extLst>
              <a:ext uri="{FF2B5EF4-FFF2-40B4-BE49-F238E27FC236}">
                <a16:creationId xmlns:a16="http://schemas.microsoft.com/office/drawing/2014/main" id="{0EF484E4-89B1-4964-BE09-B0AC4F6B17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9744" y="1429869"/>
            <a:ext cx="256032" cy="256032"/>
          </a:xfrm>
          <a:prstGeom prst="rect">
            <a:avLst/>
          </a:prstGeom>
        </p:spPr>
      </p:pic>
      <p:sp>
        <p:nvSpPr>
          <p:cNvPr id="14" name="Text 10">
            <a:extLst>
              <a:ext uri="{FF2B5EF4-FFF2-40B4-BE49-F238E27FC236}">
                <a16:creationId xmlns:a16="http://schemas.microsoft.com/office/drawing/2014/main" id="{F7008D1D-A79D-6989-9B43-CC2BAF79EEC7}"/>
              </a:ext>
            </a:extLst>
          </p:cNvPr>
          <p:cNvSpPr txBox="1"/>
          <p:nvPr/>
        </p:nvSpPr>
        <p:spPr>
          <a:xfrm>
            <a:off x="5349240" y="1265277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  <a:latin typeface="Rubik" panose="020B0604020202020204" charset="-79"/>
                <a:cs typeface="Rubik" panose="020B0604020202020204" charset="-79"/>
              </a:rPr>
              <a:t>Import dataset</a:t>
            </a:r>
            <a:endParaRPr lang="en-US" sz="1600" dirty="0"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5337C80D-2C40-A93C-03B3-A66BDD600344}"/>
              </a:ext>
            </a:extLst>
          </p:cNvPr>
          <p:cNvSpPr txBox="1"/>
          <p:nvPr/>
        </p:nvSpPr>
        <p:spPr>
          <a:xfrm>
            <a:off x="5349240" y="1557885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4 file CSV masuk ke BigQuery</a:t>
            </a:r>
          </a:p>
        </p:txBody>
      </p:sp>
      <p:sp>
        <p:nvSpPr>
          <p:cNvPr id="16" name="Card">
            <a:extLst>
              <a:ext uri="{FF2B5EF4-FFF2-40B4-BE49-F238E27FC236}">
                <a16:creationId xmlns:a16="http://schemas.microsoft.com/office/drawing/2014/main" id="{6A481EB6-EAE3-24DA-8A22-471BF0779D1C}"/>
              </a:ext>
            </a:extLst>
          </p:cNvPr>
          <p:cNvSpPr/>
          <p:nvPr/>
        </p:nvSpPr>
        <p:spPr>
          <a:xfrm>
            <a:off x="4572000" y="2042517"/>
            <a:ext cx="4160520" cy="731520"/>
          </a:xfrm>
          <a:prstGeom prst="roundRect">
            <a:avLst>
              <a:gd name="adj" fmla="val 10000"/>
            </a:avLst>
          </a:prstGeom>
          <a:solidFill>
            <a:srgbClr val="003C7B"/>
          </a:solidFill>
          <a:ln/>
        </p:spPr>
      </p:sp>
      <p:sp>
        <p:nvSpPr>
          <p:cNvPr id="17" name="IconCircle">
            <a:extLst>
              <a:ext uri="{FF2B5EF4-FFF2-40B4-BE49-F238E27FC236}">
                <a16:creationId xmlns:a16="http://schemas.microsoft.com/office/drawing/2014/main" id="{AB5E6C4B-2A29-02C5-24AA-4B9F7AFC0D79}"/>
              </a:ext>
            </a:extLst>
          </p:cNvPr>
          <p:cNvSpPr/>
          <p:nvPr/>
        </p:nvSpPr>
        <p:spPr>
          <a:xfrm>
            <a:off x="4681728" y="2152245"/>
            <a:ext cx="512064" cy="512064"/>
          </a:xfrm>
          <a:prstGeom prst="ellipse">
            <a:avLst/>
          </a:prstGeom>
          <a:solidFill>
            <a:srgbClr val="0E8A9A"/>
          </a:solidFill>
          <a:ln/>
        </p:spPr>
      </p:sp>
      <p:pic>
        <p:nvPicPr>
          <p:cNvPr id="18" name="Image 1" descr="ikon">
            <a:extLst>
              <a:ext uri="{FF2B5EF4-FFF2-40B4-BE49-F238E27FC236}">
                <a16:creationId xmlns:a16="http://schemas.microsoft.com/office/drawing/2014/main" id="{8121A06C-A4DA-3DEC-5C28-CAA4C03D30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9744" y="2280261"/>
            <a:ext cx="256032" cy="256032"/>
          </a:xfrm>
          <a:prstGeom prst="rect">
            <a:avLst/>
          </a:prstGeom>
        </p:spPr>
      </p:pic>
      <p:sp>
        <p:nvSpPr>
          <p:cNvPr id="19" name="Text 14">
            <a:extLst>
              <a:ext uri="{FF2B5EF4-FFF2-40B4-BE49-F238E27FC236}">
                <a16:creationId xmlns:a16="http://schemas.microsoft.com/office/drawing/2014/main" id="{A0B169B5-9FE7-1439-FCE3-84A66B1F148A}"/>
              </a:ext>
            </a:extLst>
          </p:cNvPr>
          <p:cNvSpPr txBox="1"/>
          <p:nvPr/>
        </p:nvSpPr>
        <p:spPr>
          <a:xfrm>
            <a:off x="5349240" y="2115669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  <a:latin typeface="Rubik" panose="020B0604020202020204" charset="-79"/>
                <a:cs typeface="Rubik" panose="020B0604020202020204" charset="-79"/>
              </a:rPr>
              <a:t>Buat tabel analisa</a:t>
            </a:r>
            <a:endParaRPr lang="en-US" sz="1600" dirty="0"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58C3083E-471E-A574-E544-D3A943C745E5}"/>
              </a:ext>
            </a:extLst>
          </p:cNvPr>
          <p:cNvSpPr txBox="1"/>
          <p:nvPr/>
        </p:nvSpPr>
        <p:spPr>
          <a:xfrm>
            <a:off x="5349240" y="2408277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Agregasi tabel dengan 14 kolom wajib</a:t>
            </a:r>
          </a:p>
        </p:txBody>
      </p:sp>
      <p:sp>
        <p:nvSpPr>
          <p:cNvPr id="21" name="Card">
            <a:extLst>
              <a:ext uri="{FF2B5EF4-FFF2-40B4-BE49-F238E27FC236}">
                <a16:creationId xmlns:a16="http://schemas.microsoft.com/office/drawing/2014/main" id="{E713428A-2263-9696-8730-18181D750137}"/>
              </a:ext>
            </a:extLst>
          </p:cNvPr>
          <p:cNvSpPr/>
          <p:nvPr/>
        </p:nvSpPr>
        <p:spPr>
          <a:xfrm>
            <a:off x="4572000" y="2892909"/>
            <a:ext cx="4160520" cy="731520"/>
          </a:xfrm>
          <a:prstGeom prst="roundRect">
            <a:avLst>
              <a:gd name="adj" fmla="val 10000"/>
            </a:avLst>
          </a:prstGeom>
          <a:solidFill>
            <a:srgbClr val="003C7B"/>
          </a:solidFill>
          <a:ln/>
        </p:spPr>
      </p:sp>
      <p:sp>
        <p:nvSpPr>
          <p:cNvPr id="22" name="IconCircle">
            <a:extLst>
              <a:ext uri="{FF2B5EF4-FFF2-40B4-BE49-F238E27FC236}">
                <a16:creationId xmlns:a16="http://schemas.microsoft.com/office/drawing/2014/main" id="{7B0A86AC-1879-4599-8D1F-E053A0AE93EC}"/>
              </a:ext>
            </a:extLst>
          </p:cNvPr>
          <p:cNvSpPr/>
          <p:nvPr/>
        </p:nvSpPr>
        <p:spPr>
          <a:xfrm>
            <a:off x="4681728" y="3002637"/>
            <a:ext cx="512064" cy="512064"/>
          </a:xfrm>
          <a:prstGeom prst="ellipse">
            <a:avLst/>
          </a:prstGeom>
          <a:solidFill>
            <a:srgbClr val="1F3C88"/>
          </a:solidFill>
          <a:ln/>
        </p:spPr>
      </p:sp>
      <p:pic>
        <p:nvPicPr>
          <p:cNvPr id="23" name="Image 2" descr="ikon">
            <a:extLst>
              <a:ext uri="{FF2B5EF4-FFF2-40B4-BE49-F238E27FC236}">
                <a16:creationId xmlns:a16="http://schemas.microsoft.com/office/drawing/2014/main" id="{4249A166-C9E9-2306-1838-01DDCD13D94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9744" y="3130653"/>
            <a:ext cx="256032" cy="256032"/>
          </a:xfrm>
          <a:prstGeom prst="rect">
            <a:avLst/>
          </a:prstGeom>
        </p:spPr>
      </p:pic>
      <p:sp>
        <p:nvSpPr>
          <p:cNvPr id="24" name="Text 18">
            <a:extLst>
              <a:ext uri="{FF2B5EF4-FFF2-40B4-BE49-F238E27FC236}">
                <a16:creationId xmlns:a16="http://schemas.microsoft.com/office/drawing/2014/main" id="{63B234EC-1407-CB9C-A408-280928FB9F9A}"/>
              </a:ext>
            </a:extLst>
          </p:cNvPr>
          <p:cNvSpPr txBox="1"/>
          <p:nvPr/>
        </p:nvSpPr>
        <p:spPr>
          <a:xfrm>
            <a:off x="5349240" y="2966061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  <a:latin typeface="Rubik" panose="020B0604020202020204" charset="-79"/>
                <a:cs typeface="Rubik" panose="020B0604020202020204" charset="-79"/>
              </a:rPr>
              <a:t>Bangun dashboard</a:t>
            </a:r>
            <a:endParaRPr lang="en-US" sz="1600" dirty="0"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25" name="Text 19">
            <a:extLst>
              <a:ext uri="{FF2B5EF4-FFF2-40B4-BE49-F238E27FC236}">
                <a16:creationId xmlns:a16="http://schemas.microsoft.com/office/drawing/2014/main" id="{46EB94E6-047D-F381-217B-0649C2031DD6}"/>
              </a:ext>
            </a:extLst>
          </p:cNvPr>
          <p:cNvSpPr txBox="1"/>
          <p:nvPr/>
        </p:nvSpPr>
        <p:spPr>
          <a:xfrm>
            <a:off x="5349240" y="3258669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Looker Studio dari tabel analisa</a:t>
            </a:r>
          </a:p>
        </p:txBody>
      </p:sp>
      <p:sp>
        <p:nvSpPr>
          <p:cNvPr id="26" name="Card">
            <a:extLst>
              <a:ext uri="{FF2B5EF4-FFF2-40B4-BE49-F238E27FC236}">
                <a16:creationId xmlns:a16="http://schemas.microsoft.com/office/drawing/2014/main" id="{57A7F953-6234-09B5-63EA-A9E1E4258F28}"/>
              </a:ext>
            </a:extLst>
          </p:cNvPr>
          <p:cNvSpPr/>
          <p:nvPr/>
        </p:nvSpPr>
        <p:spPr>
          <a:xfrm>
            <a:off x="4572000" y="3743301"/>
            <a:ext cx="4160520" cy="731520"/>
          </a:xfrm>
          <a:prstGeom prst="roundRect">
            <a:avLst>
              <a:gd name="adj" fmla="val 10000"/>
            </a:avLst>
          </a:prstGeom>
          <a:solidFill>
            <a:srgbClr val="003C7B"/>
          </a:solidFill>
          <a:ln/>
        </p:spPr>
      </p:sp>
      <p:sp>
        <p:nvSpPr>
          <p:cNvPr id="27" name="IconCircle">
            <a:extLst>
              <a:ext uri="{FF2B5EF4-FFF2-40B4-BE49-F238E27FC236}">
                <a16:creationId xmlns:a16="http://schemas.microsoft.com/office/drawing/2014/main" id="{75672CBB-B021-830C-C3F1-7A7837F81ACC}"/>
              </a:ext>
            </a:extLst>
          </p:cNvPr>
          <p:cNvSpPr/>
          <p:nvPr/>
        </p:nvSpPr>
        <p:spPr>
          <a:xfrm>
            <a:off x="4681728" y="3853029"/>
            <a:ext cx="512064" cy="512064"/>
          </a:xfrm>
          <a:prstGeom prst="ellipse">
            <a:avLst/>
          </a:prstGeom>
          <a:solidFill>
            <a:srgbClr val="0E8A9A"/>
          </a:solidFill>
          <a:ln/>
        </p:spPr>
      </p:sp>
      <p:pic>
        <p:nvPicPr>
          <p:cNvPr id="28" name="Image 3" descr="ikon">
            <a:extLst>
              <a:ext uri="{FF2B5EF4-FFF2-40B4-BE49-F238E27FC236}">
                <a16:creationId xmlns:a16="http://schemas.microsoft.com/office/drawing/2014/main" id="{B005BA10-5DBD-DEC5-7AE4-A95960722F6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9744" y="3981045"/>
            <a:ext cx="256032" cy="256032"/>
          </a:xfrm>
          <a:prstGeom prst="rect">
            <a:avLst/>
          </a:prstGeom>
        </p:spPr>
      </p:pic>
      <p:sp>
        <p:nvSpPr>
          <p:cNvPr id="29" name="Text 22">
            <a:extLst>
              <a:ext uri="{FF2B5EF4-FFF2-40B4-BE49-F238E27FC236}">
                <a16:creationId xmlns:a16="http://schemas.microsoft.com/office/drawing/2014/main" id="{3E23B804-13F4-5B8C-94EE-462CAD36158F}"/>
              </a:ext>
            </a:extLst>
          </p:cNvPr>
          <p:cNvSpPr txBox="1"/>
          <p:nvPr/>
        </p:nvSpPr>
        <p:spPr>
          <a:xfrm>
            <a:off x="5349240" y="3816453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  <a:latin typeface="Rubik" panose="020B0604020202020204" charset="-79"/>
                <a:cs typeface="Rubik" panose="020B0604020202020204" charset="-79"/>
              </a:rPr>
              <a:t>Dokumentasi</a:t>
            </a:r>
            <a:endParaRPr lang="en-US" sz="1600" dirty="0"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30" name="Text 23">
            <a:extLst>
              <a:ext uri="{FF2B5EF4-FFF2-40B4-BE49-F238E27FC236}">
                <a16:creationId xmlns:a16="http://schemas.microsoft.com/office/drawing/2014/main" id="{60264AFF-1A6A-308F-2165-88594B68915A}"/>
              </a:ext>
            </a:extLst>
          </p:cNvPr>
          <p:cNvSpPr txBox="1"/>
          <p:nvPr/>
        </p:nvSpPr>
        <p:spPr>
          <a:xfrm>
            <a:off x="5349240" y="4109061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PPT, repo GitHub, video penjelasan</a:t>
            </a:r>
          </a:p>
        </p:txBody>
      </p:sp>
    </p:spTree>
    <p:extLst>
      <p:ext uri="{BB962C8B-B14F-4D97-AF65-F5344CB8AC3E}">
        <p14:creationId xmlns:p14="http://schemas.microsoft.com/office/powerpoint/2010/main" val="41551286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g23ec2985a68_1_33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g23ec2985a68_1_33"/>
          <p:cNvPicPr preferRelativeResize="0"/>
          <p:nvPr/>
        </p:nvPicPr>
        <p:blipFill rotWithShape="1">
          <a:blip r:embed="rId4">
            <a:alphaModFix/>
          </a:blip>
          <a:srcRect t="5658" b="5649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g23ec2985a68_1_33"/>
          <p:cNvSpPr txBox="1"/>
          <p:nvPr/>
        </p:nvSpPr>
        <p:spPr>
          <a:xfrm>
            <a:off x="340500" y="452038"/>
            <a:ext cx="8463000" cy="600300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49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00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Rubik"/>
              <a:buAutoNum type="arabicPeriod"/>
            </a:pPr>
            <a:r>
              <a:rPr lang="en" sz="2700" b="1" dirty="0">
                <a:latin typeface="Rubik"/>
                <a:ea typeface="Rubik"/>
                <a:cs typeface="Rubik"/>
                <a:sym typeface="Rubik"/>
              </a:rPr>
              <a:t>Importing Dataset to BigQuery</a:t>
            </a:r>
            <a:endParaRPr sz="2700" b="1" i="0" u="none" strike="noStrike" cap="none" dirty="0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E47129E-FEFF-0A93-0FA0-A46E77C15342}"/>
              </a:ext>
            </a:extLst>
          </p:cNvPr>
          <p:cNvSpPr txBox="1"/>
          <p:nvPr/>
        </p:nvSpPr>
        <p:spPr>
          <a:xfrm>
            <a:off x="340499" y="4770301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100" dirty="0">
                <a:solidFill>
                  <a:schemeClr val="accent2">
                    <a:lumMod val="75000"/>
                    <a:lumOff val="25000"/>
                  </a:schemeClr>
                </a:solidFill>
                <a:latin typeface="Rubik"/>
                <a:ea typeface="Rubik"/>
                <a:cs typeface="Rubik"/>
                <a:sym typeface="Rubik"/>
              </a:rPr>
              <a:t>Kimia </a:t>
            </a:r>
            <a:r>
              <a:rPr lang="en-ID" sz="1100" dirty="0" err="1">
                <a:solidFill>
                  <a:schemeClr val="accent2">
                    <a:lumMod val="75000"/>
                    <a:lumOff val="25000"/>
                  </a:schemeClr>
                </a:solidFill>
                <a:latin typeface="Rubik"/>
                <a:ea typeface="Rubik"/>
                <a:cs typeface="Rubik"/>
                <a:sym typeface="Rubik"/>
              </a:rPr>
              <a:t>Farma</a:t>
            </a:r>
            <a:r>
              <a:rPr lang="en-ID" sz="1100" dirty="0">
                <a:solidFill>
                  <a:schemeClr val="accent2">
                    <a:lumMod val="75000"/>
                    <a:lumOff val="25000"/>
                  </a:schemeClr>
                </a:solidFill>
                <a:latin typeface="Rubik"/>
                <a:ea typeface="Rubik"/>
                <a:cs typeface="Rubik"/>
                <a:sym typeface="Rubik"/>
              </a:rPr>
              <a:t> Performance Analytics 2020-2023</a:t>
            </a:r>
            <a:endParaRPr lang="en-ID" sz="1100" dirty="0">
              <a:solidFill>
                <a:schemeClr val="accent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Card">
            <a:extLst>
              <a:ext uri="{FF2B5EF4-FFF2-40B4-BE49-F238E27FC236}">
                <a16:creationId xmlns:a16="http://schemas.microsoft.com/office/drawing/2014/main" id="{4A3A1148-D595-6B4D-0F18-48F69E675D39}"/>
              </a:ext>
            </a:extLst>
          </p:cNvPr>
          <p:cNvSpPr/>
          <p:nvPr/>
        </p:nvSpPr>
        <p:spPr>
          <a:xfrm>
            <a:off x="457200" y="1513215"/>
            <a:ext cx="1920240" cy="2423160"/>
          </a:xfrm>
          <a:prstGeom prst="roundRect">
            <a:avLst>
              <a:gd name="adj" fmla="val 3810"/>
            </a:avLst>
          </a:prstGeom>
          <a:solidFill>
            <a:srgbClr val="01949E"/>
          </a:solidFill>
          <a:ln/>
        </p:spPr>
      </p:sp>
      <p:sp>
        <p:nvSpPr>
          <p:cNvPr id="10" name="IconCircle">
            <a:extLst>
              <a:ext uri="{FF2B5EF4-FFF2-40B4-BE49-F238E27FC236}">
                <a16:creationId xmlns:a16="http://schemas.microsoft.com/office/drawing/2014/main" id="{0AAF6F06-027D-17F9-B82B-AF2784F7CFB7}"/>
              </a:ext>
            </a:extLst>
          </p:cNvPr>
          <p:cNvSpPr/>
          <p:nvPr/>
        </p:nvSpPr>
        <p:spPr>
          <a:xfrm>
            <a:off x="1051560" y="1696095"/>
            <a:ext cx="731520" cy="731520"/>
          </a:xfrm>
          <a:prstGeom prst="ellipse">
            <a:avLst/>
          </a:prstGeom>
          <a:solidFill>
            <a:srgbClr val="1F3C88"/>
          </a:solidFill>
          <a:ln/>
        </p:spPr>
      </p:sp>
      <p:pic>
        <p:nvPicPr>
          <p:cNvPr id="12" name="Image 0" descr="ikon">
            <a:extLst>
              <a:ext uri="{FF2B5EF4-FFF2-40B4-BE49-F238E27FC236}">
                <a16:creationId xmlns:a16="http://schemas.microsoft.com/office/drawing/2014/main" id="{D7751ACA-7864-4B02-BDFF-6F3BE9B3C5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4440" y="1878975"/>
            <a:ext cx="365760" cy="365760"/>
          </a:xfrm>
          <a:prstGeom prst="rect">
            <a:avLst/>
          </a:prstGeom>
        </p:spPr>
      </p:pic>
      <p:sp>
        <p:nvSpPr>
          <p:cNvPr id="14" name="Text 4">
            <a:extLst>
              <a:ext uri="{FF2B5EF4-FFF2-40B4-BE49-F238E27FC236}">
                <a16:creationId xmlns:a16="http://schemas.microsoft.com/office/drawing/2014/main" id="{71F12CD6-18B5-5971-BDF6-2F4083201E78}"/>
              </a:ext>
            </a:extLst>
          </p:cNvPr>
          <p:cNvSpPr txBox="1"/>
          <p:nvPr/>
        </p:nvSpPr>
        <p:spPr>
          <a:xfrm>
            <a:off x="548640" y="2564775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Rubik" panose="020B0604020202020204" charset="-79"/>
                <a:cs typeface="Rubik" panose="020B0604020202020204" charset="-79"/>
              </a:rPr>
              <a:t>Google Cloud</a:t>
            </a:r>
            <a:endParaRPr lang="en-US" sz="1600" dirty="0"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33FE4940-0F44-2D33-E955-D6F4AC34E303}"/>
              </a:ext>
            </a:extLst>
          </p:cNvPr>
          <p:cNvSpPr txBox="1"/>
          <p:nvPr/>
        </p:nvSpPr>
        <p:spPr>
          <a:xfrm>
            <a:off x="638965" y="2908230"/>
            <a:ext cx="1580128" cy="1016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Project rakamin-kf-analytics-2026 dan dataset kimia_farma</a:t>
            </a:r>
          </a:p>
        </p:txBody>
      </p:sp>
      <p:sp>
        <p:nvSpPr>
          <p:cNvPr id="16" name="Card">
            <a:extLst>
              <a:ext uri="{FF2B5EF4-FFF2-40B4-BE49-F238E27FC236}">
                <a16:creationId xmlns:a16="http://schemas.microsoft.com/office/drawing/2014/main" id="{D2BB97DE-77DF-E93C-445F-0B67CC1454CE}"/>
              </a:ext>
            </a:extLst>
          </p:cNvPr>
          <p:cNvSpPr/>
          <p:nvPr/>
        </p:nvSpPr>
        <p:spPr>
          <a:xfrm>
            <a:off x="2560320" y="1513215"/>
            <a:ext cx="1920240" cy="2423160"/>
          </a:xfrm>
          <a:prstGeom prst="roundRect">
            <a:avLst>
              <a:gd name="adj" fmla="val 3810"/>
            </a:avLst>
          </a:prstGeom>
          <a:solidFill>
            <a:srgbClr val="01949E"/>
          </a:solidFill>
          <a:ln/>
        </p:spPr>
      </p:sp>
      <p:sp>
        <p:nvSpPr>
          <p:cNvPr id="17" name="IconCircle">
            <a:extLst>
              <a:ext uri="{FF2B5EF4-FFF2-40B4-BE49-F238E27FC236}">
                <a16:creationId xmlns:a16="http://schemas.microsoft.com/office/drawing/2014/main" id="{9D3904DB-7643-1AC2-BDF3-2BF1BDCE5A07}"/>
              </a:ext>
            </a:extLst>
          </p:cNvPr>
          <p:cNvSpPr/>
          <p:nvPr/>
        </p:nvSpPr>
        <p:spPr>
          <a:xfrm>
            <a:off x="3154680" y="1696095"/>
            <a:ext cx="731520" cy="731520"/>
          </a:xfrm>
          <a:prstGeom prst="ellipse">
            <a:avLst/>
          </a:prstGeom>
          <a:solidFill>
            <a:srgbClr val="0E8A9A"/>
          </a:solidFill>
          <a:ln/>
        </p:spPr>
      </p:sp>
      <p:pic>
        <p:nvPicPr>
          <p:cNvPr id="18" name="Image 1" descr="ikon">
            <a:extLst>
              <a:ext uri="{FF2B5EF4-FFF2-40B4-BE49-F238E27FC236}">
                <a16:creationId xmlns:a16="http://schemas.microsoft.com/office/drawing/2014/main" id="{EFDBFE54-E023-562B-EE34-DC3BB6D7FF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37560" y="1878975"/>
            <a:ext cx="365760" cy="365760"/>
          </a:xfrm>
          <a:prstGeom prst="rect">
            <a:avLst/>
          </a:prstGeom>
        </p:spPr>
      </p:pic>
      <p:sp>
        <p:nvSpPr>
          <p:cNvPr id="19" name="Text 8">
            <a:extLst>
              <a:ext uri="{FF2B5EF4-FFF2-40B4-BE49-F238E27FC236}">
                <a16:creationId xmlns:a16="http://schemas.microsoft.com/office/drawing/2014/main" id="{3F0F9744-5567-484E-53FF-D96D1024A299}"/>
              </a:ext>
            </a:extLst>
          </p:cNvPr>
          <p:cNvSpPr txBox="1"/>
          <p:nvPr/>
        </p:nvSpPr>
        <p:spPr>
          <a:xfrm>
            <a:off x="2651760" y="2564775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Rubik" panose="020B0604020202020204" charset="-79"/>
                <a:cs typeface="Rubik" panose="020B0604020202020204" charset="-79"/>
              </a:rPr>
              <a:t>BigQuery</a:t>
            </a:r>
            <a:endParaRPr lang="en-US" sz="1600" dirty="0"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20" name="Text 9">
            <a:extLst>
              <a:ext uri="{FF2B5EF4-FFF2-40B4-BE49-F238E27FC236}">
                <a16:creationId xmlns:a16="http://schemas.microsoft.com/office/drawing/2014/main" id="{430EB6BF-DD6C-BD8D-B412-AF09BD2B82E9}"/>
              </a:ext>
            </a:extLst>
          </p:cNvPr>
          <p:cNvSpPr txBox="1"/>
          <p:nvPr/>
        </p:nvSpPr>
        <p:spPr>
          <a:xfrm>
            <a:off x="2697480" y="2930535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Import CSV, JOIN, dan membuat tabel analisa dengan SQL</a:t>
            </a:r>
          </a:p>
        </p:txBody>
      </p:sp>
      <p:sp>
        <p:nvSpPr>
          <p:cNvPr id="21" name="Card">
            <a:extLst>
              <a:ext uri="{FF2B5EF4-FFF2-40B4-BE49-F238E27FC236}">
                <a16:creationId xmlns:a16="http://schemas.microsoft.com/office/drawing/2014/main" id="{FF4D8324-38D6-B72E-EDF8-F7221CB79D2A}"/>
              </a:ext>
            </a:extLst>
          </p:cNvPr>
          <p:cNvSpPr/>
          <p:nvPr/>
        </p:nvSpPr>
        <p:spPr>
          <a:xfrm>
            <a:off x="4663440" y="1513215"/>
            <a:ext cx="1920240" cy="2423160"/>
          </a:xfrm>
          <a:prstGeom prst="roundRect">
            <a:avLst>
              <a:gd name="adj" fmla="val 3810"/>
            </a:avLst>
          </a:prstGeom>
          <a:solidFill>
            <a:srgbClr val="01949E"/>
          </a:solidFill>
          <a:ln/>
        </p:spPr>
      </p:sp>
      <p:sp>
        <p:nvSpPr>
          <p:cNvPr id="22" name="IconCircle">
            <a:extLst>
              <a:ext uri="{FF2B5EF4-FFF2-40B4-BE49-F238E27FC236}">
                <a16:creationId xmlns:a16="http://schemas.microsoft.com/office/drawing/2014/main" id="{C7DF3AEE-9BF5-7353-95DD-7AF6508A6FB6}"/>
              </a:ext>
            </a:extLst>
          </p:cNvPr>
          <p:cNvSpPr/>
          <p:nvPr/>
        </p:nvSpPr>
        <p:spPr>
          <a:xfrm>
            <a:off x="5257800" y="1696095"/>
            <a:ext cx="731520" cy="731520"/>
          </a:xfrm>
          <a:prstGeom prst="ellipse">
            <a:avLst/>
          </a:prstGeom>
          <a:solidFill>
            <a:srgbClr val="D9730D"/>
          </a:solidFill>
          <a:ln/>
        </p:spPr>
      </p:sp>
      <p:pic>
        <p:nvPicPr>
          <p:cNvPr id="23" name="Image 2" descr="ikon">
            <a:extLst>
              <a:ext uri="{FF2B5EF4-FFF2-40B4-BE49-F238E27FC236}">
                <a16:creationId xmlns:a16="http://schemas.microsoft.com/office/drawing/2014/main" id="{56BF6FF4-BE0A-C0C7-6C3C-CD23EC6B70D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40680" y="1878975"/>
            <a:ext cx="365760" cy="365760"/>
          </a:xfrm>
          <a:prstGeom prst="rect">
            <a:avLst/>
          </a:prstGeom>
        </p:spPr>
      </p:pic>
      <p:sp>
        <p:nvSpPr>
          <p:cNvPr id="24" name="Text 12">
            <a:extLst>
              <a:ext uri="{FF2B5EF4-FFF2-40B4-BE49-F238E27FC236}">
                <a16:creationId xmlns:a16="http://schemas.microsoft.com/office/drawing/2014/main" id="{084680F7-4848-6C6A-9A99-50A2C41722DF}"/>
              </a:ext>
            </a:extLst>
          </p:cNvPr>
          <p:cNvSpPr txBox="1"/>
          <p:nvPr/>
        </p:nvSpPr>
        <p:spPr>
          <a:xfrm>
            <a:off x="4754880" y="2564775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Rubik" panose="020B0604020202020204" charset="-79"/>
                <a:cs typeface="Rubik" panose="020B0604020202020204" charset="-79"/>
              </a:rPr>
              <a:t>Looker Studio</a:t>
            </a:r>
            <a:endParaRPr lang="en-US" sz="1600" dirty="0"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25" name="Text 13">
            <a:extLst>
              <a:ext uri="{FF2B5EF4-FFF2-40B4-BE49-F238E27FC236}">
                <a16:creationId xmlns:a16="http://schemas.microsoft.com/office/drawing/2014/main" id="{782B2BEF-9B8E-978D-4A5B-976360DC34E2}"/>
              </a:ext>
            </a:extLst>
          </p:cNvPr>
          <p:cNvSpPr txBox="1"/>
          <p:nvPr/>
        </p:nvSpPr>
        <p:spPr>
          <a:xfrm>
            <a:off x="4800600" y="2930535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Dashboard interaktif yang terhubung ke tabel analisa</a:t>
            </a:r>
          </a:p>
        </p:txBody>
      </p:sp>
      <p:sp>
        <p:nvSpPr>
          <p:cNvPr id="26" name="Card">
            <a:extLst>
              <a:ext uri="{FF2B5EF4-FFF2-40B4-BE49-F238E27FC236}">
                <a16:creationId xmlns:a16="http://schemas.microsoft.com/office/drawing/2014/main" id="{34844178-35E2-2242-EE50-441F4A329B97}"/>
              </a:ext>
            </a:extLst>
          </p:cNvPr>
          <p:cNvSpPr/>
          <p:nvPr/>
        </p:nvSpPr>
        <p:spPr>
          <a:xfrm>
            <a:off x="6766560" y="1513215"/>
            <a:ext cx="1920240" cy="2423160"/>
          </a:xfrm>
          <a:prstGeom prst="roundRect">
            <a:avLst>
              <a:gd name="adj" fmla="val 3810"/>
            </a:avLst>
          </a:prstGeom>
          <a:solidFill>
            <a:srgbClr val="01949E"/>
          </a:solidFill>
          <a:ln/>
        </p:spPr>
      </p:sp>
      <p:sp>
        <p:nvSpPr>
          <p:cNvPr id="27" name="IconCircle">
            <a:extLst>
              <a:ext uri="{FF2B5EF4-FFF2-40B4-BE49-F238E27FC236}">
                <a16:creationId xmlns:a16="http://schemas.microsoft.com/office/drawing/2014/main" id="{6EF2FFC5-E3E3-7371-FC98-479DEC790978}"/>
              </a:ext>
            </a:extLst>
          </p:cNvPr>
          <p:cNvSpPr/>
          <p:nvPr/>
        </p:nvSpPr>
        <p:spPr>
          <a:xfrm>
            <a:off x="7360920" y="1696095"/>
            <a:ext cx="731520" cy="731520"/>
          </a:xfrm>
          <a:prstGeom prst="ellipse">
            <a:avLst/>
          </a:prstGeom>
          <a:solidFill>
            <a:srgbClr val="14275B"/>
          </a:solidFill>
          <a:ln/>
        </p:spPr>
      </p:sp>
      <p:pic>
        <p:nvPicPr>
          <p:cNvPr id="28" name="Image 3" descr="ikon">
            <a:extLst>
              <a:ext uri="{FF2B5EF4-FFF2-40B4-BE49-F238E27FC236}">
                <a16:creationId xmlns:a16="http://schemas.microsoft.com/office/drawing/2014/main" id="{E085AD9F-2743-26CC-D460-27B10DC7238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43800" y="1878975"/>
            <a:ext cx="365760" cy="365760"/>
          </a:xfrm>
          <a:prstGeom prst="rect">
            <a:avLst/>
          </a:prstGeom>
        </p:spPr>
      </p:pic>
      <p:sp>
        <p:nvSpPr>
          <p:cNvPr id="29" name="Text 16">
            <a:extLst>
              <a:ext uri="{FF2B5EF4-FFF2-40B4-BE49-F238E27FC236}">
                <a16:creationId xmlns:a16="http://schemas.microsoft.com/office/drawing/2014/main" id="{6D12233A-6773-E986-9D1B-459A33D49041}"/>
              </a:ext>
            </a:extLst>
          </p:cNvPr>
          <p:cNvSpPr txBox="1"/>
          <p:nvPr/>
        </p:nvSpPr>
        <p:spPr>
          <a:xfrm>
            <a:off x="6858000" y="2564775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Rubik" panose="020B0604020202020204" charset="-79"/>
                <a:cs typeface="Rubik" panose="020B0604020202020204" charset="-79"/>
              </a:rPr>
              <a:t>GitHub</a:t>
            </a:r>
            <a:endParaRPr lang="en-US" sz="1600" dirty="0"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30" name="Text 17">
            <a:extLst>
              <a:ext uri="{FF2B5EF4-FFF2-40B4-BE49-F238E27FC236}">
                <a16:creationId xmlns:a16="http://schemas.microsoft.com/office/drawing/2014/main" id="{892D34DE-AAF4-2D97-4EA8-EFD59E9B9532}"/>
              </a:ext>
            </a:extLst>
          </p:cNvPr>
          <p:cNvSpPr txBox="1"/>
          <p:nvPr/>
        </p:nvSpPr>
        <p:spPr>
          <a:xfrm>
            <a:off x="6903720" y="2930535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Repository syntax BigQuery dan dokumentasi hasil</a:t>
            </a:r>
          </a:p>
        </p:txBody>
      </p:sp>
      <p:sp>
        <p:nvSpPr>
          <p:cNvPr id="45" name="Text 1">
            <a:extLst>
              <a:ext uri="{FF2B5EF4-FFF2-40B4-BE49-F238E27FC236}">
                <a16:creationId xmlns:a16="http://schemas.microsoft.com/office/drawing/2014/main" id="{BBF15806-650A-81D9-665F-8D0F6EE4B379}"/>
              </a:ext>
            </a:extLst>
          </p:cNvPr>
          <p:cNvSpPr txBox="1">
            <a:spLocks/>
          </p:cNvSpPr>
          <p:nvPr/>
        </p:nvSpPr>
        <p:spPr>
          <a:xfrm>
            <a:off x="3268980" y="1028983"/>
            <a:ext cx="2240280" cy="472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b="1" dirty="0">
                <a:solidFill>
                  <a:srgbClr val="003C7B"/>
                </a:solidFill>
                <a:latin typeface="Rubik" panose="020B0604020202020204" charset="-79"/>
                <a:cs typeface="Rubik" panose="020B0604020202020204" charset="-79"/>
              </a:rPr>
              <a:t>(Tools yang </a:t>
            </a:r>
            <a:r>
              <a:rPr lang="en-US" b="1" dirty="0" err="1">
                <a:solidFill>
                  <a:srgbClr val="003C7B"/>
                </a:solidFill>
                <a:latin typeface="Rubik" panose="020B0604020202020204" charset="-79"/>
                <a:cs typeface="Rubik" panose="020B0604020202020204" charset="-79"/>
              </a:rPr>
              <a:t>Digunakan</a:t>
            </a:r>
            <a:r>
              <a:rPr lang="en-US" b="1" dirty="0">
                <a:solidFill>
                  <a:srgbClr val="003C7B"/>
                </a:solidFill>
                <a:latin typeface="Rubik" panose="020B0604020202020204" charset="-79"/>
                <a:cs typeface="Rubik" panose="020B0604020202020204" charset="-79"/>
              </a:rPr>
              <a:t>)</a:t>
            </a:r>
            <a:endParaRPr lang="en-US" dirty="0">
              <a:solidFill>
                <a:srgbClr val="003C7B"/>
              </a:solidFill>
              <a:latin typeface="Rubik" panose="020B0604020202020204" charset="-79"/>
              <a:cs typeface="Rubik" panose="020B0604020202020204" charset="-79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g23ec2985a68_1_33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g23ec2985a68_1_33"/>
          <p:cNvPicPr preferRelativeResize="0"/>
          <p:nvPr/>
        </p:nvPicPr>
        <p:blipFill rotWithShape="1">
          <a:blip r:embed="rId4">
            <a:alphaModFix/>
          </a:blip>
          <a:srcRect t="5658" b="5649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g23ec2985a68_1_33"/>
          <p:cNvSpPr txBox="1"/>
          <p:nvPr/>
        </p:nvSpPr>
        <p:spPr>
          <a:xfrm>
            <a:off x="340500" y="452038"/>
            <a:ext cx="8463000" cy="600300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49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00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Rubik"/>
              <a:buAutoNum type="arabicPeriod"/>
            </a:pPr>
            <a:r>
              <a:rPr lang="en" sz="2700" b="1" dirty="0">
                <a:latin typeface="Rubik"/>
                <a:ea typeface="Rubik"/>
                <a:cs typeface="Rubik"/>
                <a:sym typeface="Rubik"/>
              </a:rPr>
              <a:t>Importing Dataset to BigQuery</a:t>
            </a:r>
            <a:endParaRPr sz="2700" b="1" i="0" u="none" strike="noStrike" cap="none" dirty="0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E47129E-FEFF-0A93-0FA0-A46E77C15342}"/>
              </a:ext>
            </a:extLst>
          </p:cNvPr>
          <p:cNvSpPr txBox="1"/>
          <p:nvPr/>
        </p:nvSpPr>
        <p:spPr>
          <a:xfrm>
            <a:off x="340499" y="4770301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100" dirty="0">
                <a:solidFill>
                  <a:schemeClr val="accent2">
                    <a:lumMod val="75000"/>
                    <a:lumOff val="25000"/>
                  </a:schemeClr>
                </a:solidFill>
                <a:latin typeface="Rubik"/>
                <a:ea typeface="Rubik"/>
                <a:cs typeface="Rubik"/>
                <a:sym typeface="Rubik"/>
              </a:rPr>
              <a:t>Kimia </a:t>
            </a:r>
            <a:r>
              <a:rPr lang="en-ID" sz="1100" dirty="0" err="1">
                <a:solidFill>
                  <a:schemeClr val="accent2">
                    <a:lumMod val="75000"/>
                    <a:lumOff val="25000"/>
                  </a:schemeClr>
                </a:solidFill>
                <a:latin typeface="Rubik"/>
                <a:ea typeface="Rubik"/>
                <a:cs typeface="Rubik"/>
                <a:sym typeface="Rubik"/>
              </a:rPr>
              <a:t>Farma</a:t>
            </a:r>
            <a:r>
              <a:rPr lang="en-ID" sz="1100" dirty="0">
                <a:solidFill>
                  <a:schemeClr val="accent2">
                    <a:lumMod val="75000"/>
                    <a:lumOff val="25000"/>
                  </a:schemeClr>
                </a:solidFill>
                <a:latin typeface="Rubik"/>
                <a:ea typeface="Rubik"/>
                <a:cs typeface="Rubik"/>
                <a:sym typeface="Rubik"/>
              </a:rPr>
              <a:t> Performance Analytics 2020-2023</a:t>
            </a:r>
            <a:endParaRPr lang="en-ID" sz="1100" dirty="0">
              <a:solidFill>
                <a:schemeClr val="accent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5" name="Text 1">
            <a:extLst>
              <a:ext uri="{FF2B5EF4-FFF2-40B4-BE49-F238E27FC236}">
                <a16:creationId xmlns:a16="http://schemas.microsoft.com/office/drawing/2014/main" id="{BBF15806-650A-81D9-665F-8D0F6EE4B379}"/>
              </a:ext>
            </a:extLst>
          </p:cNvPr>
          <p:cNvSpPr txBox="1">
            <a:spLocks/>
          </p:cNvSpPr>
          <p:nvPr/>
        </p:nvSpPr>
        <p:spPr>
          <a:xfrm>
            <a:off x="3184509" y="950926"/>
            <a:ext cx="2774981" cy="472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b="1" dirty="0">
                <a:solidFill>
                  <a:srgbClr val="003C7B"/>
                </a:solidFill>
                <a:latin typeface="Rubik" panose="020B0604020202020204" charset="-79"/>
                <a:cs typeface="Rubik" panose="020B0604020202020204" charset="-79"/>
              </a:rPr>
              <a:t>(Dataset yang </a:t>
            </a:r>
            <a:r>
              <a:rPr lang="en-US" b="1" dirty="0" err="1">
                <a:solidFill>
                  <a:srgbClr val="003C7B"/>
                </a:solidFill>
                <a:latin typeface="Rubik" panose="020B0604020202020204" charset="-79"/>
                <a:cs typeface="Rubik" panose="020B0604020202020204" charset="-79"/>
              </a:rPr>
              <a:t>Digunakan</a:t>
            </a:r>
            <a:r>
              <a:rPr lang="en-US" b="1" dirty="0">
                <a:solidFill>
                  <a:srgbClr val="003C7B"/>
                </a:solidFill>
                <a:latin typeface="Rubik" panose="020B0604020202020204" charset="-79"/>
                <a:cs typeface="Rubik" panose="020B0604020202020204" charset="-79"/>
              </a:rPr>
              <a:t>)</a:t>
            </a:r>
            <a:endParaRPr lang="en-US" dirty="0">
              <a:solidFill>
                <a:srgbClr val="003C7B"/>
              </a:solidFill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3" name="Card">
            <a:extLst>
              <a:ext uri="{FF2B5EF4-FFF2-40B4-BE49-F238E27FC236}">
                <a16:creationId xmlns:a16="http://schemas.microsoft.com/office/drawing/2014/main" id="{672B1A8B-3F93-65EA-715C-85EE10D9747D}"/>
              </a:ext>
            </a:extLst>
          </p:cNvPr>
          <p:cNvSpPr/>
          <p:nvPr/>
        </p:nvSpPr>
        <p:spPr>
          <a:xfrm>
            <a:off x="457200" y="1390554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003C7B"/>
          </a:solidFill>
          <a:ln/>
        </p:spPr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71DB211F-7C88-BFEA-D5F7-E7673DE63C6C}"/>
              </a:ext>
            </a:extLst>
          </p:cNvPr>
          <p:cNvSpPr/>
          <p:nvPr/>
        </p:nvSpPr>
        <p:spPr>
          <a:xfrm>
            <a:off x="594360" y="1546002"/>
            <a:ext cx="182880" cy="182880"/>
          </a:xfrm>
          <a:prstGeom prst="ellipse">
            <a:avLst/>
          </a:prstGeom>
          <a:solidFill>
            <a:schemeClr val="bg1">
              <a:lumMod val="85000"/>
            </a:schemeClr>
          </a:solidFill>
          <a:ln/>
        </p:spPr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836ECC86-D213-FDE3-CBA2-B0A27FC73914}"/>
              </a:ext>
            </a:extLst>
          </p:cNvPr>
          <p:cNvSpPr txBox="1"/>
          <p:nvPr/>
        </p:nvSpPr>
        <p:spPr>
          <a:xfrm>
            <a:off x="868680" y="1481994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  <a:latin typeface="Rubik" panose="020B0604020202020204" charset="-79"/>
                <a:cs typeface="Rubik" panose="020B0604020202020204" charset="-79"/>
              </a:rPr>
              <a:t>kf_final_transaction</a:t>
            </a:r>
            <a:r>
              <a:rPr lang="en-US" sz="1500" dirty="0">
                <a:solidFill>
                  <a:schemeClr val="accent6"/>
                </a:solidFill>
                <a:latin typeface="Rubik" panose="020B0604020202020204" charset="-79"/>
                <a:cs typeface="Rubik" panose="020B0604020202020204" charset="-79"/>
              </a:rPr>
              <a:t>   Fact</a:t>
            </a:r>
            <a:endParaRPr lang="en-US" sz="1500" dirty="0"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558DCB82-0450-8C15-DC6C-97142AFE5AFA}"/>
              </a:ext>
            </a:extLst>
          </p:cNvPr>
          <p:cNvSpPr txBox="1"/>
          <p:nvPr/>
        </p:nvSpPr>
        <p:spPr>
          <a:xfrm>
            <a:off x="594360" y="186604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transaction_id, date, branch_id, customer_name, product_id, price, discount_percentage, rating</a:t>
            </a:r>
          </a:p>
        </p:txBody>
      </p:sp>
      <p:sp>
        <p:nvSpPr>
          <p:cNvPr id="7" name="Card">
            <a:extLst>
              <a:ext uri="{FF2B5EF4-FFF2-40B4-BE49-F238E27FC236}">
                <a16:creationId xmlns:a16="http://schemas.microsoft.com/office/drawing/2014/main" id="{755C81DD-14BB-151B-2041-AD90DF63B654}"/>
              </a:ext>
            </a:extLst>
          </p:cNvPr>
          <p:cNvSpPr/>
          <p:nvPr/>
        </p:nvSpPr>
        <p:spPr>
          <a:xfrm>
            <a:off x="4663440" y="1390554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003C7B"/>
          </a:solidFill>
          <a:ln/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F17F4038-631C-560F-EC35-2C524CCECD18}"/>
              </a:ext>
            </a:extLst>
          </p:cNvPr>
          <p:cNvSpPr/>
          <p:nvPr/>
        </p:nvSpPr>
        <p:spPr>
          <a:xfrm>
            <a:off x="4800600" y="1546002"/>
            <a:ext cx="182880" cy="182880"/>
          </a:xfrm>
          <a:prstGeom prst="ellipse">
            <a:avLst/>
          </a:prstGeom>
          <a:solidFill>
            <a:srgbClr val="0E8A9A"/>
          </a:solidFill>
          <a:ln/>
        </p:spPr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03CEEEFB-9A8F-B048-4EAC-9B5F39F46617}"/>
              </a:ext>
            </a:extLst>
          </p:cNvPr>
          <p:cNvSpPr txBox="1"/>
          <p:nvPr/>
        </p:nvSpPr>
        <p:spPr>
          <a:xfrm>
            <a:off x="5074920" y="1481994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  <a:latin typeface="Rubik" panose="020B0604020202020204" charset="-79"/>
                <a:cs typeface="Rubik" panose="020B0604020202020204" charset="-79"/>
              </a:rPr>
              <a:t>kf_product</a:t>
            </a:r>
            <a:r>
              <a:rPr lang="en-US" sz="1500" dirty="0">
                <a:solidFill>
                  <a:schemeClr val="accent6"/>
                </a:solidFill>
                <a:latin typeface="Rubik" panose="020B0604020202020204" charset="-79"/>
                <a:cs typeface="Rubik" panose="020B0604020202020204" charset="-79"/>
              </a:rPr>
              <a:t>   Dimensi produk</a:t>
            </a:r>
            <a:endParaRPr lang="en-US" sz="1500" dirty="0"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2F7E175A-58F2-426F-F0F0-6A1FEC7F547A}"/>
              </a:ext>
            </a:extLst>
          </p:cNvPr>
          <p:cNvSpPr txBox="1"/>
          <p:nvPr/>
        </p:nvSpPr>
        <p:spPr>
          <a:xfrm>
            <a:off x="4800600" y="1866042"/>
            <a:ext cx="3749040" cy="822960"/>
          </a:xfrm>
          <a:prstGeom prst="rect">
            <a:avLst/>
          </a:prstGeom>
          <a:solidFill>
            <a:srgbClr val="003C7B"/>
          </a:solidFill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product_id, product_name, product_category, price</a:t>
            </a:r>
          </a:p>
        </p:txBody>
      </p:sp>
      <p:sp>
        <p:nvSpPr>
          <p:cNvPr id="46" name="Card">
            <a:extLst>
              <a:ext uri="{FF2B5EF4-FFF2-40B4-BE49-F238E27FC236}">
                <a16:creationId xmlns:a16="http://schemas.microsoft.com/office/drawing/2014/main" id="{437287DA-AB0F-CAF1-E2A1-22130047CA65}"/>
              </a:ext>
            </a:extLst>
          </p:cNvPr>
          <p:cNvSpPr/>
          <p:nvPr/>
        </p:nvSpPr>
        <p:spPr>
          <a:xfrm>
            <a:off x="457200" y="2899314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003C7B"/>
          </a:solidFill>
          <a:ln/>
        </p:spPr>
      </p:sp>
      <p:sp>
        <p:nvSpPr>
          <p:cNvPr id="47" name="Shape 11">
            <a:extLst>
              <a:ext uri="{FF2B5EF4-FFF2-40B4-BE49-F238E27FC236}">
                <a16:creationId xmlns:a16="http://schemas.microsoft.com/office/drawing/2014/main" id="{67223393-F37E-6351-5509-73BECA83682C}"/>
              </a:ext>
            </a:extLst>
          </p:cNvPr>
          <p:cNvSpPr/>
          <p:nvPr/>
        </p:nvSpPr>
        <p:spPr>
          <a:xfrm>
            <a:off x="594360" y="3054762"/>
            <a:ext cx="182880" cy="182880"/>
          </a:xfrm>
          <a:prstGeom prst="ellipse">
            <a:avLst/>
          </a:prstGeom>
          <a:solidFill>
            <a:srgbClr val="D9730D"/>
          </a:solidFill>
          <a:ln/>
        </p:spPr>
      </p:sp>
      <p:sp>
        <p:nvSpPr>
          <p:cNvPr id="48" name="Text 12">
            <a:extLst>
              <a:ext uri="{FF2B5EF4-FFF2-40B4-BE49-F238E27FC236}">
                <a16:creationId xmlns:a16="http://schemas.microsoft.com/office/drawing/2014/main" id="{73DD05AA-0E8F-B747-FC72-CD0ED9BA5DF9}"/>
              </a:ext>
            </a:extLst>
          </p:cNvPr>
          <p:cNvSpPr txBox="1"/>
          <p:nvPr/>
        </p:nvSpPr>
        <p:spPr>
          <a:xfrm>
            <a:off x="868680" y="2990754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  <a:latin typeface="Rubik" panose="020B0604020202020204" charset="-79"/>
                <a:cs typeface="Rubik" panose="020B0604020202020204" charset="-79"/>
              </a:rPr>
              <a:t>kf_kantor_cabang</a:t>
            </a:r>
            <a:r>
              <a:rPr lang="en-US" sz="1500" dirty="0">
                <a:solidFill>
                  <a:schemeClr val="accent6"/>
                </a:solidFill>
                <a:latin typeface="Rubik" panose="020B0604020202020204" charset="-79"/>
                <a:cs typeface="Rubik" panose="020B0604020202020204" charset="-79"/>
              </a:rPr>
              <a:t>   Dimensi cabang</a:t>
            </a:r>
            <a:endParaRPr lang="en-US" sz="1500" dirty="0"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49" name="Text 13">
            <a:extLst>
              <a:ext uri="{FF2B5EF4-FFF2-40B4-BE49-F238E27FC236}">
                <a16:creationId xmlns:a16="http://schemas.microsoft.com/office/drawing/2014/main" id="{E51A489E-E2EE-B15B-FD89-F46A0AD4AF63}"/>
              </a:ext>
            </a:extLst>
          </p:cNvPr>
          <p:cNvSpPr txBox="1"/>
          <p:nvPr/>
        </p:nvSpPr>
        <p:spPr>
          <a:xfrm>
            <a:off x="594360" y="337480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branch_id, branch_category, branch_name, kota, provinsi, rating</a:t>
            </a:r>
          </a:p>
        </p:txBody>
      </p:sp>
      <p:sp>
        <p:nvSpPr>
          <p:cNvPr id="50" name="Card">
            <a:extLst>
              <a:ext uri="{FF2B5EF4-FFF2-40B4-BE49-F238E27FC236}">
                <a16:creationId xmlns:a16="http://schemas.microsoft.com/office/drawing/2014/main" id="{84B591CC-4AFD-FDE0-2369-FAD57CA9584F}"/>
              </a:ext>
            </a:extLst>
          </p:cNvPr>
          <p:cNvSpPr/>
          <p:nvPr/>
        </p:nvSpPr>
        <p:spPr>
          <a:xfrm>
            <a:off x="4663440" y="2899314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003C7B"/>
          </a:solidFill>
          <a:ln/>
        </p:spPr>
      </p:sp>
      <p:sp>
        <p:nvSpPr>
          <p:cNvPr id="51" name="Shape 15">
            <a:extLst>
              <a:ext uri="{FF2B5EF4-FFF2-40B4-BE49-F238E27FC236}">
                <a16:creationId xmlns:a16="http://schemas.microsoft.com/office/drawing/2014/main" id="{C10F1758-2ED1-312E-A03A-D773CD018B54}"/>
              </a:ext>
            </a:extLst>
          </p:cNvPr>
          <p:cNvSpPr/>
          <p:nvPr/>
        </p:nvSpPr>
        <p:spPr>
          <a:xfrm>
            <a:off x="4800600" y="3054762"/>
            <a:ext cx="182880" cy="182880"/>
          </a:xfrm>
          <a:prstGeom prst="ellipse">
            <a:avLst/>
          </a:prstGeom>
          <a:solidFill>
            <a:srgbClr val="8A8A1E"/>
          </a:solidFill>
          <a:ln/>
        </p:spPr>
      </p:sp>
      <p:sp>
        <p:nvSpPr>
          <p:cNvPr id="52" name="Text 16">
            <a:extLst>
              <a:ext uri="{FF2B5EF4-FFF2-40B4-BE49-F238E27FC236}">
                <a16:creationId xmlns:a16="http://schemas.microsoft.com/office/drawing/2014/main" id="{6E196CF1-59B5-3A0D-9F0C-9B2EEF45E968}"/>
              </a:ext>
            </a:extLst>
          </p:cNvPr>
          <p:cNvSpPr txBox="1"/>
          <p:nvPr/>
        </p:nvSpPr>
        <p:spPr>
          <a:xfrm>
            <a:off x="5074920" y="2990754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  <a:latin typeface="Rubik" panose="020B0604020202020204" charset="-79"/>
                <a:cs typeface="Rubik" panose="020B0604020202020204" charset="-79"/>
              </a:rPr>
              <a:t>kf_inventory</a:t>
            </a:r>
            <a:r>
              <a:rPr lang="en-US" sz="1500" dirty="0">
                <a:solidFill>
                  <a:schemeClr val="accent6"/>
                </a:solidFill>
                <a:latin typeface="Rubik" panose="020B0604020202020204" charset="-79"/>
                <a:cs typeface="Rubik" panose="020B0604020202020204" charset="-79"/>
              </a:rPr>
              <a:t>   Stok</a:t>
            </a:r>
            <a:endParaRPr lang="en-US" sz="1500" dirty="0"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53" name="Text 17">
            <a:extLst>
              <a:ext uri="{FF2B5EF4-FFF2-40B4-BE49-F238E27FC236}">
                <a16:creationId xmlns:a16="http://schemas.microsoft.com/office/drawing/2014/main" id="{79D0C5A6-7EF8-B3EC-3F1C-713B3C95BF39}"/>
              </a:ext>
            </a:extLst>
          </p:cNvPr>
          <p:cNvSpPr txBox="1"/>
          <p:nvPr/>
        </p:nvSpPr>
        <p:spPr>
          <a:xfrm>
            <a:off x="4800600" y="337480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inventory_ID, branch_id, product_id, product_name, opname_stock</a:t>
            </a:r>
          </a:p>
        </p:txBody>
      </p:sp>
      <p:sp>
        <p:nvSpPr>
          <p:cNvPr id="54" name="Text 18">
            <a:extLst>
              <a:ext uri="{FF2B5EF4-FFF2-40B4-BE49-F238E27FC236}">
                <a16:creationId xmlns:a16="http://schemas.microsoft.com/office/drawing/2014/main" id="{A8AB3F58-8BAE-FEAE-6964-2F958F0E7F10}"/>
              </a:ext>
            </a:extLst>
          </p:cNvPr>
          <p:cNvSpPr txBox="1"/>
          <p:nvPr/>
        </p:nvSpPr>
        <p:spPr>
          <a:xfrm>
            <a:off x="457200" y="4331133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  <a:latin typeface="Rubik" panose="020B0604020202020204" charset="-79"/>
                <a:cs typeface="Rubik" panose="020B0604020202020204" charset="-79"/>
              </a:rPr>
              <a:t>Relasi: </a:t>
            </a:r>
            <a:r>
              <a:rPr lang="en-US" sz="1200" dirty="0">
                <a:solidFill>
                  <a:schemeClr val="tx1"/>
                </a:solidFill>
                <a:latin typeface="Rubik" panose="020B0604020202020204" charset="-79"/>
                <a:cs typeface="Rubik" panose="020B0604020202020204" charset="-79"/>
              </a:rPr>
              <a:t>branch_id  menghubungkan transaksi ke cabang   |   product_id  menghubungkan transaksi ke produk</a:t>
            </a:r>
            <a:endParaRPr lang="en-US" sz="1200" dirty="0">
              <a:latin typeface="Rubik" panose="020B0604020202020204" charset="-79"/>
              <a:cs typeface="Rubik" panose="020B060402020202020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7460758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g23ec2985a68_1_42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g23ec2985a68_1_42"/>
          <p:cNvPicPr preferRelativeResize="0"/>
          <p:nvPr/>
        </p:nvPicPr>
        <p:blipFill rotWithShape="1">
          <a:blip r:embed="rId4">
            <a:alphaModFix/>
          </a:blip>
          <a:srcRect t="5658" b="5649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g23ec2985a68_1_42"/>
          <p:cNvSpPr txBox="1"/>
          <p:nvPr/>
        </p:nvSpPr>
        <p:spPr>
          <a:xfrm>
            <a:off x="340500" y="429735"/>
            <a:ext cx="8463000" cy="600300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49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00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Rubik"/>
              <a:buAutoNum type="arabicPeriod" startAt="2"/>
            </a:pPr>
            <a:r>
              <a:rPr lang="en" sz="2700" b="1" dirty="0">
                <a:latin typeface="Rubik"/>
                <a:ea typeface="Rubik"/>
                <a:cs typeface="Rubik"/>
                <a:sym typeface="Rubik"/>
              </a:rPr>
              <a:t>Tabel Analisa</a:t>
            </a:r>
            <a:endParaRPr sz="2700" b="1" i="0" u="none" strike="noStrike" cap="none" dirty="0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0F89AE-F1CF-918B-EE4B-A0E879516478}"/>
              </a:ext>
            </a:extLst>
          </p:cNvPr>
          <p:cNvSpPr txBox="1"/>
          <p:nvPr/>
        </p:nvSpPr>
        <p:spPr>
          <a:xfrm>
            <a:off x="340499" y="4770301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100" dirty="0">
                <a:solidFill>
                  <a:schemeClr val="accent2">
                    <a:lumMod val="75000"/>
                    <a:lumOff val="25000"/>
                  </a:schemeClr>
                </a:solidFill>
                <a:latin typeface="Rubik"/>
                <a:ea typeface="Rubik"/>
                <a:cs typeface="Rubik"/>
                <a:sym typeface="Rubik"/>
              </a:rPr>
              <a:t>Kimia </a:t>
            </a:r>
            <a:r>
              <a:rPr lang="en-ID" sz="1100" dirty="0" err="1">
                <a:solidFill>
                  <a:schemeClr val="accent2">
                    <a:lumMod val="75000"/>
                    <a:lumOff val="25000"/>
                  </a:schemeClr>
                </a:solidFill>
                <a:latin typeface="Rubik"/>
                <a:ea typeface="Rubik"/>
                <a:cs typeface="Rubik"/>
                <a:sym typeface="Rubik"/>
              </a:rPr>
              <a:t>Farma</a:t>
            </a:r>
            <a:r>
              <a:rPr lang="en-ID" sz="1100" dirty="0">
                <a:solidFill>
                  <a:schemeClr val="accent2">
                    <a:lumMod val="75000"/>
                    <a:lumOff val="25000"/>
                  </a:schemeClr>
                </a:solidFill>
                <a:latin typeface="Rubik"/>
                <a:ea typeface="Rubik"/>
                <a:cs typeface="Rubik"/>
                <a:sym typeface="Rubik"/>
              </a:rPr>
              <a:t> Performance Analytics 2020-2023</a:t>
            </a:r>
            <a:endParaRPr lang="en-ID" sz="1100" dirty="0">
              <a:solidFill>
                <a:schemeClr val="accent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Frame">
            <a:extLst>
              <a:ext uri="{FF2B5EF4-FFF2-40B4-BE49-F238E27FC236}">
                <a16:creationId xmlns:a16="http://schemas.microsoft.com/office/drawing/2014/main" id="{F0617EC5-96E9-9BFE-C42F-9A7774BF5157}"/>
              </a:ext>
            </a:extLst>
          </p:cNvPr>
          <p:cNvSpPr/>
          <p:nvPr/>
        </p:nvSpPr>
        <p:spPr>
          <a:xfrm>
            <a:off x="424580" y="1143000"/>
            <a:ext cx="3539960" cy="352044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9525">
            <a:solidFill>
              <a:srgbClr val="D5DDEB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4" name="Image 0" descr="Skema tabel analysis_table_kf">
            <a:extLst>
              <a:ext uri="{FF2B5EF4-FFF2-40B4-BE49-F238E27FC236}">
                <a16:creationId xmlns:a16="http://schemas.microsoft.com/office/drawing/2014/main" id="{1FD8040C-DB9F-9F17-97EF-2A44CC639E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300" y="1188720"/>
            <a:ext cx="3448520" cy="3429000"/>
          </a:xfrm>
          <a:prstGeom prst="rect">
            <a:avLst/>
          </a:prstGeom>
        </p:spPr>
      </p:pic>
      <p:sp>
        <p:nvSpPr>
          <p:cNvPr id="6" name="Card">
            <a:extLst>
              <a:ext uri="{FF2B5EF4-FFF2-40B4-BE49-F238E27FC236}">
                <a16:creationId xmlns:a16="http://schemas.microsoft.com/office/drawing/2014/main" id="{5BF10DD3-A6B6-D0A0-5F28-2AA87DA6758F}"/>
              </a:ext>
            </a:extLst>
          </p:cNvPr>
          <p:cNvSpPr/>
          <p:nvPr/>
        </p:nvSpPr>
        <p:spPr>
          <a:xfrm>
            <a:off x="4206240" y="1234440"/>
            <a:ext cx="4480560" cy="1051560"/>
          </a:xfrm>
          <a:prstGeom prst="roundRect">
            <a:avLst>
              <a:gd name="adj" fmla="val 6957"/>
            </a:avLst>
          </a:prstGeom>
          <a:solidFill>
            <a:srgbClr val="01949E"/>
          </a:solidFill>
          <a:ln/>
        </p:spPr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59A9B831-8E48-72F8-DE9E-BF4A2E312085}"/>
              </a:ext>
            </a:extLst>
          </p:cNvPr>
          <p:cNvSpPr/>
          <p:nvPr/>
        </p:nvSpPr>
        <p:spPr>
          <a:xfrm>
            <a:off x="4343400" y="1362456"/>
            <a:ext cx="182880" cy="182880"/>
          </a:xfrm>
          <a:prstGeom prst="ellipse">
            <a:avLst/>
          </a:prstGeom>
          <a:solidFill>
            <a:srgbClr val="1F3C88"/>
          </a:solidFill>
          <a:ln/>
        </p:spPr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D08C1E01-5D14-2C93-D883-726F5F949CE3}"/>
              </a:ext>
            </a:extLst>
          </p:cNvPr>
          <p:cNvSpPr txBox="1"/>
          <p:nvPr/>
        </p:nvSpPr>
        <p:spPr>
          <a:xfrm>
            <a:off x="4617720" y="129844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Rubik" panose="020B0604020202020204" charset="-79"/>
                <a:cs typeface="Rubik" panose="020B0604020202020204" charset="-79"/>
              </a:rPr>
              <a:t>Dari </a:t>
            </a:r>
            <a:r>
              <a:rPr lang="en-US" b="1" dirty="0" err="1">
                <a:solidFill>
                  <a:schemeClr val="tx1"/>
                </a:solidFill>
                <a:latin typeface="Rubik" panose="020B0604020202020204" charset="-79"/>
                <a:cs typeface="Rubik" panose="020B0604020202020204" charset="-79"/>
              </a:rPr>
              <a:t>transaksi</a:t>
            </a:r>
            <a:r>
              <a:rPr lang="en-US" b="1" dirty="0">
                <a:solidFill>
                  <a:schemeClr val="tx1"/>
                </a:solidFill>
                <a:latin typeface="Rubik" panose="020B0604020202020204" charset="-79"/>
                <a:cs typeface="Rubik" panose="020B0604020202020204" charset="-79"/>
              </a:rPr>
              <a:t> </a:t>
            </a:r>
            <a:r>
              <a:rPr lang="en-US" b="1" dirty="0">
                <a:solidFill>
                  <a:schemeClr val="tx2"/>
                </a:solidFill>
                <a:latin typeface="Rubik" panose="020B0604020202020204" charset="-79"/>
                <a:cs typeface="Rubik" panose="020B0604020202020204" charset="-79"/>
              </a:rPr>
              <a:t>(</a:t>
            </a:r>
            <a:r>
              <a:rPr lang="en-US" b="1" dirty="0" err="1">
                <a:solidFill>
                  <a:schemeClr val="tx2"/>
                </a:solidFill>
                <a:latin typeface="Rubik" panose="020B0604020202020204" charset="-79"/>
                <a:cs typeface="Rubik" panose="020B0604020202020204" charset="-79"/>
              </a:rPr>
              <a:t>kf_final_transaction</a:t>
            </a:r>
            <a:r>
              <a:rPr lang="en-US" b="1" dirty="0">
                <a:solidFill>
                  <a:schemeClr val="tx2"/>
                </a:solidFill>
                <a:latin typeface="Rubik" panose="020B0604020202020204" charset="-79"/>
                <a:cs typeface="Rubik" panose="020B0604020202020204" charset="-79"/>
              </a:rPr>
              <a:t>)</a:t>
            </a:r>
            <a:r>
              <a:rPr lang="en-US" dirty="0">
                <a:solidFill>
                  <a:schemeClr val="accent6"/>
                </a:solidFill>
                <a:latin typeface="Rubik" panose="020B0604020202020204" charset="-79"/>
                <a:cs typeface="Rubik" panose="020B0604020202020204" charset="-79"/>
              </a:rPr>
              <a:t> </a:t>
            </a:r>
            <a:endParaRPr lang="en-US" dirty="0">
              <a:solidFill>
                <a:schemeClr val="tx1"/>
              </a:solidFill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3D2659D5-C699-CDE6-353A-9E2509A6FEC7}"/>
              </a:ext>
            </a:extLst>
          </p:cNvPr>
          <p:cNvSpPr txBox="1"/>
          <p:nvPr/>
        </p:nvSpPr>
        <p:spPr>
          <a:xfrm>
            <a:off x="4343399" y="1627632"/>
            <a:ext cx="4209585" cy="613763"/>
          </a:xfrm>
          <a:prstGeom prst="rect">
            <a:avLst/>
          </a:prstGeom>
          <a:solidFill>
            <a:srgbClr val="01949E"/>
          </a:solidFill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Rubik" panose="020B0604020202020204" charset="-79"/>
                <a:cs typeface="Rubik" panose="020B0604020202020204" charset="-79"/>
              </a:rPr>
              <a:t>transaction_id, date, customer_name, product_id, actual_price, discount_percentage, rating_transaksi</a:t>
            </a:r>
            <a:endParaRPr lang="en-US" sz="1200" dirty="0"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11" name="Card">
            <a:extLst>
              <a:ext uri="{FF2B5EF4-FFF2-40B4-BE49-F238E27FC236}">
                <a16:creationId xmlns:a16="http://schemas.microsoft.com/office/drawing/2014/main" id="{2534F752-BF3C-9152-DE03-E787632B8F01}"/>
              </a:ext>
            </a:extLst>
          </p:cNvPr>
          <p:cNvSpPr/>
          <p:nvPr/>
        </p:nvSpPr>
        <p:spPr>
          <a:xfrm>
            <a:off x="4206240" y="2377440"/>
            <a:ext cx="4480560" cy="1051560"/>
          </a:xfrm>
          <a:prstGeom prst="roundRect">
            <a:avLst>
              <a:gd name="adj" fmla="val 6957"/>
            </a:avLst>
          </a:prstGeom>
          <a:solidFill>
            <a:srgbClr val="01949E"/>
          </a:solidFill>
          <a:ln/>
        </p:spPr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7544F4D5-AB02-EC59-A6A6-5F6668192B7C}"/>
              </a:ext>
            </a:extLst>
          </p:cNvPr>
          <p:cNvSpPr/>
          <p:nvPr/>
        </p:nvSpPr>
        <p:spPr>
          <a:xfrm>
            <a:off x="4343400" y="2505456"/>
            <a:ext cx="182880" cy="182880"/>
          </a:xfrm>
          <a:prstGeom prst="ellipse">
            <a:avLst/>
          </a:prstGeom>
          <a:solidFill>
            <a:schemeClr val="bg1">
              <a:lumMod val="75000"/>
            </a:schemeClr>
          </a:solidFill>
          <a:ln/>
        </p:spPr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F7B6F2AB-4227-C934-AC94-32450A046357}"/>
              </a:ext>
            </a:extLst>
          </p:cNvPr>
          <p:cNvSpPr txBox="1"/>
          <p:nvPr/>
        </p:nvSpPr>
        <p:spPr>
          <a:xfrm>
            <a:off x="4617720" y="244144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Rubik" panose="020B0604020202020204" charset="-79"/>
                <a:cs typeface="Rubik" panose="020B0604020202020204" charset="-79"/>
              </a:rPr>
              <a:t>Dari cabang dan </a:t>
            </a:r>
            <a:r>
              <a:rPr lang="en-US" b="1" dirty="0" err="1">
                <a:solidFill>
                  <a:schemeClr val="tx1"/>
                </a:solidFill>
                <a:latin typeface="Rubik" panose="020B0604020202020204" charset="-79"/>
                <a:cs typeface="Rubik" panose="020B0604020202020204" charset="-79"/>
              </a:rPr>
              <a:t>produk</a:t>
            </a:r>
            <a:r>
              <a:rPr lang="en-US" b="1" dirty="0">
                <a:solidFill>
                  <a:schemeClr val="tx1"/>
                </a:solidFill>
                <a:latin typeface="Rubik" panose="020B0604020202020204" charset="-79"/>
                <a:cs typeface="Rubik" panose="020B0604020202020204" charset="-79"/>
              </a:rPr>
              <a:t> </a:t>
            </a:r>
            <a:r>
              <a:rPr lang="en-US" b="1" dirty="0">
                <a:solidFill>
                  <a:schemeClr val="tx2"/>
                </a:solidFill>
                <a:latin typeface="Rubik" panose="020B0604020202020204" charset="-79"/>
                <a:cs typeface="Rubik" panose="020B0604020202020204" charset="-79"/>
              </a:rPr>
              <a:t>(3 dataset lain)</a:t>
            </a:r>
            <a:endParaRPr lang="en-US" dirty="0">
              <a:solidFill>
                <a:schemeClr val="tx1"/>
              </a:solidFill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4C920046-303F-6DDF-0A78-875A0F2D4810}"/>
              </a:ext>
            </a:extLst>
          </p:cNvPr>
          <p:cNvSpPr txBox="1"/>
          <p:nvPr/>
        </p:nvSpPr>
        <p:spPr>
          <a:xfrm>
            <a:off x="4343400" y="2770632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Rubik" panose="020B0604020202020204" charset="-79"/>
                <a:cs typeface="Rubik" panose="020B0604020202020204" charset="-79"/>
              </a:rPr>
              <a:t>branch_id, branch_name, kota, provinsi, rating_cabang, product_name</a:t>
            </a:r>
            <a:endParaRPr lang="en-US" sz="1200" dirty="0"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15" name="Card">
            <a:extLst>
              <a:ext uri="{FF2B5EF4-FFF2-40B4-BE49-F238E27FC236}">
                <a16:creationId xmlns:a16="http://schemas.microsoft.com/office/drawing/2014/main" id="{B064DA99-2041-6286-13EB-9E886BF16C9E}"/>
              </a:ext>
            </a:extLst>
          </p:cNvPr>
          <p:cNvSpPr/>
          <p:nvPr/>
        </p:nvSpPr>
        <p:spPr>
          <a:xfrm>
            <a:off x="4206240" y="3520440"/>
            <a:ext cx="4480560" cy="1051560"/>
          </a:xfrm>
          <a:prstGeom prst="roundRect">
            <a:avLst>
              <a:gd name="adj" fmla="val 6957"/>
            </a:avLst>
          </a:prstGeom>
          <a:solidFill>
            <a:srgbClr val="01949E"/>
          </a:solidFill>
          <a:ln/>
        </p:spPr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434217CB-827F-75AE-CC0B-F66FB1E1CC43}"/>
              </a:ext>
            </a:extLst>
          </p:cNvPr>
          <p:cNvSpPr/>
          <p:nvPr/>
        </p:nvSpPr>
        <p:spPr>
          <a:xfrm>
            <a:off x="4343400" y="3648456"/>
            <a:ext cx="182880" cy="182880"/>
          </a:xfrm>
          <a:prstGeom prst="ellipse">
            <a:avLst/>
          </a:prstGeom>
          <a:solidFill>
            <a:srgbClr val="D9730D"/>
          </a:solidFill>
          <a:ln/>
        </p:spPr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3701D10F-298B-34A3-E191-FFA882F1A387}"/>
              </a:ext>
            </a:extLst>
          </p:cNvPr>
          <p:cNvSpPr txBox="1"/>
          <p:nvPr/>
        </p:nvSpPr>
        <p:spPr>
          <a:xfrm>
            <a:off x="4617720" y="358444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Rubik" panose="020B0604020202020204" charset="-79"/>
                <a:cs typeface="Rubik" panose="020B0604020202020204" charset="-79"/>
              </a:rPr>
              <a:t>Kolom hasil hitungan</a:t>
            </a:r>
            <a:endParaRPr lang="en-US" dirty="0">
              <a:solidFill>
                <a:schemeClr val="tx1"/>
              </a:solidFill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7EB6D7FC-A137-6245-BD5F-608ACD51FF17}"/>
              </a:ext>
            </a:extLst>
          </p:cNvPr>
          <p:cNvSpPr txBox="1"/>
          <p:nvPr/>
        </p:nvSpPr>
        <p:spPr>
          <a:xfrm>
            <a:off x="4343400" y="3913632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Rubik" panose="020B0604020202020204" charset="-79"/>
                <a:cs typeface="Rubik" panose="020B0604020202020204" charset="-79"/>
              </a:rPr>
              <a:t>persentase_gross_laba, nett_sales, nett_profit</a:t>
            </a:r>
            <a:endParaRPr lang="en-US" sz="1200" dirty="0">
              <a:latin typeface="Rubik" panose="020B0604020202020204" charset="-79"/>
              <a:cs typeface="Rubik" panose="020B0604020202020204" charset="-79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g23ec2985a68_1_49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Card">
            <a:extLst>
              <a:ext uri="{FF2B5EF4-FFF2-40B4-BE49-F238E27FC236}">
                <a16:creationId xmlns:a16="http://schemas.microsoft.com/office/drawing/2014/main" id="{E41CFF15-7EF7-969C-1FAE-D00F52B4A747}"/>
              </a:ext>
            </a:extLst>
          </p:cNvPr>
          <p:cNvSpPr/>
          <p:nvPr/>
        </p:nvSpPr>
        <p:spPr>
          <a:xfrm>
            <a:off x="457200" y="1909130"/>
            <a:ext cx="5074920" cy="1689412"/>
          </a:xfrm>
          <a:prstGeom prst="roundRect">
            <a:avLst>
              <a:gd name="adj" fmla="val 5333"/>
            </a:avLst>
          </a:prstGeom>
          <a:solidFill>
            <a:srgbClr val="003C7B"/>
          </a:solidFill>
          <a:ln/>
        </p:spPr>
      </p:sp>
      <p:pic>
        <p:nvPicPr>
          <p:cNvPr id="135" name="Google Shape;135;g23ec2985a68_1_49"/>
          <p:cNvPicPr preferRelativeResize="0"/>
          <p:nvPr/>
        </p:nvPicPr>
        <p:blipFill rotWithShape="1">
          <a:blip r:embed="rId4">
            <a:alphaModFix/>
          </a:blip>
          <a:srcRect t="5658" b="5649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g23ec2985a68_1_49"/>
          <p:cNvSpPr txBox="1"/>
          <p:nvPr/>
        </p:nvSpPr>
        <p:spPr>
          <a:xfrm>
            <a:off x="340500" y="429735"/>
            <a:ext cx="8463000" cy="600300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49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00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Rubik"/>
              <a:buAutoNum type="arabicPeriod" startAt="3"/>
            </a:pPr>
            <a:r>
              <a:rPr lang="en" sz="2700" b="1">
                <a:latin typeface="Rubik"/>
                <a:ea typeface="Rubik"/>
                <a:cs typeface="Rubik"/>
                <a:sym typeface="Rubik"/>
              </a:rPr>
              <a:t>BigQuery Syntax</a:t>
            </a:r>
            <a:endParaRPr sz="2700" b="1" i="0" u="none" strike="noStrike" cap="none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E6D75E4-7596-E041-3656-FA0F8B54EBC2}"/>
              </a:ext>
            </a:extLst>
          </p:cNvPr>
          <p:cNvSpPr txBox="1"/>
          <p:nvPr/>
        </p:nvSpPr>
        <p:spPr>
          <a:xfrm>
            <a:off x="340499" y="4770301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100" dirty="0">
                <a:solidFill>
                  <a:schemeClr val="accent2">
                    <a:lumMod val="75000"/>
                    <a:lumOff val="25000"/>
                  </a:schemeClr>
                </a:solidFill>
                <a:latin typeface="Rubik"/>
                <a:ea typeface="Rubik"/>
                <a:cs typeface="Rubik"/>
                <a:sym typeface="Rubik"/>
              </a:rPr>
              <a:t>Kimia </a:t>
            </a:r>
            <a:r>
              <a:rPr lang="en-ID" sz="1100" dirty="0" err="1">
                <a:solidFill>
                  <a:schemeClr val="accent2">
                    <a:lumMod val="75000"/>
                    <a:lumOff val="25000"/>
                  </a:schemeClr>
                </a:solidFill>
                <a:latin typeface="Rubik"/>
                <a:ea typeface="Rubik"/>
                <a:cs typeface="Rubik"/>
                <a:sym typeface="Rubik"/>
              </a:rPr>
              <a:t>Farma</a:t>
            </a:r>
            <a:r>
              <a:rPr lang="en-ID" sz="1100" dirty="0">
                <a:solidFill>
                  <a:schemeClr val="accent2">
                    <a:lumMod val="75000"/>
                    <a:lumOff val="25000"/>
                  </a:schemeClr>
                </a:solidFill>
                <a:latin typeface="Rubik"/>
                <a:ea typeface="Rubik"/>
                <a:cs typeface="Rubik"/>
                <a:sym typeface="Rubik"/>
              </a:rPr>
              <a:t> Performance Analytics 2020-2023</a:t>
            </a:r>
            <a:endParaRPr lang="en-ID" sz="1100" dirty="0">
              <a:solidFill>
                <a:schemeClr val="accent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SQL CREATE">
            <a:extLst>
              <a:ext uri="{FF2B5EF4-FFF2-40B4-BE49-F238E27FC236}">
                <a16:creationId xmlns:a16="http://schemas.microsoft.com/office/drawing/2014/main" id="{9CB6FCE5-922A-CD15-9D7C-042B69D9E02C}"/>
              </a:ext>
            </a:extLst>
          </p:cNvPr>
          <p:cNvSpPr txBox="1"/>
          <p:nvPr/>
        </p:nvSpPr>
        <p:spPr>
          <a:xfrm>
            <a:off x="594360" y="2075450"/>
            <a:ext cx="4937760" cy="16717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9FB3D9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-- 1. CREATE: simpan hasil agregasi</a:t>
            </a:r>
            <a:endParaRPr lang="en-US" sz="1100" b="1" dirty="0">
              <a:latin typeface="Rubik" panose="020B0604020202020204" charset="-79"/>
              <a:cs typeface="Rubik" panose="020B0604020202020204" charset="-79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FFB868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CREATE</a:t>
            </a:r>
            <a:r>
              <a:rPr lang="en-US" sz="1100" dirty="0">
                <a:solidFill>
                  <a:srgbClr val="FFFFFF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 </a:t>
            </a:r>
            <a:r>
              <a:rPr lang="en-US" sz="1100" dirty="0">
                <a:solidFill>
                  <a:srgbClr val="FFB868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OR</a:t>
            </a:r>
            <a:r>
              <a:rPr lang="en-US" sz="1100" dirty="0">
                <a:solidFill>
                  <a:srgbClr val="FFFFFF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 </a:t>
            </a:r>
            <a:r>
              <a:rPr lang="en-US" sz="1100" dirty="0">
                <a:solidFill>
                  <a:srgbClr val="FFB868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REPLACE</a:t>
            </a:r>
            <a:r>
              <a:rPr lang="en-US" sz="1100" dirty="0">
                <a:solidFill>
                  <a:srgbClr val="FFFFFF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 </a:t>
            </a:r>
            <a:r>
              <a:rPr lang="en-US" sz="1100" dirty="0">
                <a:solidFill>
                  <a:srgbClr val="FFB868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TABLE</a:t>
            </a:r>
            <a:endParaRPr lang="en-US" sz="1100" dirty="0">
              <a:latin typeface="Rubik" panose="020B0604020202020204" charset="-79"/>
              <a:cs typeface="Rubik" panose="020B0604020202020204" charset="-79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  </a:t>
            </a:r>
            <a:r>
              <a:rPr lang="en-US" sz="1100" dirty="0">
                <a:solidFill>
                  <a:srgbClr val="8FE3D0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`...kimia_farma.analysis_table_kf`</a:t>
            </a:r>
            <a:r>
              <a:rPr lang="en-US" sz="1100" dirty="0">
                <a:solidFill>
                  <a:srgbClr val="FFFFFF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 </a:t>
            </a:r>
            <a:r>
              <a:rPr lang="en-US" sz="1100" dirty="0">
                <a:solidFill>
                  <a:srgbClr val="FFB868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AS</a:t>
            </a:r>
            <a:endParaRPr lang="en-US" sz="1100" dirty="0">
              <a:latin typeface="Rubik" panose="020B0604020202020204" charset="-79"/>
              <a:cs typeface="Rubik" panose="020B0604020202020204" charset="-79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 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FFB868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SELECT</a:t>
            </a:r>
            <a:endParaRPr lang="en-US" sz="1100" dirty="0">
              <a:latin typeface="Rubik" panose="020B0604020202020204" charset="-79"/>
              <a:cs typeface="Rubik" panose="020B0604020202020204" charset="-79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  </a:t>
            </a:r>
            <a:r>
              <a:rPr lang="en-US" sz="1100" dirty="0" err="1">
                <a:solidFill>
                  <a:srgbClr val="FFFFFF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t.transaction_id</a:t>
            </a:r>
            <a:r>
              <a:rPr lang="en-US" sz="1100" dirty="0">
                <a:solidFill>
                  <a:srgbClr val="FFFFFF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, </a:t>
            </a:r>
            <a:r>
              <a:rPr lang="en-US" sz="1100" dirty="0" err="1">
                <a:solidFill>
                  <a:srgbClr val="FFFFFF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t.date</a:t>
            </a:r>
            <a:r>
              <a:rPr lang="en-US" sz="1100" dirty="0">
                <a:solidFill>
                  <a:srgbClr val="FFFFFF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, ...</a:t>
            </a:r>
            <a:endParaRPr lang="en-US" sz="1100" dirty="0">
              <a:latin typeface="Rubik" panose="020B0604020202020204" charset="-79"/>
              <a:cs typeface="Rubik" panose="020B0604020202020204" charset="-79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FFB868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FROM</a:t>
            </a:r>
            <a:r>
              <a:rPr lang="en-US" sz="1100" dirty="0">
                <a:solidFill>
                  <a:srgbClr val="FFFFFF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 </a:t>
            </a:r>
            <a:r>
              <a:rPr lang="en-US" sz="1100" dirty="0">
                <a:solidFill>
                  <a:srgbClr val="8FE3D0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`...</a:t>
            </a:r>
            <a:r>
              <a:rPr lang="en-US" sz="1100" dirty="0" err="1">
                <a:solidFill>
                  <a:srgbClr val="8FE3D0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kimia_farma.kf_final_transaction</a:t>
            </a:r>
            <a:r>
              <a:rPr lang="en-US" sz="1100" dirty="0">
                <a:solidFill>
                  <a:srgbClr val="8FE3D0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`</a:t>
            </a:r>
            <a:r>
              <a:rPr lang="en-US" sz="1100" dirty="0">
                <a:solidFill>
                  <a:srgbClr val="FFFFFF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 t</a:t>
            </a:r>
            <a:endParaRPr lang="en-US" sz="1100" dirty="0"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7" name="Card">
            <a:extLst>
              <a:ext uri="{FF2B5EF4-FFF2-40B4-BE49-F238E27FC236}">
                <a16:creationId xmlns:a16="http://schemas.microsoft.com/office/drawing/2014/main" id="{1C860EA7-FD4A-058B-3BD3-07EED4289207}"/>
              </a:ext>
            </a:extLst>
          </p:cNvPr>
          <p:cNvSpPr/>
          <p:nvPr/>
        </p:nvSpPr>
        <p:spPr>
          <a:xfrm>
            <a:off x="5897880" y="1301346"/>
            <a:ext cx="2788920" cy="1051560"/>
          </a:xfrm>
          <a:prstGeom prst="roundRect">
            <a:avLst>
              <a:gd name="adj" fmla="val 6957"/>
            </a:avLst>
          </a:prstGeom>
          <a:solidFill>
            <a:schemeClr val="accent4"/>
          </a:solidFill>
          <a:ln/>
        </p:spPr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19C781EB-1DCB-FBA4-6E4C-9BAE1A42808F}"/>
              </a:ext>
            </a:extLst>
          </p:cNvPr>
          <p:cNvSpPr txBox="1"/>
          <p:nvPr/>
        </p:nvSpPr>
        <p:spPr>
          <a:xfrm>
            <a:off x="6035040" y="1411074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  <a:latin typeface="Rubik" panose="020B0604020202020204" charset="-79"/>
                <a:cs typeface="Rubik" panose="020B0604020202020204" charset="-79"/>
              </a:rPr>
              <a:t>OR REPLACE</a:t>
            </a:r>
            <a:endParaRPr lang="en-US" sz="1600" dirty="0"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5A776BA7-55DF-3C53-C90D-7B235AE04366}"/>
              </a:ext>
            </a:extLst>
          </p:cNvPr>
          <p:cNvSpPr txBox="1"/>
          <p:nvPr/>
        </p:nvSpPr>
        <p:spPr>
          <a:xfrm>
            <a:off x="6035040" y="1758546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Rubik" panose="020B0604020202020204" charset="-79"/>
                <a:cs typeface="Rubik" panose="020B0604020202020204" charset="-79"/>
              </a:rPr>
              <a:t>Aman dijalankan ulang tanpa error</a:t>
            </a:r>
            <a:endParaRPr lang="en-US" sz="1400" dirty="0"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10" name="Card">
            <a:extLst>
              <a:ext uri="{FF2B5EF4-FFF2-40B4-BE49-F238E27FC236}">
                <a16:creationId xmlns:a16="http://schemas.microsoft.com/office/drawing/2014/main" id="{389114A7-AF4C-BF9D-6C72-BFCD60313FB0}"/>
              </a:ext>
            </a:extLst>
          </p:cNvPr>
          <p:cNvSpPr/>
          <p:nvPr/>
        </p:nvSpPr>
        <p:spPr>
          <a:xfrm>
            <a:off x="5897880" y="2444346"/>
            <a:ext cx="2788920" cy="1051560"/>
          </a:xfrm>
          <a:prstGeom prst="roundRect">
            <a:avLst>
              <a:gd name="adj" fmla="val 6957"/>
            </a:avLst>
          </a:prstGeom>
          <a:solidFill>
            <a:schemeClr val="accent4"/>
          </a:solidFill>
          <a:ln/>
        </p:spPr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8DCD1271-E114-105E-9184-CBFAABF6FD83}"/>
              </a:ext>
            </a:extLst>
          </p:cNvPr>
          <p:cNvSpPr txBox="1"/>
          <p:nvPr/>
        </p:nvSpPr>
        <p:spPr>
          <a:xfrm>
            <a:off x="6035040" y="2554074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  <a:latin typeface="Rubik" panose="020B0604020202020204" charset="-79"/>
                <a:cs typeface="Rubik" panose="020B0604020202020204" charset="-79"/>
              </a:rPr>
              <a:t>AS SELECT</a:t>
            </a:r>
            <a:endParaRPr lang="en-US" sz="1600" dirty="0"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592CF22B-61B3-9D40-E273-2930F50088C9}"/>
              </a:ext>
            </a:extLst>
          </p:cNvPr>
          <p:cNvSpPr txBox="1"/>
          <p:nvPr/>
        </p:nvSpPr>
        <p:spPr>
          <a:xfrm>
            <a:off x="6035040" y="2901546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Rubik" panose="020B0604020202020204" charset="-79"/>
                <a:cs typeface="Rubik" panose="020B0604020202020204" charset="-79"/>
              </a:rPr>
              <a:t>Hasil query langsung jadi tabel</a:t>
            </a:r>
            <a:endParaRPr lang="en-US" sz="1400" dirty="0"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13" name="Card">
            <a:extLst>
              <a:ext uri="{FF2B5EF4-FFF2-40B4-BE49-F238E27FC236}">
                <a16:creationId xmlns:a16="http://schemas.microsoft.com/office/drawing/2014/main" id="{3FBC2207-C262-4C35-125A-12698455186E}"/>
              </a:ext>
            </a:extLst>
          </p:cNvPr>
          <p:cNvSpPr/>
          <p:nvPr/>
        </p:nvSpPr>
        <p:spPr>
          <a:xfrm>
            <a:off x="5897880" y="3587346"/>
            <a:ext cx="2788920" cy="1051560"/>
          </a:xfrm>
          <a:prstGeom prst="roundRect">
            <a:avLst>
              <a:gd name="adj" fmla="val 6957"/>
            </a:avLst>
          </a:prstGeom>
          <a:solidFill>
            <a:schemeClr val="accent4"/>
          </a:solidFill>
          <a:ln/>
        </p:spPr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51204C9A-B028-F53A-D589-E506DF8993D3}"/>
              </a:ext>
            </a:extLst>
          </p:cNvPr>
          <p:cNvSpPr txBox="1"/>
          <p:nvPr/>
        </p:nvSpPr>
        <p:spPr>
          <a:xfrm>
            <a:off x="6035040" y="3697074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  <a:latin typeface="Rubik" panose="020B0604020202020204" charset="-79"/>
                <a:cs typeface="Rubik" panose="020B0604020202020204" charset="-79"/>
              </a:rPr>
              <a:t>Siap dipakai</a:t>
            </a:r>
            <a:endParaRPr lang="en-US" sz="1600" dirty="0"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9F1F51AC-1F89-5CAC-F2DB-7237A2E8281C}"/>
              </a:ext>
            </a:extLst>
          </p:cNvPr>
          <p:cNvSpPr txBox="1"/>
          <p:nvPr/>
        </p:nvSpPr>
        <p:spPr>
          <a:xfrm>
            <a:off x="6035040" y="4044546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Rubik" panose="020B0604020202020204" charset="-79"/>
                <a:cs typeface="Rubik" panose="020B0604020202020204" charset="-79"/>
              </a:rPr>
              <a:t>Looker Studio membaca tabel ini</a:t>
            </a:r>
            <a:endParaRPr lang="en-US" sz="1400" dirty="0"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17" name="Text 1">
            <a:extLst>
              <a:ext uri="{FF2B5EF4-FFF2-40B4-BE49-F238E27FC236}">
                <a16:creationId xmlns:a16="http://schemas.microsoft.com/office/drawing/2014/main" id="{639BE95A-812D-D512-F355-3C6A97D2D8A2}"/>
              </a:ext>
            </a:extLst>
          </p:cNvPr>
          <p:cNvSpPr txBox="1">
            <a:spLocks/>
          </p:cNvSpPr>
          <p:nvPr/>
        </p:nvSpPr>
        <p:spPr>
          <a:xfrm>
            <a:off x="1552529" y="1411074"/>
            <a:ext cx="2774981" cy="472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b="1" dirty="0">
                <a:solidFill>
                  <a:srgbClr val="003C7B"/>
                </a:solidFill>
                <a:latin typeface="Rubik" panose="020B0604020202020204" charset="-79"/>
                <a:cs typeface="Rubik" panose="020B0604020202020204" charset="-79"/>
              </a:rPr>
              <a:t>(Syntax CREATE TABLE)</a:t>
            </a:r>
            <a:endParaRPr lang="en-US" dirty="0">
              <a:solidFill>
                <a:srgbClr val="003C7B"/>
              </a:solidFill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3" name="Google Shape;113;g265ee868302_0_99">
            <a:extLst>
              <a:ext uri="{FF2B5EF4-FFF2-40B4-BE49-F238E27FC236}">
                <a16:creationId xmlns:a16="http://schemas.microsoft.com/office/drawing/2014/main" id="{96FB5709-D376-3A56-F1D9-CCD8E948BE42}"/>
              </a:ext>
            </a:extLst>
          </p:cNvPr>
          <p:cNvSpPr txBox="1"/>
          <p:nvPr/>
        </p:nvSpPr>
        <p:spPr>
          <a:xfrm>
            <a:off x="6940725" y="4626320"/>
            <a:ext cx="2203275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 dirty="0">
                <a:latin typeface="Rubik"/>
                <a:ea typeface="Rubik"/>
                <a:cs typeface="Rubik"/>
                <a:sym typeface="Rubik"/>
              </a:rPr>
              <a:t>BigQuery Syntax </a:t>
            </a:r>
            <a:r>
              <a:rPr lang="en" sz="1200" b="1" dirty="0">
                <a:latin typeface="Rubik"/>
                <a:ea typeface="Rubik"/>
                <a:cs typeface="Rubik"/>
                <a:sym typeface="Rubik"/>
                <a:hlinkClick r:id="rId5"/>
              </a:rPr>
              <a:t>here!</a:t>
            </a:r>
            <a:endParaRPr sz="1200" b="1" dirty="0">
              <a:latin typeface="Rubik"/>
              <a:ea typeface="Rubik"/>
              <a:cs typeface="Rubik"/>
              <a:sym typeface="Rubik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g23ec2985a68_1_49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g23ec2985a68_1_49"/>
          <p:cNvPicPr preferRelativeResize="0"/>
          <p:nvPr/>
        </p:nvPicPr>
        <p:blipFill rotWithShape="1">
          <a:blip r:embed="rId4">
            <a:alphaModFix/>
          </a:blip>
          <a:srcRect t="5658" b="5649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g23ec2985a68_1_49"/>
          <p:cNvSpPr txBox="1"/>
          <p:nvPr/>
        </p:nvSpPr>
        <p:spPr>
          <a:xfrm>
            <a:off x="340500" y="429735"/>
            <a:ext cx="8463000" cy="600300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49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00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Rubik"/>
              <a:buAutoNum type="arabicPeriod" startAt="3"/>
            </a:pPr>
            <a:r>
              <a:rPr lang="en" sz="2700" b="1" dirty="0">
                <a:latin typeface="Rubik"/>
                <a:ea typeface="Rubik"/>
                <a:cs typeface="Rubik"/>
                <a:sym typeface="Rubik"/>
              </a:rPr>
              <a:t>BigQuery Syntax</a:t>
            </a:r>
            <a:endParaRPr sz="2700" b="1" i="0" u="none" strike="noStrike" cap="none" dirty="0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E6D75E4-7596-E041-3656-FA0F8B54EBC2}"/>
              </a:ext>
            </a:extLst>
          </p:cNvPr>
          <p:cNvSpPr txBox="1"/>
          <p:nvPr/>
        </p:nvSpPr>
        <p:spPr>
          <a:xfrm>
            <a:off x="340499" y="4770301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100" dirty="0">
                <a:solidFill>
                  <a:schemeClr val="accent2">
                    <a:lumMod val="75000"/>
                    <a:lumOff val="25000"/>
                  </a:schemeClr>
                </a:solidFill>
                <a:latin typeface="Rubik"/>
                <a:ea typeface="Rubik"/>
                <a:cs typeface="Rubik"/>
                <a:sym typeface="Rubik"/>
              </a:rPr>
              <a:t>Kimia </a:t>
            </a:r>
            <a:r>
              <a:rPr lang="en-ID" sz="1100" dirty="0" err="1">
                <a:solidFill>
                  <a:schemeClr val="accent2">
                    <a:lumMod val="75000"/>
                    <a:lumOff val="25000"/>
                  </a:schemeClr>
                </a:solidFill>
                <a:latin typeface="Rubik"/>
                <a:ea typeface="Rubik"/>
                <a:cs typeface="Rubik"/>
                <a:sym typeface="Rubik"/>
              </a:rPr>
              <a:t>Farma</a:t>
            </a:r>
            <a:r>
              <a:rPr lang="en-ID" sz="1100" dirty="0">
                <a:solidFill>
                  <a:schemeClr val="accent2">
                    <a:lumMod val="75000"/>
                    <a:lumOff val="25000"/>
                  </a:schemeClr>
                </a:solidFill>
                <a:latin typeface="Rubik"/>
                <a:ea typeface="Rubik"/>
                <a:cs typeface="Rubik"/>
                <a:sym typeface="Rubik"/>
              </a:rPr>
              <a:t> Performance Analytics 2020-2023</a:t>
            </a:r>
            <a:endParaRPr lang="en-ID" sz="1100" dirty="0">
              <a:solidFill>
                <a:schemeClr val="accent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7" name="Text 1">
            <a:extLst>
              <a:ext uri="{FF2B5EF4-FFF2-40B4-BE49-F238E27FC236}">
                <a16:creationId xmlns:a16="http://schemas.microsoft.com/office/drawing/2014/main" id="{639BE95A-812D-D512-F355-3C6A97D2D8A2}"/>
              </a:ext>
            </a:extLst>
          </p:cNvPr>
          <p:cNvSpPr txBox="1">
            <a:spLocks/>
          </p:cNvSpPr>
          <p:nvPr/>
        </p:nvSpPr>
        <p:spPr>
          <a:xfrm>
            <a:off x="3184509" y="819164"/>
            <a:ext cx="2774981" cy="472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b="1" dirty="0">
                <a:solidFill>
                  <a:srgbClr val="003C7B"/>
                </a:solidFill>
                <a:latin typeface="Rubik" panose="020B0604020202020204" charset="-79"/>
                <a:cs typeface="Rubik" panose="020B0604020202020204" charset="-79"/>
              </a:rPr>
              <a:t>(Syntax SELECT)</a:t>
            </a:r>
            <a:endParaRPr lang="en-US" dirty="0">
              <a:solidFill>
                <a:srgbClr val="003C7B"/>
              </a:solidFill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3" name="CodeBox">
            <a:extLst>
              <a:ext uri="{FF2B5EF4-FFF2-40B4-BE49-F238E27FC236}">
                <a16:creationId xmlns:a16="http://schemas.microsoft.com/office/drawing/2014/main" id="{55D5CEED-78B3-01AF-4973-D94351DD99D8}"/>
              </a:ext>
            </a:extLst>
          </p:cNvPr>
          <p:cNvSpPr/>
          <p:nvPr/>
        </p:nvSpPr>
        <p:spPr>
          <a:xfrm>
            <a:off x="457200" y="1256742"/>
            <a:ext cx="5212080" cy="3337560"/>
          </a:xfrm>
          <a:prstGeom prst="roundRect">
            <a:avLst>
              <a:gd name="adj" fmla="val 2192"/>
            </a:avLst>
          </a:prstGeom>
          <a:solidFill>
            <a:srgbClr val="01949E"/>
          </a:solidFill>
          <a:ln/>
        </p:spPr>
      </p:sp>
      <p:sp>
        <p:nvSpPr>
          <p:cNvPr id="4" name="SQL SELECT">
            <a:extLst>
              <a:ext uri="{FF2B5EF4-FFF2-40B4-BE49-F238E27FC236}">
                <a16:creationId xmlns:a16="http://schemas.microsoft.com/office/drawing/2014/main" id="{335AFD3B-3D67-E4D9-C7C0-BBEAA57C2BBC}"/>
              </a:ext>
            </a:extLst>
          </p:cNvPr>
          <p:cNvSpPr txBox="1"/>
          <p:nvPr/>
        </p:nvSpPr>
        <p:spPr>
          <a:xfrm>
            <a:off x="594360" y="1344168"/>
            <a:ext cx="4937760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B868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SELECT</a:t>
            </a:r>
            <a:endParaRPr lang="en-US" sz="1100" b="1" dirty="0">
              <a:latin typeface="Rubik" panose="020B0604020202020204" charset="-79"/>
              <a:cs typeface="Rubik" panose="020B0604020202020204" charset="-79"/>
            </a:endParaRPr>
          </a:p>
          <a:p>
            <a:pPr marL="0" indent="0">
              <a:buNone/>
            </a:pPr>
            <a:r>
              <a:rPr lang="en-US" sz="1100" b="1" dirty="0">
                <a:solidFill>
                  <a:schemeClr val="accent4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  -- Data transaksi</a:t>
            </a:r>
            <a:endParaRPr lang="en-US" sz="1100" b="1" dirty="0">
              <a:solidFill>
                <a:schemeClr val="accent4"/>
              </a:solidFill>
              <a:latin typeface="Rubik" panose="020B0604020202020204" charset="-79"/>
              <a:cs typeface="Rubik" panose="020B0604020202020204" charset="-79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  t.transaction_id, t.date,</a:t>
            </a:r>
            <a:endParaRPr lang="en-US" sz="1100" dirty="0">
              <a:latin typeface="Rubik" panose="020B0604020202020204" charset="-79"/>
              <a:cs typeface="Rubik" panose="020B0604020202020204" charset="-79"/>
            </a:endParaRPr>
          </a:p>
          <a:p>
            <a:pPr marL="0" indent="0">
              <a:buNone/>
            </a:pPr>
            <a:r>
              <a:rPr lang="en-US" sz="1100" dirty="0">
                <a:solidFill>
                  <a:schemeClr val="accent4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  </a:t>
            </a:r>
            <a:r>
              <a:rPr lang="en-US" sz="1100" b="1" dirty="0">
                <a:solidFill>
                  <a:schemeClr val="accent4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-- Data cabang</a:t>
            </a:r>
            <a:endParaRPr lang="en-US" sz="1100" b="1" dirty="0">
              <a:solidFill>
                <a:schemeClr val="accent4"/>
              </a:solidFill>
              <a:latin typeface="Rubik" panose="020B0604020202020204" charset="-79"/>
              <a:cs typeface="Rubik" panose="020B0604020202020204" charset="-79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  t.branch_id, c.branch_name, c.kota, c.provinsi,</a:t>
            </a:r>
            <a:endParaRPr lang="en-US" sz="1100" dirty="0">
              <a:latin typeface="Rubik" panose="020B0604020202020204" charset="-79"/>
              <a:cs typeface="Rubik" panose="020B0604020202020204" charset="-79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  c.rating </a:t>
            </a:r>
            <a:r>
              <a:rPr lang="en-US" sz="1100" dirty="0">
                <a:solidFill>
                  <a:srgbClr val="FFB868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AS</a:t>
            </a:r>
            <a:r>
              <a:rPr lang="en-US" sz="1100" dirty="0">
                <a:solidFill>
                  <a:srgbClr val="FFFFFF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 rating_cabang,</a:t>
            </a:r>
            <a:endParaRPr lang="en-US" sz="1100" dirty="0">
              <a:latin typeface="Rubik" panose="020B0604020202020204" charset="-79"/>
              <a:cs typeface="Rubik" panose="020B0604020202020204" charset="-79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  </a:t>
            </a:r>
            <a:r>
              <a:rPr lang="en-US" sz="1100" b="1" dirty="0">
                <a:solidFill>
                  <a:schemeClr val="accent4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-- Data pelanggan &amp; produk</a:t>
            </a:r>
            <a:endParaRPr lang="en-US" sz="1100" b="1" dirty="0">
              <a:solidFill>
                <a:schemeClr val="accent4"/>
              </a:solidFill>
              <a:latin typeface="Rubik" panose="020B0604020202020204" charset="-79"/>
              <a:cs typeface="Rubik" panose="020B0604020202020204" charset="-79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  t.customer_name, t.product_id, p.product_name,</a:t>
            </a:r>
            <a:endParaRPr lang="en-US" sz="1100" dirty="0">
              <a:latin typeface="Rubik" panose="020B0604020202020204" charset="-79"/>
              <a:cs typeface="Rubik" panose="020B0604020202020204" charset="-79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  t.price </a:t>
            </a:r>
            <a:r>
              <a:rPr lang="en-US" sz="1100" dirty="0">
                <a:solidFill>
                  <a:srgbClr val="FFB868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AS</a:t>
            </a:r>
            <a:r>
              <a:rPr lang="en-US" sz="1100" dirty="0">
                <a:solidFill>
                  <a:srgbClr val="FFFFFF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 actual_price,</a:t>
            </a:r>
            <a:endParaRPr lang="en-US" sz="1100" dirty="0">
              <a:latin typeface="Rubik" panose="020B0604020202020204" charset="-79"/>
              <a:cs typeface="Rubik" panose="020B0604020202020204" charset="-79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  t.discount_percentage,</a:t>
            </a:r>
            <a:endParaRPr lang="en-US" sz="1100" dirty="0">
              <a:latin typeface="Rubik" panose="020B0604020202020204" charset="-79"/>
              <a:cs typeface="Rubik" panose="020B0604020202020204" charset="-79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  </a:t>
            </a:r>
            <a:r>
              <a:rPr lang="en-US" sz="1100" b="1" dirty="0">
                <a:solidFill>
                  <a:schemeClr val="accent4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-- (kolom hitungan ada di slide berikutnya)</a:t>
            </a:r>
            <a:endParaRPr lang="en-US" sz="1100" b="1" dirty="0">
              <a:solidFill>
                <a:schemeClr val="accent4"/>
              </a:solidFill>
              <a:latin typeface="Rubik" panose="020B0604020202020204" charset="-79"/>
              <a:cs typeface="Rubik" panose="020B0604020202020204" charset="-79"/>
            </a:endParaRPr>
          </a:p>
          <a:p>
            <a:pPr marL="0" indent="0">
              <a:buNone/>
            </a:pPr>
            <a:r>
              <a:rPr lang="en-US" sz="1100" b="1" dirty="0">
                <a:solidFill>
                  <a:schemeClr val="accent4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  ...</a:t>
            </a:r>
            <a:endParaRPr lang="en-US" sz="1100" b="1" dirty="0">
              <a:solidFill>
                <a:schemeClr val="accent4"/>
              </a:solidFill>
              <a:latin typeface="Rubik" panose="020B0604020202020204" charset="-79"/>
              <a:cs typeface="Rubik" panose="020B0604020202020204" charset="-79"/>
            </a:endParaRPr>
          </a:p>
          <a:p>
            <a:pPr marL="0" indent="0">
              <a:buNone/>
            </a:pPr>
            <a:r>
              <a:rPr lang="en-US" sz="1100" b="1" dirty="0">
                <a:solidFill>
                  <a:schemeClr val="accent4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  -- Rating transaksi</a:t>
            </a:r>
            <a:endParaRPr lang="en-US" sz="1100" b="1" dirty="0">
              <a:solidFill>
                <a:schemeClr val="accent4"/>
              </a:solidFill>
              <a:latin typeface="Rubik" panose="020B0604020202020204" charset="-79"/>
              <a:cs typeface="Rubik" panose="020B0604020202020204" charset="-79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  t.rating </a:t>
            </a:r>
            <a:r>
              <a:rPr lang="en-US" sz="1100" dirty="0">
                <a:solidFill>
                  <a:srgbClr val="FFB868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AS</a:t>
            </a:r>
            <a:r>
              <a:rPr lang="en-US" sz="1100" dirty="0">
                <a:solidFill>
                  <a:srgbClr val="FFFFFF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 rating_transaksi</a:t>
            </a:r>
            <a:endParaRPr lang="en-US" sz="1100" dirty="0"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5" name="Card">
            <a:extLst>
              <a:ext uri="{FF2B5EF4-FFF2-40B4-BE49-F238E27FC236}">
                <a16:creationId xmlns:a16="http://schemas.microsoft.com/office/drawing/2014/main" id="{9667D9D0-4FB2-7EFA-C8D2-2488D70C9EBE}"/>
              </a:ext>
            </a:extLst>
          </p:cNvPr>
          <p:cNvSpPr/>
          <p:nvPr/>
        </p:nvSpPr>
        <p:spPr>
          <a:xfrm>
            <a:off x="5897880" y="1234440"/>
            <a:ext cx="2788920" cy="1051560"/>
          </a:xfrm>
          <a:prstGeom prst="roundRect">
            <a:avLst>
              <a:gd name="adj" fmla="val 6957"/>
            </a:avLst>
          </a:prstGeom>
          <a:solidFill>
            <a:schemeClr val="accent4"/>
          </a:solidFill>
          <a:ln/>
        </p:spPr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86B47A9F-F4BE-050C-0C85-12EE30062B62}"/>
              </a:ext>
            </a:extLst>
          </p:cNvPr>
          <p:cNvSpPr txBox="1"/>
          <p:nvPr/>
        </p:nvSpPr>
        <p:spPr>
          <a:xfrm>
            <a:off x="6035040" y="132588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  <a:latin typeface="Rubik" panose="020B0604020202020204" charset="-79"/>
                <a:cs typeface="Rubik" panose="020B0604020202020204" charset="-79"/>
              </a:rPr>
              <a:t>Alias (AS)</a:t>
            </a:r>
            <a:endParaRPr lang="en-US" sz="1600" dirty="0"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6AD11EC7-69DA-4ADA-C3C9-B321F6D82D2C}"/>
              </a:ext>
            </a:extLst>
          </p:cNvPr>
          <p:cNvSpPr txBox="1"/>
          <p:nvPr/>
        </p:nvSpPr>
        <p:spPr>
          <a:xfrm>
            <a:off x="6035040" y="164592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Rubik" panose="020B0604020202020204" charset="-79"/>
                <a:cs typeface="Rubik" panose="020B0604020202020204" charset="-79"/>
              </a:rPr>
              <a:t>Menyamakan nama kolom dengan ketentuan challenge</a:t>
            </a:r>
            <a:endParaRPr lang="en-US" sz="1400" dirty="0"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20" name="Card">
            <a:extLst>
              <a:ext uri="{FF2B5EF4-FFF2-40B4-BE49-F238E27FC236}">
                <a16:creationId xmlns:a16="http://schemas.microsoft.com/office/drawing/2014/main" id="{B7747A20-6392-F18C-C576-2D3641F5F177}"/>
              </a:ext>
            </a:extLst>
          </p:cNvPr>
          <p:cNvSpPr/>
          <p:nvPr/>
        </p:nvSpPr>
        <p:spPr>
          <a:xfrm>
            <a:off x="5897880" y="2377440"/>
            <a:ext cx="2788920" cy="1051560"/>
          </a:xfrm>
          <a:prstGeom prst="roundRect">
            <a:avLst>
              <a:gd name="adj" fmla="val 6957"/>
            </a:avLst>
          </a:prstGeom>
          <a:solidFill>
            <a:schemeClr val="accent4"/>
          </a:solidFill>
          <a:ln/>
        </p:spPr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1B29C1C2-92BD-99BA-13A0-60D6D3A58248}"/>
              </a:ext>
            </a:extLst>
          </p:cNvPr>
          <p:cNvSpPr txBox="1"/>
          <p:nvPr/>
        </p:nvSpPr>
        <p:spPr>
          <a:xfrm>
            <a:off x="6035040" y="2468880"/>
            <a:ext cx="2514600" cy="292608"/>
          </a:xfrm>
          <a:prstGeom prst="rect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  <a:latin typeface="Rubik" panose="020B0604020202020204" charset="-79"/>
                <a:cs typeface="Rubik" panose="020B0604020202020204" charset="-79"/>
              </a:rPr>
              <a:t>Prefix t, p, c</a:t>
            </a:r>
            <a:endParaRPr lang="en-US" sz="1600" dirty="0"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2BD9A43E-ABA7-2E2F-7408-12CA6958ED47}"/>
              </a:ext>
            </a:extLst>
          </p:cNvPr>
          <p:cNvSpPr txBox="1"/>
          <p:nvPr/>
        </p:nvSpPr>
        <p:spPr>
          <a:xfrm>
            <a:off x="6035040" y="278892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Rubik" panose="020B0604020202020204" charset="-79"/>
                <a:cs typeface="Rubik" panose="020B0604020202020204" charset="-79"/>
              </a:rPr>
              <a:t>Menandai tabel sumber tiap kolom</a:t>
            </a:r>
            <a:endParaRPr lang="en-US" sz="1400" dirty="0"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23" name="Card">
            <a:extLst>
              <a:ext uri="{FF2B5EF4-FFF2-40B4-BE49-F238E27FC236}">
                <a16:creationId xmlns:a16="http://schemas.microsoft.com/office/drawing/2014/main" id="{8E53962B-6B68-DCC2-1DE0-749B0D6080F0}"/>
              </a:ext>
            </a:extLst>
          </p:cNvPr>
          <p:cNvSpPr/>
          <p:nvPr/>
        </p:nvSpPr>
        <p:spPr>
          <a:xfrm>
            <a:off x="5897880" y="3520440"/>
            <a:ext cx="2788920" cy="1051560"/>
          </a:xfrm>
          <a:prstGeom prst="roundRect">
            <a:avLst>
              <a:gd name="adj" fmla="val 6957"/>
            </a:avLst>
          </a:prstGeom>
          <a:solidFill>
            <a:schemeClr val="accent4"/>
          </a:solidFill>
          <a:ln/>
        </p:spPr>
      </p:sp>
      <p:sp>
        <p:nvSpPr>
          <p:cNvPr id="24" name="Text 11">
            <a:extLst>
              <a:ext uri="{FF2B5EF4-FFF2-40B4-BE49-F238E27FC236}">
                <a16:creationId xmlns:a16="http://schemas.microsoft.com/office/drawing/2014/main" id="{B10C6DB3-E269-C4CE-39AD-D40074C35C2C}"/>
              </a:ext>
            </a:extLst>
          </p:cNvPr>
          <p:cNvSpPr txBox="1"/>
          <p:nvPr/>
        </p:nvSpPr>
        <p:spPr>
          <a:xfrm>
            <a:off x="6035040" y="361188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  <a:latin typeface="Rubik" panose="020B0604020202020204" charset="-79"/>
                <a:cs typeface="Rubik" panose="020B0604020202020204" charset="-79"/>
              </a:rPr>
              <a:t>Dua kolom rating</a:t>
            </a:r>
            <a:endParaRPr lang="en-US" sz="1600" dirty="0"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25" name="Text 12">
            <a:extLst>
              <a:ext uri="{FF2B5EF4-FFF2-40B4-BE49-F238E27FC236}">
                <a16:creationId xmlns:a16="http://schemas.microsoft.com/office/drawing/2014/main" id="{3C21E546-E255-F75C-B7BE-1443F169DC40}"/>
              </a:ext>
            </a:extLst>
          </p:cNvPr>
          <p:cNvSpPr txBox="1"/>
          <p:nvPr/>
        </p:nvSpPr>
        <p:spPr>
          <a:xfrm>
            <a:off x="6035040" y="393192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Rubik" panose="020B0604020202020204" charset="-79"/>
                <a:cs typeface="Rubik" panose="020B0604020202020204" charset="-79"/>
              </a:rPr>
              <a:t>rating_cabang dari cabang, rating_transaksi dari transaksi</a:t>
            </a:r>
            <a:endParaRPr lang="en-US" sz="1400" dirty="0"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6" name="Google Shape;113;g265ee868302_0_99">
            <a:extLst>
              <a:ext uri="{FF2B5EF4-FFF2-40B4-BE49-F238E27FC236}">
                <a16:creationId xmlns:a16="http://schemas.microsoft.com/office/drawing/2014/main" id="{EB131C7D-9141-EBD8-090F-474451C96067}"/>
              </a:ext>
            </a:extLst>
          </p:cNvPr>
          <p:cNvSpPr txBox="1"/>
          <p:nvPr/>
        </p:nvSpPr>
        <p:spPr>
          <a:xfrm>
            <a:off x="6940725" y="4626320"/>
            <a:ext cx="2203275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 dirty="0">
                <a:latin typeface="Rubik"/>
                <a:ea typeface="Rubik"/>
                <a:cs typeface="Rubik"/>
                <a:sym typeface="Rubik"/>
              </a:rPr>
              <a:t>BigQuery Syntax </a:t>
            </a:r>
            <a:r>
              <a:rPr lang="en" sz="1200" b="1" dirty="0">
                <a:latin typeface="Rubik"/>
                <a:ea typeface="Rubik"/>
                <a:cs typeface="Rubik"/>
                <a:sym typeface="Rubik"/>
                <a:hlinkClick r:id="rId5"/>
              </a:rPr>
              <a:t>here!</a:t>
            </a:r>
            <a:endParaRPr sz="1200" b="1" dirty="0">
              <a:latin typeface="Rubik"/>
              <a:ea typeface="Rubik"/>
              <a:cs typeface="Rubik"/>
              <a:sym typeface="Rubik"/>
            </a:endParaRPr>
          </a:p>
        </p:txBody>
      </p:sp>
    </p:spTree>
    <p:extLst>
      <p:ext uri="{BB962C8B-B14F-4D97-AF65-F5344CB8AC3E}">
        <p14:creationId xmlns:p14="http://schemas.microsoft.com/office/powerpoint/2010/main" val="30790771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g23ec2985a68_1_49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Card">
            <a:extLst>
              <a:ext uri="{FF2B5EF4-FFF2-40B4-BE49-F238E27FC236}">
                <a16:creationId xmlns:a16="http://schemas.microsoft.com/office/drawing/2014/main" id="{E41CFF15-7EF7-969C-1FAE-D00F52B4A747}"/>
              </a:ext>
            </a:extLst>
          </p:cNvPr>
          <p:cNvSpPr/>
          <p:nvPr/>
        </p:nvSpPr>
        <p:spPr>
          <a:xfrm>
            <a:off x="457200" y="1267056"/>
            <a:ext cx="5074920" cy="3371850"/>
          </a:xfrm>
          <a:prstGeom prst="roundRect">
            <a:avLst>
              <a:gd name="adj" fmla="val 5333"/>
            </a:avLst>
          </a:prstGeom>
          <a:solidFill>
            <a:srgbClr val="003C7B"/>
          </a:solidFill>
          <a:ln/>
        </p:spPr>
      </p:sp>
      <p:pic>
        <p:nvPicPr>
          <p:cNvPr id="135" name="Google Shape;135;g23ec2985a68_1_49"/>
          <p:cNvPicPr preferRelativeResize="0"/>
          <p:nvPr/>
        </p:nvPicPr>
        <p:blipFill rotWithShape="1">
          <a:blip r:embed="rId4">
            <a:alphaModFix/>
          </a:blip>
          <a:srcRect t="5658" b="5649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g23ec2985a68_1_49"/>
          <p:cNvSpPr txBox="1"/>
          <p:nvPr/>
        </p:nvSpPr>
        <p:spPr>
          <a:xfrm>
            <a:off x="340500" y="429735"/>
            <a:ext cx="8463000" cy="600300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49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00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Rubik"/>
              <a:buAutoNum type="arabicPeriod" startAt="3"/>
            </a:pPr>
            <a:r>
              <a:rPr lang="en" sz="2700" b="1">
                <a:latin typeface="Rubik"/>
                <a:ea typeface="Rubik"/>
                <a:cs typeface="Rubik"/>
                <a:sym typeface="Rubik"/>
              </a:rPr>
              <a:t>BigQuery Syntax</a:t>
            </a:r>
            <a:endParaRPr sz="2700" b="1" i="0" u="none" strike="noStrike" cap="none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E6D75E4-7596-E041-3656-FA0F8B54EBC2}"/>
              </a:ext>
            </a:extLst>
          </p:cNvPr>
          <p:cNvSpPr txBox="1"/>
          <p:nvPr/>
        </p:nvSpPr>
        <p:spPr>
          <a:xfrm>
            <a:off x="340499" y="4770301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100" dirty="0">
                <a:solidFill>
                  <a:schemeClr val="accent2">
                    <a:lumMod val="75000"/>
                    <a:lumOff val="25000"/>
                  </a:schemeClr>
                </a:solidFill>
                <a:latin typeface="Rubik"/>
                <a:ea typeface="Rubik"/>
                <a:cs typeface="Rubik"/>
                <a:sym typeface="Rubik"/>
              </a:rPr>
              <a:t>Kimia </a:t>
            </a:r>
            <a:r>
              <a:rPr lang="en-ID" sz="1100" dirty="0" err="1">
                <a:solidFill>
                  <a:schemeClr val="accent2">
                    <a:lumMod val="75000"/>
                    <a:lumOff val="25000"/>
                  </a:schemeClr>
                </a:solidFill>
                <a:latin typeface="Rubik"/>
                <a:ea typeface="Rubik"/>
                <a:cs typeface="Rubik"/>
                <a:sym typeface="Rubik"/>
              </a:rPr>
              <a:t>Farma</a:t>
            </a:r>
            <a:r>
              <a:rPr lang="en-ID" sz="1100" dirty="0">
                <a:solidFill>
                  <a:schemeClr val="accent2">
                    <a:lumMod val="75000"/>
                    <a:lumOff val="25000"/>
                  </a:schemeClr>
                </a:solidFill>
                <a:latin typeface="Rubik"/>
                <a:ea typeface="Rubik"/>
                <a:cs typeface="Rubik"/>
                <a:sym typeface="Rubik"/>
              </a:rPr>
              <a:t> Performance Analytics 2020-2023</a:t>
            </a:r>
            <a:endParaRPr lang="en-ID" sz="1100" dirty="0">
              <a:solidFill>
                <a:schemeClr val="accent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7" name="Text 1">
            <a:extLst>
              <a:ext uri="{FF2B5EF4-FFF2-40B4-BE49-F238E27FC236}">
                <a16:creationId xmlns:a16="http://schemas.microsoft.com/office/drawing/2014/main" id="{639BE95A-812D-D512-F355-3C6A97D2D8A2}"/>
              </a:ext>
            </a:extLst>
          </p:cNvPr>
          <p:cNvSpPr txBox="1">
            <a:spLocks/>
          </p:cNvSpPr>
          <p:nvPr/>
        </p:nvSpPr>
        <p:spPr>
          <a:xfrm>
            <a:off x="3184509" y="819164"/>
            <a:ext cx="2774981" cy="472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b="1" dirty="0">
                <a:solidFill>
                  <a:srgbClr val="003C7B"/>
                </a:solidFill>
                <a:latin typeface="Rubik" panose="020B0604020202020204" charset="-79"/>
                <a:cs typeface="Rubik" panose="020B0604020202020204" charset="-79"/>
              </a:rPr>
              <a:t>(Syntax CASE)</a:t>
            </a:r>
            <a:endParaRPr lang="en-US" dirty="0">
              <a:solidFill>
                <a:srgbClr val="003C7B"/>
              </a:solidFill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23" name="SQL CASE">
            <a:extLst>
              <a:ext uri="{FF2B5EF4-FFF2-40B4-BE49-F238E27FC236}">
                <a16:creationId xmlns:a16="http://schemas.microsoft.com/office/drawing/2014/main" id="{A4CA1911-3A5F-0B6E-3B09-B394FF71225C}"/>
              </a:ext>
            </a:extLst>
          </p:cNvPr>
          <p:cNvSpPr txBox="1"/>
          <p:nvPr/>
        </p:nvSpPr>
        <p:spPr>
          <a:xfrm>
            <a:off x="594360" y="1344168"/>
            <a:ext cx="4937760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9FB3D9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-- Persentase gross laba</a:t>
            </a:r>
            <a:endParaRPr lang="en-US" sz="1100" b="1" dirty="0">
              <a:latin typeface="Rubik" panose="020B0604020202020204" charset="-79"/>
              <a:cs typeface="Rubik" panose="020B0604020202020204" charset="-79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FFB868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CASE</a:t>
            </a:r>
            <a:endParaRPr lang="en-US" sz="1100" dirty="0">
              <a:latin typeface="Rubik" panose="020B0604020202020204" charset="-79"/>
              <a:cs typeface="Rubik" panose="020B0604020202020204" charset="-79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  </a:t>
            </a:r>
            <a:r>
              <a:rPr lang="en-US" sz="1100" dirty="0">
                <a:solidFill>
                  <a:srgbClr val="FFB868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WHEN</a:t>
            </a:r>
            <a:r>
              <a:rPr lang="en-US" sz="1100" dirty="0">
                <a:solidFill>
                  <a:srgbClr val="FFFFFF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 t.price &lt;= </a:t>
            </a:r>
            <a:r>
              <a:rPr lang="en-US" sz="1100" dirty="0">
                <a:solidFill>
                  <a:srgbClr val="9EC5FF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50000</a:t>
            </a:r>
            <a:r>
              <a:rPr lang="en-US" sz="1100" dirty="0">
                <a:solidFill>
                  <a:srgbClr val="FFFFFF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 </a:t>
            </a:r>
            <a:r>
              <a:rPr lang="en-US" sz="1100" dirty="0">
                <a:solidFill>
                  <a:srgbClr val="FFB868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THEN</a:t>
            </a:r>
            <a:r>
              <a:rPr lang="en-US" sz="1100" dirty="0">
                <a:solidFill>
                  <a:srgbClr val="FFFFFF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 </a:t>
            </a:r>
            <a:r>
              <a:rPr lang="en-US" sz="1100" dirty="0">
                <a:solidFill>
                  <a:srgbClr val="9EC5FF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0</a:t>
            </a:r>
            <a:r>
              <a:rPr lang="en-US" sz="1100" dirty="0">
                <a:solidFill>
                  <a:srgbClr val="FFFFFF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.</a:t>
            </a:r>
            <a:r>
              <a:rPr lang="en-US" sz="1100" dirty="0">
                <a:solidFill>
                  <a:srgbClr val="9EC5FF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10</a:t>
            </a:r>
            <a:endParaRPr lang="en-US" sz="1100" dirty="0">
              <a:latin typeface="Rubik" panose="020B0604020202020204" charset="-79"/>
              <a:cs typeface="Rubik" panose="020B0604020202020204" charset="-79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  </a:t>
            </a:r>
            <a:r>
              <a:rPr lang="en-US" sz="1100" dirty="0">
                <a:solidFill>
                  <a:srgbClr val="FFB868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WHEN</a:t>
            </a:r>
            <a:r>
              <a:rPr lang="en-US" sz="1100" dirty="0">
                <a:solidFill>
                  <a:srgbClr val="FFFFFF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 t.price &gt; </a:t>
            </a:r>
            <a:r>
              <a:rPr lang="en-US" sz="1100" dirty="0">
                <a:solidFill>
                  <a:srgbClr val="9EC5FF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50000</a:t>
            </a:r>
            <a:r>
              <a:rPr lang="en-US" sz="1100" dirty="0">
                <a:solidFill>
                  <a:srgbClr val="FFFFFF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 </a:t>
            </a:r>
            <a:r>
              <a:rPr lang="en-US" sz="1100" dirty="0">
                <a:solidFill>
                  <a:srgbClr val="FFB868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AND</a:t>
            </a:r>
            <a:r>
              <a:rPr lang="en-US" sz="1100" dirty="0">
                <a:solidFill>
                  <a:srgbClr val="FFFFFF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 t.price &lt;= </a:t>
            </a:r>
            <a:r>
              <a:rPr lang="en-US" sz="1100" dirty="0">
                <a:solidFill>
                  <a:srgbClr val="9EC5FF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100000</a:t>
            </a:r>
            <a:r>
              <a:rPr lang="en-US" sz="1100" dirty="0">
                <a:solidFill>
                  <a:srgbClr val="FFFFFF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 </a:t>
            </a:r>
            <a:r>
              <a:rPr lang="en-US" sz="1100" dirty="0">
                <a:solidFill>
                  <a:srgbClr val="FFB868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THEN</a:t>
            </a:r>
            <a:r>
              <a:rPr lang="en-US" sz="1100" dirty="0">
                <a:solidFill>
                  <a:srgbClr val="FFFFFF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 </a:t>
            </a:r>
            <a:r>
              <a:rPr lang="en-US" sz="1100" dirty="0">
                <a:solidFill>
                  <a:srgbClr val="9EC5FF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0</a:t>
            </a:r>
            <a:r>
              <a:rPr lang="en-US" sz="1100" dirty="0">
                <a:solidFill>
                  <a:srgbClr val="FFFFFF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.</a:t>
            </a:r>
            <a:r>
              <a:rPr lang="en-US" sz="1100" dirty="0">
                <a:solidFill>
                  <a:srgbClr val="9EC5FF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15</a:t>
            </a:r>
            <a:endParaRPr lang="en-US" sz="1100" dirty="0">
              <a:latin typeface="Rubik" panose="020B0604020202020204" charset="-79"/>
              <a:cs typeface="Rubik" panose="020B0604020202020204" charset="-79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  </a:t>
            </a:r>
            <a:r>
              <a:rPr lang="en-US" sz="1100" dirty="0">
                <a:solidFill>
                  <a:srgbClr val="FFB868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WHEN</a:t>
            </a:r>
            <a:r>
              <a:rPr lang="en-US" sz="1100" dirty="0">
                <a:solidFill>
                  <a:srgbClr val="FFFFFF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 t.price &gt; </a:t>
            </a:r>
            <a:r>
              <a:rPr lang="en-US" sz="1100" dirty="0">
                <a:solidFill>
                  <a:srgbClr val="9EC5FF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100000</a:t>
            </a:r>
            <a:r>
              <a:rPr lang="en-US" sz="1100" dirty="0">
                <a:solidFill>
                  <a:srgbClr val="FFFFFF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 </a:t>
            </a:r>
            <a:r>
              <a:rPr lang="en-US" sz="1100" dirty="0">
                <a:solidFill>
                  <a:srgbClr val="FFB868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AND</a:t>
            </a:r>
            <a:r>
              <a:rPr lang="en-US" sz="1100" dirty="0">
                <a:solidFill>
                  <a:srgbClr val="FFFFFF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 t.price &lt;= </a:t>
            </a:r>
            <a:r>
              <a:rPr lang="en-US" sz="1100" dirty="0">
                <a:solidFill>
                  <a:srgbClr val="9EC5FF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300000</a:t>
            </a:r>
            <a:r>
              <a:rPr lang="en-US" sz="1100" dirty="0">
                <a:solidFill>
                  <a:srgbClr val="FFFFFF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 </a:t>
            </a:r>
            <a:r>
              <a:rPr lang="en-US" sz="1100" dirty="0">
                <a:solidFill>
                  <a:srgbClr val="FFB868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THEN</a:t>
            </a:r>
            <a:r>
              <a:rPr lang="en-US" sz="1100" dirty="0">
                <a:solidFill>
                  <a:srgbClr val="FFFFFF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 </a:t>
            </a:r>
            <a:r>
              <a:rPr lang="en-US" sz="1100" dirty="0">
                <a:solidFill>
                  <a:srgbClr val="9EC5FF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0</a:t>
            </a:r>
            <a:r>
              <a:rPr lang="en-US" sz="1100" dirty="0">
                <a:solidFill>
                  <a:srgbClr val="FFFFFF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.</a:t>
            </a:r>
            <a:r>
              <a:rPr lang="en-US" sz="1100" dirty="0">
                <a:solidFill>
                  <a:srgbClr val="9EC5FF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20</a:t>
            </a:r>
            <a:endParaRPr lang="en-US" sz="1100" dirty="0">
              <a:latin typeface="Rubik" panose="020B0604020202020204" charset="-79"/>
              <a:cs typeface="Rubik" panose="020B0604020202020204" charset="-79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  </a:t>
            </a:r>
            <a:r>
              <a:rPr lang="en-US" sz="1100" dirty="0">
                <a:solidFill>
                  <a:srgbClr val="FFB868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WHEN</a:t>
            </a:r>
            <a:r>
              <a:rPr lang="en-US" sz="1100" dirty="0">
                <a:solidFill>
                  <a:srgbClr val="FFFFFF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 t.price &gt; </a:t>
            </a:r>
            <a:r>
              <a:rPr lang="en-US" sz="1100" dirty="0">
                <a:solidFill>
                  <a:srgbClr val="9EC5FF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300000</a:t>
            </a:r>
            <a:r>
              <a:rPr lang="en-US" sz="1100" dirty="0">
                <a:solidFill>
                  <a:srgbClr val="FFFFFF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 </a:t>
            </a:r>
            <a:r>
              <a:rPr lang="en-US" sz="1100" dirty="0">
                <a:solidFill>
                  <a:srgbClr val="FFB868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AND</a:t>
            </a:r>
            <a:r>
              <a:rPr lang="en-US" sz="1100" dirty="0">
                <a:solidFill>
                  <a:srgbClr val="FFFFFF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 t.price &lt;= </a:t>
            </a:r>
            <a:r>
              <a:rPr lang="en-US" sz="1100" dirty="0">
                <a:solidFill>
                  <a:srgbClr val="9EC5FF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500000</a:t>
            </a:r>
            <a:r>
              <a:rPr lang="en-US" sz="1100" dirty="0">
                <a:solidFill>
                  <a:srgbClr val="FFFFFF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 </a:t>
            </a:r>
            <a:r>
              <a:rPr lang="en-US" sz="1100" dirty="0">
                <a:solidFill>
                  <a:srgbClr val="FFB868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THEN</a:t>
            </a:r>
            <a:r>
              <a:rPr lang="en-US" sz="1100" dirty="0">
                <a:solidFill>
                  <a:srgbClr val="FFFFFF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 </a:t>
            </a:r>
            <a:r>
              <a:rPr lang="en-US" sz="1100" dirty="0">
                <a:solidFill>
                  <a:srgbClr val="9EC5FF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0</a:t>
            </a:r>
            <a:r>
              <a:rPr lang="en-US" sz="1100" dirty="0">
                <a:solidFill>
                  <a:srgbClr val="FFFFFF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.</a:t>
            </a:r>
            <a:r>
              <a:rPr lang="en-US" sz="1100" dirty="0">
                <a:solidFill>
                  <a:srgbClr val="9EC5FF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25</a:t>
            </a:r>
            <a:endParaRPr lang="en-US" sz="1100" dirty="0">
              <a:latin typeface="Rubik" panose="020B0604020202020204" charset="-79"/>
              <a:cs typeface="Rubik" panose="020B0604020202020204" charset="-79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  </a:t>
            </a:r>
            <a:r>
              <a:rPr lang="en-US" sz="1100" dirty="0">
                <a:solidFill>
                  <a:srgbClr val="FFB868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ELSE</a:t>
            </a:r>
            <a:r>
              <a:rPr lang="en-US" sz="1100" dirty="0">
                <a:solidFill>
                  <a:srgbClr val="FFFFFF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 </a:t>
            </a:r>
            <a:r>
              <a:rPr lang="en-US" sz="1100" dirty="0">
                <a:solidFill>
                  <a:srgbClr val="9EC5FF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0</a:t>
            </a:r>
            <a:r>
              <a:rPr lang="en-US" sz="1100" dirty="0">
                <a:solidFill>
                  <a:srgbClr val="FFFFFF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.</a:t>
            </a:r>
            <a:r>
              <a:rPr lang="en-US" sz="1100" dirty="0">
                <a:solidFill>
                  <a:srgbClr val="9EC5FF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30</a:t>
            </a:r>
            <a:endParaRPr lang="en-US" sz="1100" dirty="0">
              <a:latin typeface="Rubik" panose="020B0604020202020204" charset="-79"/>
              <a:cs typeface="Rubik" panose="020B0604020202020204" charset="-79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FFB868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END</a:t>
            </a:r>
            <a:r>
              <a:rPr lang="en-US" sz="1100" dirty="0">
                <a:solidFill>
                  <a:srgbClr val="FFFFFF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 </a:t>
            </a:r>
            <a:r>
              <a:rPr lang="en-US" sz="1100" dirty="0">
                <a:solidFill>
                  <a:srgbClr val="FFB868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AS</a:t>
            </a:r>
            <a:r>
              <a:rPr lang="en-US" sz="1100" dirty="0">
                <a:solidFill>
                  <a:srgbClr val="FFFFFF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 persentase_gross_laba,</a:t>
            </a:r>
            <a:endParaRPr lang="en-US" sz="1100" dirty="0">
              <a:latin typeface="Rubik" panose="020B0604020202020204" charset="-79"/>
              <a:cs typeface="Rubik" panose="020B0604020202020204" charset="-79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 </a:t>
            </a:r>
            <a:endParaRPr lang="en-US" sz="1100" dirty="0">
              <a:latin typeface="Rubik" panose="020B0604020202020204" charset="-79"/>
              <a:cs typeface="Rubik" panose="020B0604020202020204" charset="-79"/>
            </a:endParaRPr>
          </a:p>
          <a:p>
            <a:pPr marL="0" indent="0">
              <a:buNone/>
            </a:pPr>
            <a:r>
              <a:rPr lang="en-US" sz="1100" b="1" dirty="0">
                <a:solidFill>
                  <a:srgbClr val="9FB3D9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-- Nett sales = harga setelah diskon</a:t>
            </a:r>
            <a:endParaRPr lang="en-US" sz="1100" b="1" dirty="0">
              <a:latin typeface="Rubik" panose="020B0604020202020204" charset="-79"/>
              <a:cs typeface="Rubik" panose="020B0604020202020204" charset="-79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t.price * (</a:t>
            </a:r>
            <a:r>
              <a:rPr lang="en-US" sz="1100" dirty="0">
                <a:solidFill>
                  <a:srgbClr val="9EC5FF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1</a:t>
            </a:r>
            <a:r>
              <a:rPr lang="en-US" sz="1100" dirty="0">
                <a:solidFill>
                  <a:srgbClr val="FFFFFF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 - t.discount_percentage / </a:t>
            </a:r>
            <a:r>
              <a:rPr lang="en-US" sz="1100" dirty="0">
                <a:solidFill>
                  <a:srgbClr val="9EC5FF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100</a:t>
            </a:r>
            <a:r>
              <a:rPr lang="en-US" sz="1100" dirty="0">
                <a:solidFill>
                  <a:srgbClr val="FFFFFF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) </a:t>
            </a:r>
            <a:r>
              <a:rPr lang="en-US" sz="1100" dirty="0">
                <a:solidFill>
                  <a:srgbClr val="FFB868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AS</a:t>
            </a:r>
            <a:r>
              <a:rPr lang="en-US" sz="1100" dirty="0">
                <a:solidFill>
                  <a:srgbClr val="FFFFFF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 nett_sales,</a:t>
            </a:r>
            <a:endParaRPr lang="en-US" sz="1100" dirty="0">
              <a:latin typeface="Rubik" panose="020B0604020202020204" charset="-79"/>
              <a:cs typeface="Rubik" panose="020B0604020202020204" charset="-79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 </a:t>
            </a:r>
            <a:endParaRPr lang="en-US" sz="1100" dirty="0">
              <a:latin typeface="Rubik" panose="020B0604020202020204" charset="-79"/>
              <a:cs typeface="Rubik" panose="020B0604020202020204" charset="-79"/>
            </a:endParaRPr>
          </a:p>
          <a:p>
            <a:pPr marL="0" indent="0">
              <a:buNone/>
            </a:pPr>
            <a:r>
              <a:rPr lang="en-US" sz="1100" b="1" dirty="0">
                <a:solidFill>
                  <a:srgbClr val="9FB3D9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-- Nett profit = nett sales x % gross laba</a:t>
            </a:r>
            <a:endParaRPr lang="en-US" sz="1100" b="1" dirty="0">
              <a:latin typeface="Rubik" panose="020B0604020202020204" charset="-79"/>
              <a:cs typeface="Rubik" panose="020B0604020202020204" charset="-79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(nett_sales) * (</a:t>
            </a:r>
            <a:r>
              <a:rPr lang="en-US" sz="1100" dirty="0">
                <a:solidFill>
                  <a:srgbClr val="FFB868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CASE</a:t>
            </a:r>
            <a:r>
              <a:rPr lang="en-US" sz="1100" dirty="0">
                <a:solidFill>
                  <a:srgbClr val="FFFFFF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 yang sama) </a:t>
            </a:r>
            <a:r>
              <a:rPr lang="en-US" sz="1100" dirty="0">
                <a:solidFill>
                  <a:srgbClr val="FFB868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AS</a:t>
            </a:r>
            <a:r>
              <a:rPr lang="en-US" sz="1100" dirty="0">
                <a:solidFill>
                  <a:srgbClr val="FFFFFF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 nett_profit,</a:t>
            </a:r>
            <a:endParaRPr lang="en-US" sz="1100" dirty="0">
              <a:latin typeface="Rubik" panose="020B0604020202020204" charset="-79"/>
              <a:cs typeface="Rubik" panose="020B0604020202020204" charset="-79"/>
            </a:endParaRPr>
          </a:p>
        </p:txBody>
      </p:sp>
      <p:graphicFrame>
        <p:nvGraphicFramePr>
          <p:cNvPr id="24" name="Table 0">
            <a:extLst>
              <a:ext uri="{FF2B5EF4-FFF2-40B4-BE49-F238E27FC236}">
                <a16:creationId xmlns:a16="http://schemas.microsoft.com/office/drawing/2014/main" id="{C661F986-91A0-F984-50E4-FCBC44CE16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5903584"/>
              </p:ext>
            </p:extLst>
          </p:nvPr>
        </p:nvGraphicFramePr>
        <p:xfrm>
          <a:off x="5897880" y="1234440"/>
          <a:ext cx="2788920" cy="1954809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Harga (Rp)</a:t>
                      </a: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C7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Laba</a:t>
                      </a: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C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&lt;= 50.000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94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10%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94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50.000 - 100.000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94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15%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94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100.000 - 300.000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94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20%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94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300.000 - 500.000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94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25%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94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88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&gt; 500.000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94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30%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94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Card">
            <a:extLst>
              <a:ext uri="{FF2B5EF4-FFF2-40B4-BE49-F238E27FC236}">
                <a16:creationId xmlns:a16="http://schemas.microsoft.com/office/drawing/2014/main" id="{6544693E-74E1-81E8-1AD5-6A96FEED91C3}"/>
              </a:ext>
            </a:extLst>
          </p:cNvPr>
          <p:cNvSpPr/>
          <p:nvPr/>
        </p:nvSpPr>
        <p:spPr>
          <a:xfrm>
            <a:off x="5897880" y="3337560"/>
            <a:ext cx="2788920" cy="1234440"/>
          </a:xfrm>
          <a:prstGeom prst="roundRect">
            <a:avLst>
              <a:gd name="adj" fmla="val 5926"/>
            </a:avLst>
          </a:prstGeom>
          <a:solidFill>
            <a:srgbClr val="003C7B"/>
          </a:solidFill>
          <a:ln/>
        </p:spPr>
      </p:sp>
      <p:sp>
        <p:nvSpPr>
          <p:cNvPr id="26" name="Text 5">
            <a:extLst>
              <a:ext uri="{FF2B5EF4-FFF2-40B4-BE49-F238E27FC236}">
                <a16:creationId xmlns:a16="http://schemas.microsoft.com/office/drawing/2014/main" id="{8CB5168C-2111-F954-AD47-997E08A9888C}"/>
              </a:ext>
            </a:extLst>
          </p:cNvPr>
          <p:cNvSpPr txBox="1"/>
          <p:nvPr/>
        </p:nvSpPr>
        <p:spPr>
          <a:xfrm>
            <a:off x="6035040" y="3429000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FB868"/>
                </a:solidFill>
                <a:latin typeface="Rubik" panose="020B0604020202020204" charset="-79"/>
                <a:cs typeface="Rubik" panose="020B0604020202020204" charset="-79"/>
              </a:rPr>
              <a:t>nett_sales</a:t>
            </a:r>
            <a:r>
              <a:rPr lang="en-US" sz="1400" dirty="0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 = price x (1 - diskon/100)</a:t>
            </a:r>
            <a:endParaRPr lang="en-US" sz="1400" dirty="0">
              <a:latin typeface="Rubik" panose="020B0604020202020204" charset="-79"/>
              <a:cs typeface="Rubik" panose="020B0604020202020204" charset="-79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FB868"/>
                </a:solidFill>
                <a:latin typeface="Rubik" panose="020B0604020202020204" charset="-79"/>
                <a:cs typeface="Rubik" panose="020B0604020202020204" charset="-79"/>
              </a:rPr>
              <a:t>nett_profit</a:t>
            </a:r>
            <a:r>
              <a:rPr lang="en-US" sz="1400" dirty="0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 = nett_sales x % laba</a:t>
            </a:r>
            <a:endParaRPr lang="en-US" sz="1400" dirty="0"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3" name="Google Shape;113;g265ee868302_0_99">
            <a:extLst>
              <a:ext uri="{FF2B5EF4-FFF2-40B4-BE49-F238E27FC236}">
                <a16:creationId xmlns:a16="http://schemas.microsoft.com/office/drawing/2014/main" id="{8A8C440D-0F4B-A490-5D07-6318F78CE0A8}"/>
              </a:ext>
            </a:extLst>
          </p:cNvPr>
          <p:cNvSpPr txBox="1"/>
          <p:nvPr/>
        </p:nvSpPr>
        <p:spPr>
          <a:xfrm>
            <a:off x="6940725" y="4626320"/>
            <a:ext cx="2203275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 dirty="0">
                <a:latin typeface="Rubik"/>
                <a:ea typeface="Rubik"/>
                <a:cs typeface="Rubik"/>
                <a:sym typeface="Rubik"/>
              </a:rPr>
              <a:t>BigQuery Syntax </a:t>
            </a:r>
            <a:r>
              <a:rPr lang="en" sz="1200" b="1" dirty="0">
                <a:latin typeface="Rubik"/>
                <a:ea typeface="Rubik"/>
                <a:cs typeface="Rubik"/>
                <a:sym typeface="Rubik"/>
                <a:hlinkClick r:id="rId5"/>
              </a:rPr>
              <a:t>here!</a:t>
            </a:r>
            <a:endParaRPr sz="1200" b="1" dirty="0">
              <a:latin typeface="Rubik"/>
              <a:ea typeface="Rubik"/>
              <a:cs typeface="Rubik"/>
              <a:sym typeface="Rubik"/>
            </a:endParaRPr>
          </a:p>
        </p:txBody>
      </p:sp>
    </p:spTree>
    <p:extLst>
      <p:ext uri="{BB962C8B-B14F-4D97-AF65-F5344CB8AC3E}">
        <p14:creationId xmlns:p14="http://schemas.microsoft.com/office/powerpoint/2010/main" val="17083025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g23ec2985a68_1_49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g23ec2985a68_1_49"/>
          <p:cNvPicPr preferRelativeResize="0"/>
          <p:nvPr/>
        </p:nvPicPr>
        <p:blipFill rotWithShape="1">
          <a:blip r:embed="rId4">
            <a:alphaModFix/>
          </a:blip>
          <a:srcRect t="5658" b="5649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g23ec2985a68_1_49"/>
          <p:cNvSpPr txBox="1"/>
          <p:nvPr/>
        </p:nvSpPr>
        <p:spPr>
          <a:xfrm>
            <a:off x="340500" y="429735"/>
            <a:ext cx="8463000" cy="600300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49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00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Rubik"/>
              <a:buAutoNum type="arabicPeriod" startAt="3"/>
            </a:pPr>
            <a:r>
              <a:rPr lang="en" sz="2700" b="1">
                <a:latin typeface="Rubik"/>
                <a:ea typeface="Rubik"/>
                <a:cs typeface="Rubik"/>
                <a:sym typeface="Rubik"/>
              </a:rPr>
              <a:t>BigQuery Syntax</a:t>
            </a:r>
            <a:endParaRPr sz="2700" b="1" i="0" u="none" strike="noStrike" cap="none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E6D75E4-7596-E041-3656-FA0F8B54EBC2}"/>
              </a:ext>
            </a:extLst>
          </p:cNvPr>
          <p:cNvSpPr txBox="1"/>
          <p:nvPr/>
        </p:nvSpPr>
        <p:spPr>
          <a:xfrm>
            <a:off x="340499" y="4770301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100" dirty="0">
                <a:solidFill>
                  <a:schemeClr val="accent2">
                    <a:lumMod val="75000"/>
                    <a:lumOff val="25000"/>
                  </a:schemeClr>
                </a:solidFill>
                <a:latin typeface="Rubik"/>
                <a:ea typeface="Rubik"/>
                <a:cs typeface="Rubik"/>
                <a:sym typeface="Rubik"/>
              </a:rPr>
              <a:t>Kimia </a:t>
            </a:r>
            <a:r>
              <a:rPr lang="en-ID" sz="1100" dirty="0" err="1">
                <a:solidFill>
                  <a:schemeClr val="accent2">
                    <a:lumMod val="75000"/>
                    <a:lumOff val="25000"/>
                  </a:schemeClr>
                </a:solidFill>
                <a:latin typeface="Rubik"/>
                <a:ea typeface="Rubik"/>
                <a:cs typeface="Rubik"/>
                <a:sym typeface="Rubik"/>
              </a:rPr>
              <a:t>Farma</a:t>
            </a:r>
            <a:r>
              <a:rPr lang="en-ID" sz="1100" dirty="0">
                <a:solidFill>
                  <a:schemeClr val="accent2">
                    <a:lumMod val="75000"/>
                    <a:lumOff val="25000"/>
                  </a:schemeClr>
                </a:solidFill>
                <a:latin typeface="Rubik"/>
                <a:ea typeface="Rubik"/>
                <a:cs typeface="Rubik"/>
                <a:sym typeface="Rubik"/>
              </a:rPr>
              <a:t> Performance Analytics 2020-2023</a:t>
            </a:r>
            <a:endParaRPr lang="en-ID" sz="1100" dirty="0">
              <a:solidFill>
                <a:schemeClr val="accent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7" name="Text 1">
            <a:extLst>
              <a:ext uri="{FF2B5EF4-FFF2-40B4-BE49-F238E27FC236}">
                <a16:creationId xmlns:a16="http://schemas.microsoft.com/office/drawing/2014/main" id="{639BE95A-812D-D512-F355-3C6A97D2D8A2}"/>
              </a:ext>
            </a:extLst>
          </p:cNvPr>
          <p:cNvSpPr txBox="1">
            <a:spLocks/>
          </p:cNvSpPr>
          <p:nvPr/>
        </p:nvSpPr>
        <p:spPr>
          <a:xfrm>
            <a:off x="3184509" y="819164"/>
            <a:ext cx="2774981" cy="472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b="1" dirty="0">
                <a:solidFill>
                  <a:srgbClr val="003C7B"/>
                </a:solidFill>
                <a:latin typeface="Rubik" panose="020B0604020202020204" charset="-79"/>
                <a:cs typeface="Rubik" panose="020B0604020202020204" charset="-79"/>
              </a:rPr>
              <a:t>(Syntax JOIN)</a:t>
            </a:r>
            <a:endParaRPr lang="en-US" dirty="0">
              <a:solidFill>
                <a:srgbClr val="003C7B"/>
              </a:solidFill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93D055F5-1897-025C-E979-F6B8F1891017}"/>
              </a:ext>
            </a:extLst>
          </p:cNvPr>
          <p:cNvSpPr/>
          <p:nvPr/>
        </p:nvSpPr>
        <p:spPr>
          <a:xfrm>
            <a:off x="457200" y="1280160"/>
            <a:ext cx="3657600" cy="777240"/>
          </a:xfrm>
          <a:prstGeom prst="roundRect">
            <a:avLst>
              <a:gd name="adj" fmla="val 9412"/>
            </a:avLst>
          </a:prstGeom>
          <a:solidFill>
            <a:schemeClr val="accent1"/>
          </a:solidFill>
          <a:ln/>
        </p:spPr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4046A32C-B471-78BD-105E-D0F7A561BCDA}"/>
              </a:ext>
            </a:extLst>
          </p:cNvPr>
          <p:cNvSpPr txBox="1"/>
          <p:nvPr/>
        </p:nvSpPr>
        <p:spPr>
          <a:xfrm>
            <a:off x="457200" y="128016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kf_final_transaction (t)</a:t>
            </a:r>
            <a:endParaRPr lang="en-US" sz="1200" dirty="0">
              <a:latin typeface="Rubik" panose="020B0604020202020204" charset="-79"/>
              <a:cs typeface="Rubik" panose="020B0604020202020204" charset="-79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tabel utama / fact</a:t>
            </a:r>
            <a:endParaRPr lang="en-US" sz="1200" dirty="0"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BA9CE23F-4E0D-0E3A-B337-E20CDF69AF57}"/>
              </a:ext>
            </a:extLst>
          </p:cNvPr>
          <p:cNvSpPr/>
          <p:nvPr/>
        </p:nvSpPr>
        <p:spPr>
          <a:xfrm>
            <a:off x="457200" y="3246120"/>
            <a:ext cx="1645920" cy="777240"/>
          </a:xfrm>
          <a:prstGeom prst="roundRect">
            <a:avLst>
              <a:gd name="adj" fmla="val 9412"/>
            </a:avLst>
          </a:prstGeom>
          <a:solidFill>
            <a:srgbClr val="0E8A9A"/>
          </a:solidFill>
          <a:ln/>
        </p:spPr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58273B54-C095-1389-800F-CA7EAF35BAA6}"/>
              </a:ext>
            </a:extLst>
          </p:cNvPr>
          <p:cNvSpPr txBox="1"/>
          <p:nvPr/>
        </p:nvSpPr>
        <p:spPr>
          <a:xfrm>
            <a:off x="457200" y="324612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kf_product (p)</a:t>
            </a:r>
            <a:endParaRPr lang="en-US" sz="1200" dirty="0"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4379B402-CA41-CDD3-9DF5-9D6BD7A76EC3}"/>
              </a:ext>
            </a:extLst>
          </p:cNvPr>
          <p:cNvSpPr/>
          <p:nvPr/>
        </p:nvSpPr>
        <p:spPr>
          <a:xfrm>
            <a:off x="2377439" y="3246120"/>
            <a:ext cx="1874519" cy="777240"/>
          </a:xfrm>
          <a:prstGeom prst="roundRect">
            <a:avLst>
              <a:gd name="adj" fmla="val 9412"/>
            </a:avLst>
          </a:prstGeom>
          <a:solidFill>
            <a:srgbClr val="D9730D"/>
          </a:solidFill>
          <a:ln/>
        </p:spPr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5B548449-ABE1-2DE2-9451-DF261CB6722C}"/>
              </a:ext>
            </a:extLst>
          </p:cNvPr>
          <p:cNvSpPr/>
          <p:nvPr/>
        </p:nvSpPr>
        <p:spPr>
          <a:xfrm>
            <a:off x="1280160" y="2057400"/>
            <a:ext cx="0" cy="1188720"/>
          </a:xfrm>
          <a:prstGeom prst="line">
            <a:avLst/>
          </a:prstGeom>
          <a:noFill/>
          <a:ln w="25400">
            <a:solidFill>
              <a:srgbClr val="5F6B85"/>
            </a:solidFill>
            <a:prstDash val="solid"/>
            <a:tailEnd type="triangle"/>
          </a:ln>
        </p:spPr>
      </p:sp>
      <p:sp>
        <p:nvSpPr>
          <p:cNvPr id="10" name="Shape 9">
            <a:extLst>
              <a:ext uri="{FF2B5EF4-FFF2-40B4-BE49-F238E27FC236}">
                <a16:creationId xmlns:a16="http://schemas.microsoft.com/office/drawing/2014/main" id="{EAEAABC9-7FFB-F009-5681-E0207190D91C}"/>
              </a:ext>
            </a:extLst>
          </p:cNvPr>
          <p:cNvSpPr/>
          <p:nvPr/>
        </p:nvSpPr>
        <p:spPr>
          <a:xfrm>
            <a:off x="3291840" y="2057400"/>
            <a:ext cx="0" cy="1188720"/>
          </a:xfrm>
          <a:prstGeom prst="line">
            <a:avLst/>
          </a:prstGeom>
          <a:noFill/>
          <a:ln w="25400">
            <a:solidFill>
              <a:srgbClr val="5F6B85"/>
            </a:solidFill>
            <a:prstDash val="solid"/>
            <a:tailEnd type="triangle"/>
          </a:ln>
        </p:spPr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96BFFC88-8DFC-E509-066C-4052B5B88756}"/>
              </a:ext>
            </a:extLst>
          </p:cNvPr>
          <p:cNvSpPr txBox="1"/>
          <p:nvPr/>
        </p:nvSpPr>
        <p:spPr>
          <a:xfrm>
            <a:off x="1371600" y="24231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  <a:latin typeface="Rubik" panose="020B0604020202020204" charset="-79"/>
                <a:cs typeface="Rubik" panose="020B0604020202020204" charset="-79"/>
              </a:rPr>
              <a:t>product_id</a:t>
            </a:r>
            <a:endParaRPr lang="en-US" sz="1200" dirty="0"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E58E668A-6063-DA6F-DF3D-11BAFE4610D4}"/>
              </a:ext>
            </a:extLst>
          </p:cNvPr>
          <p:cNvSpPr txBox="1"/>
          <p:nvPr/>
        </p:nvSpPr>
        <p:spPr>
          <a:xfrm>
            <a:off x="2423160" y="24231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chemeClr val="accent2"/>
                </a:solidFill>
                <a:latin typeface="Rubik" panose="020B0604020202020204" charset="-79"/>
                <a:cs typeface="Rubik" panose="020B0604020202020204" charset="-79"/>
              </a:rPr>
              <a:t>branch_id</a:t>
            </a:r>
            <a:endParaRPr lang="en-US" sz="1200" dirty="0"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292BF3D7-CE0A-1889-AFB0-28D8969CFB06}"/>
              </a:ext>
            </a:extLst>
          </p:cNvPr>
          <p:cNvSpPr txBox="1"/>
          <p:nvPr/>
        </p:nvSpPr>
        <p:spPr>
          <a:xfrm>
            <a:off x="457200" y="4206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  <a:latin typeface="Rubik" panose="020B0604020202020204" charset="-79"/>
                <a:cs typeface="Rubik" panose="020B0604020202020204" charset="-79"/>
              </a:rPr>
              <a:t>LEFT JOIN: semua baris transaksi dipertahankan</a:t>
            </a:r>
            <a:endParaRPr lang="en-US" sz="1200" dirty="0"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14" name="CodeBox">
            <a:extLst>
              <a:ext uri="{FF2B5EF4-FFF2-40B4-BE49-F238E27FC236}">
                <a16:creationId xmlns:a16="http://schemas.microsoft.com/office/drawing/2014/main" id="{EEC1AD24-C69C-6C92-BE35-0914AF6F565A}"/>
              </a:ext>
            </a:extLst>
          </p:cNvPr>
          <p:cNvSpPr/>
          <p:nvPr/>
        </p:nvSpPr>
        <p:spPr>
          <a:xfrm>
            <a:off x="4389120" y="1280160"/>
            <a:ext cx="4297680" cy="1600200"/>
          </a:xfrm>
          <a:prstGeom prst="roundRect">
            <a:avLst>
              <a:gd name="adj" fmla="val 4571"/>
            </a:avLst>
          </a:prstGeom>
          <a:solidFill>
            <a:srgbClr val="0F1B3D"/>
          </a:solidFill>
          <a:ln/>
        </p:spPr>
      </p:sp>
      <p:sp>
        <p:nvSpPr>
          <p:cNvPr id="15" name="SQL JOIN">
            <a:extLst>
              <a:ext uri="{FF2B5EF4-FFF2-40B4-BE49-F238E27FC236}">
                <a16:creationId xmlns:a16="http://schemas.microsoft.com/office/drawing/2014/main" id="{F6F4EAF4-57A7-0539-A8FE-7DE3C2C59266}"/>
              </a:ext>
            </a:extLst>
          </p:cNvPr>
          <p:cNvSpPr txBox="1"/>
          <p:nvPr/>
        </p:nvSpPr>
        <p:spPr>
          <a:xfrm>
            <a:off x="4526280" y="1389888"/>
            <a:ext cx="402336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B868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FROM</a:t>
            </a:r>
            <a:r>
              <a:rPr lang="en-US" sz="1200" dirty="0">
                <a:solidFill>
                  <a:srgbClr val="FFFFFF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 </a:t>
            </a:r>
            <a:r>
              <a:rPr lang="en-US" sz="1200" dirty="0">
                <a:solidFill>
                  <a:srgbClr val="8FE3D0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`...kimia_farma.kf_final_transaction`</a:t>
            </a:r>
            <a:r>
              <a:rPr lang="en-US" sz="1200" dirty="0">
                <a:solidFill>
                  <a:srgbClr val="FFFFFF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 t</a:t>
            </a:r>
            <a:endParaRPr lang="en-US" sz="1200" dirty="0">
              <a:latin typeface="Rubik" panose="020B0604020202020204" charset="-79"/>
              <a:cs typeface="Rubik" panose="020B0604020202020204" charset="-79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FFB868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LEFT</a:t>
            </a:r>
            <a:r>
              <a:rPr lang="en-US" sz="1200" dirty="0">
                <a:solidFill>
                  <a:srgbClr val="FFFFFF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 </a:t>
            </a:r>
            <a:r>
              <a:rPr lang="en-US" sz="1200" dirty="0">
                <a:solidFill>
                  <a:srgbClr val="FFB868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JOIN</a:t>
            </a:r>
            <a:r>
              <a:rPr lang="en-US" sz="1200" dirty="0">
                <a:solidFill>
                  <a:srgbClr val="FFFFFF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 </a:t>
            </a:r>
            <a:r>
              <a:rPr lang="en-US" sz="1200" dirty="0">
                <a:solidFill>
                  <a:srgbClr val="8FE3D0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`...kimia_farma.kf_product`</a:t>
            </a:r>
            <a:r>
              <a:rPr lang="en-US" sz="1200" dirty="0">
                <a:solidFill>
                  <a:srgbClr val="FFFFFF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 p</a:t>
            </a:r>
            <a:endParaRPr lang="en-US" sz="1200" dirty="0">
              <a:latin typeface="Rubik" panose="020B0604020202020204" charset="-79"/>
              <a:cs typeface="Rubik" panose="020B0604020202020204" charset="-79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  </a:t>
            </a:r>
            <a:r>
              <a:rPr lang="en-US" sz="1200" dirty="0">
                <a:solidFill>
                  <a:srgbClr val="FFB868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ON</a:t>
            </a:r>
            <a:r>
              <a:rPr lang="en-US" sz="1200" dirty="0">
                <a:solidFill>
                  <a:srgbClr val="FFFFFF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 t.product_id = p.product_id</a:t>
            </a:r>
            <a:endParaRPr lang="en-US" sz="1200" dirty="0">
              <a:latin typeface="Rubik" panose="020B0604020202020204" charset="-79"/>
              <a:cs typeface="Rubik" panose="020B0604020202020204" charset="-79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FFB868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LEFT</a:t>
            </a:r>
            <a:r>
              <a:rPr lang="en-US" sz="1200" dirty="0">
                <a:solidFill>
                  <a:srgbClr val="FFFFFF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 </a:t>
            </a:r>
            <a:r>
              <a:rPr lang="en-US" sz="1200" dirty="0">
                <a:solidFill>
                  <a:srgbClr val="FFB868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JOIN</a:t>
            </a:r>
            <a:r>
              <a:rPr lang="en-US" sz="1200" dirty="0">
                <a:solidFill>
                  <a:srgbClr val="FFFFFF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 </a:t>
            </a:r>
            <a:r>
              <a:rPr lang="en-US" sz="1200" dirty="0">
                <a:solidFill>
                  <a:srgbClr val="8FE3D0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`...kimia_farma.kf_kantor_cabang`</a:t>
            </a:r>
            <a:r>
              <a:rPr lang="en-US" sz="1200" dirty="0">
                <a:solidFill>
                  <a:srgbClr val="FFFFFF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 c</a:t>
            </a:r>
            <a:endParaRPr lang="en-US" sz="1200" dirty="0">
              <a:latin typeface="Rubik" panose="020B0604020202020204" charset="-79"/>
              <a:cs typeface="Rubik" panose="020B0604020202020204" charset="-79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  </a:t>
            </a:r>
            <a:r>
              <a:rPr lang="en-US" sz="1200" dirty="0">
                <a:solidFill>
                  <a:srgbClr val="FFB868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ON</a:t>
            </a:r>
            <a:r>
              <a:rPr lang="en-US" sz="1200" dirty="0">
                <a:solidFill>
                  <a:srgbClr val="FFFFFF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 t.branch_id = c.branch_id;</a:t>
            </a:r>
            <a:endParaRPr lang="en-US" sz="1200" dirty="0"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18" name="Card">
            <a:extLst>
              <a:ext uri="{FF2B5EF4-FFF2-40B4-BE49-F238E27FC236}">
                <a16:creationId xmlns:a16="http://schemas.microsoft.com/office/drawing/2014/main" id="{45386094-E04E-46A2-4034-1B40484EEE32}"/>
              </a:ext>
            </a:extLst>
          </p:cNvPr>
          <p:cNvSpPr/>
          <p:nvPr/>
        </p:nvSpPr>
        <p:spPr>
          <a:xfrm>
            <a:off x="4389120" y="3108960"/>
            <a:ext cx="4297680" cy="1280160"/>
          </a:xfrm>
          <a:prstGeom prst="roundRect">
            <a:avLst>
              <a:gd name="adj" fmla="val 5714"/>
            </a:avLst>
          </a:prstGeom>
          <a:solidFill>
            <a:srgbClr val="01949E"/>
          </a:solidFill>
          <a:ln/>
        </p:spPr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F23A52D5-CF93-3287-8B6F-E433CBE44656}"/>
              </a:ext>
            </a:extLst>
          </p:cNvPr>
          <p:cNvSpPr txBox="1"/>
          <p:nvPr/>
        </p:nvSpPr>
        <p:spPr>
          <a:xfrm>
            <a:off x="4526280" y="320040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  <a:latin typeface="Rubik" panose="020B0604020202020204" charset="-79"/>
                <a:cs typeface="Rubik" panose="020B0604020202020204" charset="-79"/>
              </a:rPr>
              <a:t>Mengapa LEFT JOIN? </a:t>
            </a:r>
            <a:r>
              <a:rPr lang="en-US" sz="1200" dirty="0">
                <a:solidFill>
                  <a:schemeClr val="tx1"/>
                </a:solidFill>
                <a:latin typeface="Rubik" panose="020B0604020202020204" charset="-79"/>
                <a:cs typeface="Rubik" panose="020B0604020202020204" charset="-79"/>
              </a:rPr>
              <a:t>Transaksi tetap masuk ke tabel analisa walaupun data produk atau cabangnya tidak ditemukan, sehingga total tidak berkurang.</a:t>
            </a:r>
            <a:endParaRPr lang="en-US" sz="1200" dirty="0"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22A57825-C0BE-66D4-A8B6-D084A16D3B93}"/>
              </a:ext>
            </a:extLst>
          </p:cNvPr>
          <p:cNvSpPr txBox="1"/>
          <p:nvPr/>
        </p:nvSpPr>
        <p:spPr>
          <a:xfrm>
            <a:off x="2456614" y="324612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kf_kantor_cabang (c)</a:t>
            </a:r>
            <a:endParaRPr lang="en-US" sz="1200" dirty="0"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8" name="Google Shape;113;g265ee868302_0_99">
            <a:extLst>
              <a:ext uri="{FF2B5EF4-FFF2-40B4-BE49-F238E27FC236}">
                <a16:creationId xmlns:a16="http://schemas.microsoft.com/office/drawing/2014/main" id="{3E97E03B-9894-558A-0FE5-6B97AA4A34BD}"/>
              </a:ext>
            </a:extLst>
          </p:cNvPr>
          <p:cNvSpPr txBox="1"/>
          <p:nvPr/>
        </p:nvSpPr>
        <p:spPr>
          <a:xfrm>
            <a:off x="6940725" y="4626320"/>
            <a:ext cx="2203275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 dirty="0">
                <a:latin typeface="Rubik"/>
                <a:ea typeface="Rubik"/>
                <a:cs typeface="Rubik"/>
                <a:sym typeface="Rubik"/>
              </a:rPr>
              <a:t>BigQuery Syntax </a:t>
            </a:r>
            <a:r>
              <a:rPr lang="en" sz="1200" b="1" dirty="0">
                <a:latin typeface="Rubik"/>
                <a:ea typeface="Rubik"/>
                <a:cs typeface="Rubik"/>
                <a:sym typeface="Rubik"/>
                <a:hlinkClick r:id="rId5"/>
              </a:rPr>
              <a:t>here!</a:t>
            </a:r>
            <a:endParaRPr sz="1200" b="1" dirty="0">
              <a:latin typeface="Rubik"/>
              <a:ea typeface="Rubik"/>
              <a:cs typeface="Rubik"/>
              <a:sym typeface="Rubik"/>
            </a:endParaRPr>
          </a:p>
        </p:txBody>
      </p:sp>
    </p:spTree>
    <p:extLst>
      <p:ext uri="{BB962C8B-B14F-4D97-AF65-F5344CB8AC3E}">
        <p14:creationId xmlns:p14="http://schemas.microsoft.com/office/powerpoint/2010/main" val="40432195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g23ec2985a68_1_49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g23ec2985a68_1_49"/>
          <p:cNvPicPr preferRelativeResize="0"/>
          <p:nvPr/>
        </p:nvPicPr>
        <p:blipFill rotWithShape="1">
          <a:blip r:embed="rId4">
            <a:alphaModFix/>
          </a:blip>
          <a:srcRect t="5658" b="5649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g23ec2985a68_1_49"/>
          <p:cNvSpPr txBox="1"/>
          <p:nvPr/>
        </p:nvSpPr>
        <p:spPr>
          <a:xfrm>
            <a:off x="340500" y="429735"/>
            <a:ext cx="8463000" cy="600300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49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5715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</a:pPr>
            <a:r>
              <a:rPr lang="en-US" sz="2700" b="1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4. Hasil </a:t>
            </a:r>
            <a:r>
              <a:rPr lang="en-US" sz="2700" b="1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Analisis</a:t>
            </a:r>
            <a:endParaRPr sz="2700" b="1" i="0" u="none" strike="noStrike" cap="none" dirty="0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E6D75E4-7596-E041-3656-FA0F8B54EBC2}"/>
              </a:ext>
            </a:extLst>
          </p:cNvPr>
          <p:cNvSpPr txBox="1"/>
          <p:nvPr/>
        </p:nvSpPr>
        <p:spPr>
          <a:xfrm>
            <a:off x="340499" y="4770301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100" dirty="0">
                <a:solidFill>
                  <a:schemeClr val="accent2">
                    <a:lumMod val="75000"/>
                    <a:lumOff val="25000"/>
                  </a:schemeClr>
                </a:solidFill>
                <a:latin typeface="Rubik"/>
                <a:ea typeface="Rubik"/>
                <a:cs typeface="Rubik"/>
                <a:sym typeface="Rubik"/>
              </a:rPr>
              <a:t>Kimia </a:t>
            </a:r>
            <a:r>
              <a:rPr lang="en-ID" sz="1100" dirty="0" err="1">
                <a:solidFill>
                  <a:schemeClr val="accent2">
                    <a:lumMod val="75000"/>
                    <a:lumOff val="25000"/>
                  </a:schemeClr>
                </a:solidFill>
                <a:latin typeface="Rubik"/>
                <a:ea typeface="Rubik"/>
                <a:cs typeface="Rubik"/>
                <a:sym typeface="Rubik"/>
              </a:rPr>
              <a:t>Farma</a:t>
            </a:r>
            <a:r>
              <a:rPr lang="en-ID" sz="1100" dirty="0">
                <a:solidFill>
                  <a:schemeClr val="accent2">
                    <a:lumMod val="75000"/>
                    <a:lumOff val="25000"/>
                  </a:schemeClr>
                </a:solidFill>
                <a:latin typeface="Rubik"/>
                <a:ea typeface="Rubik"/>
                <a:cs typeface="Rubik"/>
                <a:sym typeface="Rubik"/>
              </a:rPr>
              <a:t> Performance Analytics 2020-2023</a:t>
            </a:r>
            <a:endParaRPr lang="en-ID" sz="1100" dirty="0">
              <a:solidFill>
                <a:schemeClr val="accent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7" name="Text 1">
            <a:extLst>
              <a:ext uri="{FF2B5EF4-FFF2-40B4-BE49-F238E27FC236}">
                <a16:creationId xmlns:a16="http://schemas.microsoft.com/office/drawing/2014/main" id="{639BE95A-812D-D512-F355-3C6A97D2D8A2}"/>
              </a:ext>
            </a:extLst>
          </p:cNvPr>
          <p:cNvSpPr txBox="1">
            <a:spLocks/>
          </p:cNvSpPr>
          <p:nvPr/>
        </p:nvSpPr>
        <p:spPr>
          <a:xfrm>
            <a:off x="2490834" y="827411"/>
            <a:ext cx="4162332" cy="472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b="1" dirty="0">
                <a:solidFill>
                  <a:srgbClr val="003C7B"/>
                </a:solidFill>
                <a:latin typeface="Rubik" panose="020B0604020202020204" charset="-79"/>
                <a:cs typeface="Rubik" panose="020B0604020202020204" charset="-79"/>
              </a:rPr>
              <a:t>(Preview Hasil </a:t>
            </a:r>
            <a:r>
              <a:rPr lang="en-US" b="1" dirty="0" err="1">
                <a:solidFill>
                  <a:srgbClr val="003C7B"/>
                </a:solidFill>
                <a:latin typeface="Rubik" panose="020B0604020202020204" charset="-79"/>
                <a:cs typeface="Rubik" panose="020B0604020202020204" charset="-79"/>
              </a:rPr>
              <a:t>Analisis</a:t>
            </a:r>
            <a:r>
              <a:rPr lang="en-US" b="1" dirty="0">
                <a:solidFill>
                  <a:srgbClr val="003C7B"/>
                </a:solidFill>
                <a:latin typeface="Rubik" panose="020B0604020202020204" charset="-79"/>
                <a:cs typeface="Rubik" panose="020B0604020202020204" charset="-79"/>
              </a:rPr>
              <a:t> (</a:t>
            </a:r>
            <a:r>
              <a:rPr lang="en-US" b="1" dirty="0" err="1">
                <a:solidFill>
                  <a:srgbClr val="003C7B"/>
                </a:solidFill>
                <a:latin typeface="Rubik" panose="020B0604020202020204" charset="-79"/>
                <a:cs typeface="Rubik" panose="020B0604020202020204" charset="-79"/>
              </a:rPr>
              <a:t>analysis_table_kf</a:t>
            </a:r>
            <a:r>
              <a:rPr lang="en-US" b="1" dirty="0">
                <a:solidFill>
                  <a:srgbClr val="003C7B"/>
                </a:solidFill>
                <a:latin typeface="Rubik" panose="020B0604020202020204" charset="-79"/>
                <a:cs typeface="Rubik" panose="020B0604020202020204" charset="-79"/>
              </a:rPr>
              <a:t>)</a:t>
            </a:r>
            <a:endParaRPr lang="en-US" dirty="0">
              <a:solidFill>
                <a:srgbClr val="003C7B"/>
              </a:solidFill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8" name="Frame">
            <a:extLst>
              <a:ext uri="{FF2B5EF4-FFF2-40B4-BE49-F238E27FC236}">
                <a16:creationId xmlns:a16="http://schemas.microsoft.com/office/drawing/2014/main" id="{5570C6A4-CB12-1D47-1B07-034E6C702869}"/>
              </a:ext>
            </a:extLst>
          </p:cNvPr>
          <p:cNvSpPr/>
          <p:nvPr/>
        </p:nvSpPr>
        <p:spPr>
          <a:xfrm>
            <a:off x="411480" y="1254337"/>
            <a:ext cx="5852160" cy="1489037"/>
          </a:xfrm>
          <a:prstGeom prst="roundRect">
            <a:avLst>
              <a:gd name="adj" fmla="val 3685"/>
            </a:avLst>
          </a:prstGeom>
          <a:solidFill>
            <a:srgbClr val="FFFFFF"/>
          </a:solidFill>
          <a:ln w="9525">
            <a:solidFill>
              <a:srgbClr val="D5DDEB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6" name="Image 0" descr="Preview analysis_table_kf bagian kiri">
            <a:extLst>
              <a:ext uri="{FF2B5EF4-FFF2-40B4-BE49-F238E27FC236}">
                <a16:creationId xmlns:a16="http://schemas.microsoft.com/office/drawing/2014/main" id="{2AB53CE7-B991-6FA4-4B62-07779A787F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300057"/>
            <a:ext cx="5760720" cy="1397597"/>
          </a:xfrm>
          <a:prstGeom prst="rect">
            <a:avLst/>
          </a:prstGeom>
        </p:spPr>
      </p:pic>
      <p:sp>
        <p:nvSpPr>
          <p:cNvPr id="20" name="Frame">
            <a:extLst>
              <a:ext uri="{FF2B5EF4-FFF2-40B4-BE49-F238E27FC236}">
                <a16:creationId xmlns:a16="http://schemas.microsoft.com/office/drawing/2014/main" id="{230BFE53-2854-CD1A-7677-F58875A2816A}"/>
              </a:ext>
            </a:extLst>
          </p:cNvPr>
          <p:cNvSpPr/>
          <p:nvPr/>
        </p:nvSpPr>
        <p:spPr>
          <a:xfrm>
            <a:off x="411480" y="2899621"/>
            <a:ext cx="5852160" cy="1718908"/>
          </a:xfrm>
          <a:prstGeom prst="roundRect">
            <a:avLst>
              <a:gd name="adj" fmla="val 3192"/>
            </a:avLst>
          </a:prstGeom>
          <a:solidFill>
            <a:srgbClr val="FFFFFF"/>
          </a:solidFill>
          <a:ln w="9525">
            <a:solidFill>
              <a:srgbClr val="D5DDEB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1" name="Image 1" descr="Preview analysis_table_kf bagian kanan">
            <a:extLst>
              <a:ext uri="{FF2B5EF4-FFF2-40B4-BE49-F238E27FC236}">
                <a16:creationId xmlns:a16="http://schemas.microsoft.com/office/drawing/2014/main" id="{C00A8E68-AEC7-06A0-B32A-47A3D16704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2945341"/>
            <a:ext cx="5760720" cy="1627468"/>
          </a:xfrm>
          <a:prstGeom prst="rect">
            <a:avLst/>
          </a:prstGeom>
        </p:spPr>
      </p:pic>
      <p:sp>
        <p:nvSpPr>
          <p:cNvPr id="23" name="Card">
            <a:extLst>
              <a:ext uri="{FF2B5EF4-FFF2-40B4-BE49-F238E27FC236}">
                <a16:creationId xmlns:a16="http://schemas.microsoft.com/office/drawing/2014/main" id="{4E7841FA-F379-AF4A-A29E-05D4169130FC}"/>
              </a:ext>
            </a:extLst>
          </p:cNvPr>
          <p:cNvSpPr/>
          <p:nvPr/>
        </p:nvSpPr>
        <p:spPr>
          <a:xfrm>
            <a:off x="6446520" y="1290195"/>
            <a:ext cx="2240280" cy="3337560"/>
          </a:xfrm>
          <a:prstGeom prst="roundRect">
            <a:avLst>
              <a:gd name="adj" fmla="val 3265"/>
            </a:avLst>
          </a:prstGeom>
          <a:solidFill>
            <a:srgbClr val="003C7B"/>
          </a:solidFill>
          <a:ln/>
        </p:spPr>
      </p:sp>
      <p:sp>
        <p:nvSpPr>
          <p:cNvPr id="24" name="Text 5">
            <a:extLst>
              <a:ext uri="{FF2B5EF4-FFF2-40B4-BE49-F238E27FC236}">
                <a16:creationId xmlns:a16="http://schemas.microsoft.com/office/drawing/2014/main" id="{6AE5BC5E-FB66-A152-A7DE-24737071A0D0}"/>
              </a:ext>
            </a:extLst>
          </p:cNvPr>
          <p:cNvSpPr txBox="1"/>
          <p:nvPr/>
        </p:nvSpPr>
        <p:spPr>
          <a:xfrm>
            <a:off x="6583680" y="1381635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FFB868"/>
                </a:solidFill>
                <a:latin typeface="Rubik" panose="020B0604020202020204" charset="-79"/>
                <a:cs typeface="Rubik" panose="020B0604020202020204" charset="-79"/>
              </a:rPr>
              <a:t>Contoh</a:t>
            </a:r>
            <a:r>
              <a:rPr lang="en-US" sz="1500" b="1" dirty="0">
                <a:solidFill>
                  <a:srgbClr val="FFB868"/>
                </a:solidFill>
                <a:latin typeface="Rubik" panose="020B0604020202020204" charset="-79"/>
                <a:cs typeface="Rubik" panose="020B0604020202020204" charset="-79"/>
              </a:rPr>
              <a:t> di baris 1</a:t>
            </a:r>
            <a:endParaRPr lang="en-US" sz="1500" dirty="0"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25" name="Text 6">
            <a:extLst>
              <a:ext uri="{FF2B5EF4-FFF2-40B4-BE49-F238E27FC236}">
                <a16:creationId xmlns:a16="http://schemas.microsoft.com/office/drawing/2014/main" id="{8925C7BF-15F3-817D-D362-9FEED7853056}"/>
              </a:ext>
            </a:extLst>
          </p:cNvPr>
          <p:cNvSpPr txBox="1"/>
          <p:nvPr/>
        </p:nvSpPr>
        <p:spPr>
          <a:xfrm>
            <a:off x="6583680" y="1793115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Rubik" panose="020B0604020202020204" charset="-79"/>
                <a:ea typeface="Cambria" pitchFamily="34" charset="-122"/>
                <a:cs typeface="Rubik" panose="020B0604020202020204" charset="-79"/>
              </a:rPr>
              <a:t>2.100</a:t>
            </a:r>
            <a:endParaRPr lang="en-US" sz="2000" dirty="0"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26" name="Text 7">
            <a:extLst>
              <a:ext uri="{FF2B5EF4-FFF2-40B4-BE49-F238E27FC236}">
                <a16:creationId xmlns:a16="http://schemas.microsoft.com/office/drawing/2014/main" id="{CA3C0D3F-2875-DB1E-F528-ECE26A26F3E4}"/>
              </a:ext>
            </a:extLst>
          </p:cNvPr>
          <p:cNvSpPr txBox="1"/>
          <p:nvPr/>
        </p:nvSpPr>
        <p:spPr>
          <a:xfrm>
            <a:off x="6583680" y="2122299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Rubik" panose="020B0604020202020204" charset="-79"/>
                <a:cs typeface="Rubik" panose="020B0604020202020204" charset="-79"/>
              </a:rPr>
              <a:t>actual_price</a:t>
            </a:r>
            <a:endParaRPr lang="en-US" sz="1400" dirty="0"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27" name="Text 8">
            <a:extLst>
              <a:ext uri="{FF2B5EF4-FFF2-40B4-BE49-F238E27FC236}">
                <a16:creationId xmlns:a16="http://schemas.microsoft.com/office/drawing/2014/main" id="{0B55DCF5-7BA7-DB8C-7904-13918C558C30}"/>
              </a:ext>
            </a:extLst>
          </p:cNvPr>
          <p:cNvSpPr txBox="1"/>
          <p:nvPr/>
        </p:nvSpPr>
        <p:spPr>
          <a:xfrm>
            <a:off x="6583680" y="2497203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Rubik" panose="020B0604020202020204" charset="-79"/>
                <a:ea typeface="Cambria" pitchFamily="34" charset="-122"/>
                <a:cs typeface="Rubik" panose="020B0604020202020204" charset="-79"/>
              </a:rPr>
              <a:t>0,15</a:t>
            </a:r>
            <a:endParaRPr lang="en-US" sz="2000" dirty="0"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28" name="Text 9">
            <a:extLst>
              <a:ext uri="{FF2B5EF4-FFF2-40B4-BE49-F238E27FC236}">
                <a16:creationId xmlns:a16="http://schemas.microsoft.com/office/drawing/2014/main" id="{21F96F15-397F-F36F-4BA6-546AD3EF5D27}"/>
              </a:ext>
            </a:extLst>
          </p:cNvPr>
          <p:cNvSpPr txBox="1"/>
          <p:nvPr/>
        </p:nvSpPr>
        <p:spPr>
          <a:xfrm>
            <a:off x="6583680" y="2826387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Rubik" panose="020B0604020202020204" charset="-79"/>
                <a:cs typeface="Rubik" panose="020B0604020202020204" charset="-79"/>
              </a:rPr>
              <a:t>discount_percentage</a:t>
            </a:r>
            <a:endParaRPr lang="en-US" sz="1400" dirty="0"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29" name="Text 10">
            <a:extLst>
              <a:ext uri="{FF2B5EF4-FFF2-40B4-BE49-F238E27FC236}">
                <a16:creationId xmlns:a16="http://schemas.microsoft.com/office/drawing/2014/main" id="{CA005DD0-06D2-A446-200A-3620738DBFC4}"/>
              </a:ext>
            </a:extLst>
          </p:cNvPr>
          <p:cNvSpPr txBox="1"/>
          <p:nvPr/>
        </p:nvSpPr>
        <p:spPr>
          <a:xfrm>
            <a:off x="6583680" y="3201291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Rubik" panose="020B0604020202020204" charset="-79"/>
                <a:ea typeface="Cambria" pitchFamily="34" charset="-122"/>
                <a:cs typeface="Rubik" panose="020B0604020202020204" charset="-79"/>
              </a:rPr>
              <a:t>2.096,85</a:t>
            </a:r>
            <a:endParaRPr lang="en-US" sz="2000" dirty="0"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30" name="Text 11">
            <a:extLst>
              <a:ext uri="{FF2B5EF4-FFF2-40B4-BE49-F238E27FC236}">
                <a16:creationId xmlns:a16="http://schemas.microsoft.com/office/drawing/2014/main" id="{41B29379-FB58-15FF-0CEB-8DED8F2B5F29}"/>
              </a:ext>
            </a:extLst>
          </p:cNvPr>
          <p:cNvSpPr txBox="1"/>
          <p:nvPr/>
        </p:nvSpPr>
        <p:spPr>
          <a:xfrm>
            <a:off x="6583680" y="3530475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Rubik" panose="020B0604020202020204" charset="-79"/>
                <a:cs typeface="Rubik" panose="020B0604020202020204" charset="-79"/>
              </a:rPr>
              <a:t>nett_sales</a:t>
            </a:r>
            <a:endParaRPr lang="en-US" sz="1400" dirty="0"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31" name="Text 12">
            <a:extLst>
              <a:ext uri="{FF2B5EF4-FFF2-40B4-BE49-F238E27FC236}">
                <a16:creationId xmlns:a16="http://schemas.microsoft.com/office/drawing/2014/main" id="{132D0E92-BA04-4775-2A0F-40B3B7F85D79}"/>
              </a:ext>
            </a:extLst>
          </p:cNvPr>
          <p:cNvSpPr txBox="1"/>
          <p:nvPr/>
        </p:nvSpPr>
        <p:spPr>
          <a:xfrm>
            <a:off x="6583680" y="3905379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Rubik" panose="020B0604020202020204" charset="-79"/>
                <a:ea typeface="Cambria" pitchFamily="34" charset="-122"/>
                <a:cs typeface="Rubik" panose="020B0604020202020204" charset="-79"/>
              </a:rPr>
              <a:t>209,685</a:t>
            </a:r>
            <a:endParaRPr lang="en-US" sz="2000" dirty="0"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32" name="Text 13">
            <a:extLst>
              <a:ext uri="{FF2B5EF4-FFF2-40B4-BE49-F238E27FC236}">
                <a16:creationId xmlns:a16="http://schemas.microsoft.com/office/drawing/2014/main" id="{E1B2D1C1-7E37-8845-5D5D-CB8EA79284E6}"/>
              </a:ext>
            </a:extLst>
          </p:cNvPr>
          <p:cNvSpPr txBox="1"/>
          <p:nvPr/>
        </p:nvSpPr>
        <p:spPr>
          <a:xfrm>
            <a:off x="6583680" y="4234563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Rubik" panose="020B0604020202020204" charset="-79"/>
                <a:cs typeface="Rubik" panose="020B0604020202020204" charset="-79"/>
              </a:rPr>
              <a:t>nett_profit (laba 10%)</a:t>
            </a:r>
            <a:endParaRPr lang="en-US" sz="1400" dirty="0">
              <a:latin typeface="Rubik" panose="020B0604020202020204" charset="-79"/>
              <a:cs typeface="Rubik" panose="020B060402020202020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3107811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g23ec2985a68_1_56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g23ec2985a68_1_56"/>
          <p:cNvPicPr preferRelativeResize="0"/>
          <p:nvPr/>
        </p:nvPicPr>
        <p:blipFill rotWithShape="1">
          <a:blip r:embed="rId4">
            <a:alphaModFix/>
          </a:blip>
          <a:srcRect t="5658" b="5649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g23ec2985a68_1_56"/>
          <p:cNvSpPr txBox="1"/>
          <p:nvPr/>
        </p:nvSpPr>
        <p:spPr>
          <a:xfrm>
            <a:off x="340500" y="385132"/>
            <a:ext cx="8463000" cy="600300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49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00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Rubik"/>
              <a:buAutoNum type="arabicPeriod" startAt="4"/>
            </a:pPr>
            <a:r>
              <a:rPr lang="en" sz="2700" b="1" dirty="0">
                <a:latin typeface="Rubik"/>
                <a:ea typeface="Rubik"/>
                <a:cs typeface="Rubik"/>
                <a:sym typeface="Rubik"/>
              </a:rPr>
              <a:t>Hasil Analisis</a:t>
            </a:r>
            <a:endParaRPr sz="2700" b="1" i="0" u="none" strike="noStrike" cap="none" dirty="0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00BAD27-005D-FB1F-F012-197512C61775}"/>
              </a:ext>
            </a:extLst>
          </p:cNvPr>
          <p:cNvSpPr txBox="1"/>
          <p:nvPr/>
        </p:nvSpPr>
        <p:spPr>
          <a:xfrm>
            <a:off x="340499" y="4770301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100" dirty="0">
                <a:solidFill>
                  <a:schemeClr val="accent2">
                    <a:lumMod val="75000"/>
                    <a:lumOff val="25000"/>
                  </a:schemeClr>
                </a:solidFill>
                <a:latin typeface="Rubik"/>
                <a:ea typeface="Rubik"/>
                <a:cs typeface="Rubik"/>
                <a:sym typeface="Rubik"/>
              </a:rPr>
              <a:t>Kimia </a:t>
            </a:r>
            <a:r>
              <a:rPr lang="en-ID" sz="1100" dirty="0" err="1">
                <a:solidFill>
                  <a:schemeClr val="accent2">
                    <a:lumMod val="75000"/>
                    <a:lumOff val="25000"/>
                  </a:schemeClr>
                </a:solidFill>
                <a:latin typeface="Rubik"/>
                <a:ea typeface="Rubik"/>
                <a:cs typeface="Rubik"/>
                <a:sym typeface="Rubik"/>
              </a:rPr>
              <a:t>Farma</a:t>
            </a:r>
            <a:r>
              <a:rPr lang="en-ID" sz="1100" dirty="0">
                <a:solidFill>
                  <a:schemeClr val="accent2">
                    <a:lumMod val="75000"/>
                    <a:lumOff val="25000"/>
                  </a:schemeClr>
                </a:solidFill>
                <a:latin typeface="Rubik"/>
                <a:ea typeface="Rubik"/>
                <a:cs typeface="Rubik"/>
                <a:sym typeface="Rubik"/>
              </a:rPr>
              <a:t> Performance Analytics 2020-2023</a:t>
            </a:r>
            <a:endParaRPr lang="en-ID" sz="1100" dirty="0">
              <a:solidFill>
                <a:schemeClr val="accent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Text 1">
            <a:extLst>
              <a:ext uri="{FF2B5EF4-FFF2-40B4-BE49-F238E27FC236}">
                <a16:creationId xmlns:a16="http://schemas.microsoft.com/office/drawing/2014/main" id="{2DBCFEA0-B96A-661E-1260-B620BD5E526A}"/>
              </a:ext>
            </a:extLst>
          </p:cNvPr>
          <p:cNvSpPr txBox="1">
            <a:spLocks/>
          </p:cNvSpPr>
          <p:nvPr/>
        </p:nvSpPr>
        <p:spPr>
          <a:xfrm>
            <a:off x="487902" y="802332"/>
            <a:ext cx="411353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 b="1" dirty="0" err="1">
                <a:solidFill>
                  <a:srgbClr val="003C7B"/>
                </a:solidFill>
                <a:latin typeface="Rubik" panose="020B0604020202020204" charset="-79"/>
                <a:cs typeface="Rubik" panose="020B0604020202020204" charset="-79"/>
              </a:rPr>
              <a:t>Ringkasan</a:t>
            </a:r>
            <a:r>
              <a:rPr lang="en-US" sz="1600" b="1" dirty="0">
                <a:solidFill>
                  <a:srgbClr val="003C7B"/>
                </a:solidFill>
                <a:latin typeface="Rubik" panose="020B0604020202020204" charset="-79"/>
                <a:cs typeface="Rubik" panose="020B0604020202020204" charset="-79"/>
              </a:rPr>
              <a:t> KPI: SUM, COUNT, AVG</a:t>
            </a:r>
            <a:endParaRPr lang="en-US" sz="1600" dirty="0">
              <a:solidFill>
                <a:srgbClr val="003C7B"/>
              </a:solidFill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41" name="Card">
            <a:extLst>
              <a:ext uri="{FF2B5EF4-FFF2-40B4-BE49-F238E27FC236}">
                <a16:creationId xmlns:a16="http://schemas.microsoft.com/office/drawing/2014/main" id="{5F2CB07D-CCFA-9362-4DDE-E58531993E4C}"/>
              </a:ext>
            </a:extLst>
          </p:cNvPr>
          <p:cNvSpPr/>
          <p:nvPr/>
        </p:nvSpPr>
        <p:spPr>
          <a:xfrm>
            <a:off x="457200" y="1277928"/>
            <a:ext cx="1920240" cy="1463040"/>
          </a:xfrm>
          <a:prstGeom prst="roundRect">
            <a:avLst>
              <a:gd name="adj" fmla="val 5000"/>
            </a:avLst>
          </a:prstGeom>
          <a:solidFill>
            <a:srgbClr val="01949E"/>
          </a:solidFill>
          <a:ln/>
        </p:spPr>
      </p:sp>
      <p:sp>
        <p:nvSpPr>
          <p:cNvPr id="42" name="Text 3">
            <a:extLst>
              <a:ext uri="{FF2B5EF4-FFF2-40B4-BE49-F238E27FC236}">
                <a16:creationId xmlns:a16="http://schemas.microsoft.com/office/drawing/2014/main" id="{DAB5003F-1CE4-3411-8B72-07D3D3647487}"/>
              </a:ext>
            </a:extLst>
          </p:cNvPr>
          <p:cNvSpPr txBox="1"/>
          <p:nvPr/>
        </p:nvSpPr>
        <p:spPr>
          <a:xfrm>
            <a:off x="566928" y="135108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EEEEE"/>
                </a:solidFill>
                <a:latin typeface="Rubik" panose="020B0604020202020204" charset="-79"/>
                <a:ea typeface="Cambria" pitchFamily="34" charset="-122"/>
                <a:cs typeface="Rubik" panose="020B0604020202020204" charset="-79"/>
              </a:rPr>
              <a:t>Rp98,54 M</a:t>
            </a:r>
            <a:endParaRPr lang="en-US" sz="2400" dirty="0">
              <a:solidFill>
                <a:srgbClr val="EEEEEE"/>
              </a:solidFill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43" name="Text 4">
            <a:extLst>
              <a:ext uri="{FF2B5EF4-FFF2-40B4-BE49-F238E27FC236}">
                <a16:creationId xmlns:a16="http://schemas.microsoft.com/office/drawing/2014/main" id="{7A03017F-94EA-07B8-C82F-FBEE74082145}"/>
              </a:ext>
            </a:extLst>
          </p:cNvPr>
          <p:cNvSpPr txBox="1"/>
          <p:nvPr/>
        </p:nvSpPr>
        <p:spPr>
          <a:xfrm>
            <a:off x="566928" y="1826568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Rubik" panose="020B0604020202020204" charset="-79"/>
                <a:cs typeface="Rubik" panose="020B0604020202020204" charset="-79"/>
              </a:rPr>
              <a:t>Total nett profit</a:t>
            </a:r>
            <a:endParaRPr lang="en-US" sz="1400" dirty="0"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44" name="Text 5">
            <a:extLst>
              <a:ext uri="{FF2B5EF4-FFF2-40B4-BE49-F238E27FC236}">
                <a16:creationId xmlns:a16="http://schemas.microsoft.com/office/drawing/2014/main" id="{5EE8775B-4719-BF91-A8A7-B486F1DFA08E}"/>
              </a:ext>
            </a:extLst>
          </p:cNvPr>
          <p:cNvSpPr txBox="1"/>
          <p:nvPr/>
        </p:nvSpPr>
        <p:spPr>
          <a:xfrm>
            <a:off x="566928" y="2420928"/>
            <a:ext cx="1700784" cy="256032"/>
          </a:xfrm>
          <a:prstGeom prst="rect">
            <a:avLst/>
          </a:prstGeom>
          <a:solidFill>
            <a:srgbClr val="01949E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SUM(nett_profit)</a:t>
            </a:r>
            <a:endParaRPr lang="en-US" sz="1000" dirty="0"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45" name="Card">
            <a:extLst>
              <a:ext uri="{FF2B5EF4-FFF2-40B4-BE49-F238E27FC236}">
                <a16:creationId xmlns:a16="http://schemas.microsoft.com/office/drawing/2014/main" id="{70E8D8D5-26B4-1F66-7D63-5150A76F075A}"/>
              </a:ext>
            </a:extLst>
          </p:cNvPr>
          <p:cNvSpPr/>
          <p:nvPr/>
        </p:nvSpPr>
        <p:spPr>
          <a:xfrm>
            <a:off x="2560320" y="1277928"/>
            <a:ext cx="1920240" cy="1463040"/>
          </a:xfrm>
          <a:prstGeom prst="roundRect">
            <a:avLst>
              <a:gd name="adj" fmla="val 5000"/>
            </a:avLst>
          </a:prstGeom>
          <a:solidFill>
            <a:srgbClr val="01949E"/>
          </a:solidFill>
          <a:ln/>
        </p:spPr>
      </p:sp>
      <p:sp>
        <p:nvSpPr>
          <p:cNvPr id="46" name="Text 7">
            <a:extLst>
              <a:ext uri="{FF2B5EF4-FFF2-40B4-BE49-F238E27FC236}">
                <a16:creationId xmlns:a16="http://schemas.microsoft.com/office/drawing/2014/main" id="{55CEA9E8-5735-8C77-3387-E7AC147782DB}"/>
              </a:ext>
            </a:extLst>
          </p:cNvPr>
          <p:cNvSpPr txBox="1"/>
          <p:nvPr/>
        </p:nvSpPr>
        <p:spPr>
          <a:xfrm>
            <a:off x="2658897" y="1351080"/>
            <a:ext cx="1821663" cy="457200"/>
          </a:xfrm>
          <a:prstGeom prst="rect">
            <a:avLst/>
          </a:prstGeom>
          <a:solidFill>
            <a:srgbClr val="01949E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chemeClr val="tx2"/>
                </a:solidFill>
                <a:latin typeface="Rubik" panose="020B0604020202020204" charset="-79"/>
                <a:ea typeface="Cambria" pitchFamily="34" charset="-122"/>
                <a:cs typeface="Rubik" panose="020B0604020202020204" charset="-79"/>
              </a:rPr>
              <a:t>Rp346,96 M</a:t>
            </a:r>
            <a:endParaRPr lang="en-US" sz="2300" dirty="0"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47" name="Text 8">
            <a:extLst>
              <a:ext uri="{FF2B5EF4-FFF2-40B4-BE49-F238E27FC236}">
                <a16:creationId xmlns:a16="http://schemas.microsoft.com/office/drawing/2014/main" id="{1EC0D3E3-E627-53A6-8E5D-1E6A825DE0B5}"/>
              </a:ext>
            </a:extLst>
          </p:cNvPr>
          <p:cNvSpPr txBox="1"/>
          <p:nvPr/>
        </p:nvSpPr>
        <p:spPr>
          <a:xfrm>
            <a:off x="2658897" y="1826568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Rubik" panose="020B0604020202020204" charset="-79"/>
                <a:cs typeface="Rubik" panose="020B0604020202020204" charset="-79"/>
              </a:rPr>
              <a:t>Total nett sales</a:t>
            </a:r>
            <a:endParaRPr lang="en-US" sz="1400" dirty="0"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48" name="Text 9">
            <a:extLst>
              <a:ext uri="{FF2B5EF4-FFF2-40B4-BE49-F238E27FC236}">
                <a16:creationId xmlns:a16="http://schemas.microsoft.com/office/drawing/2014/main" id="{C738E434-11EA-B606-675D-B03F966CEDCE}"/>
              </a:ext>
            </a:extLst>
          </p:cNvPr>
          <p:cNvSpPr txBox="1"/>
          <p:nvPr/>
        </p:nvSpPr>
        <p:spPr>
          <a:xfrm>
            <a:off x="2670048" y="2420928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SUM(nett_sales)</a:t>
            </a:r>
            <a:endParaRPr lang="en-US" sz="1000" dirty="0"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49" name="Card">
            <a:extLst>
              <a:ext uri="{FF2B5EF4-FFF2-40B4-BE49-F238E27FC236}">
                <a16:creationId xmlns:a16="http://schemas.microsoft.com/office/drawing/2014/main" id="{20D1514C-7637-3704-4F7B-AB593B5178A8}"/>
              </a:ext>
            </a:extLst>
          </p:cNvPr>
          <p:cNvSpPr/>
          <p:nvPr/>
        </p:nvSpPr>
        <p:spPr>
          <a:xfrm>
            <a:off x="4663440" y="1277928"/>
            <a:ext cx="1920240" cy="1463040"/>
          </a:xfrm>
          <a:prstGeom prst="roundRect">
            <a:avLst>
              <a:gd name="adj" fmla="val 5000"/>
            </a:avLst>
          </a:prstGeom>
          <a:solidFill>
            <a:srgbClr val="01949E"/>
          </a:solidFill>
          <a:ln/>
        </p:spPr>
      </p:sp>
      <p:sp>
        <p:nvSpPr>
          <p:cNvPr id="50" name="Text 11">
            <a:extLst>
              <a:ext uri="{FF2B5EF4-FFF2-40B4-BE49-F238E27FC236}">
                <a16:creationId xmlns:a16="http://schemas.microsoft.com/office/drawing/2014/main" id="{21C13A51-B0BB-CE5F-E802-9AE6C59A3740}"/>
              </a:ext>
            </a:extLst>
          </p:cNvPr>
          <p:cNvSpPr txBox="1"/>
          <p:nvPr/>
        </p:nvSpPr>
        <p:spPr>
          <a:xfrm>
            <a:off x="4773168" y="1351080"/>
            <a:ext cx="1700784" cy="457200"/>
          </a:xfrm>
          <a:prstGeom prst="rect">
            <a:avLst/>
          </a:prstGeom>
          <a:solidFill>
            <a:srgbClr val="01949E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  <a:latin typeface="Rubik" panose="020B0604020202020204" charset="-79"/>
                <a:ea typeface="Cambria" pitchFamily="34" charset="-122"/>
                <a:cs typeface="Rubik" panose="020B0604020202020204" charset="-79"/>
              </a:rPr>
              <a:t>672.458</a:t>
            </a:r>
            <a:endParaRPr lang="en-US" sz="2400" dirty="0"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51" name="Text 12">
            <a:extLst>
              <a:ext uri="{FF2B5EF4-FFF2-40B4-BE49-F238E27FC236}">
                <a16:creationId xmlns:a16="http://schemas.microsoft.com/office/drawing/2014/main" id="{1B0213DA-33C8-8F44-188F-5AE7350681FB}"/>
              </a:ext>
            </a:extLst>
          </p:cNvPr>
          <p:cNvSpPr txBox="1"/>
          <p:nvPr/>
        </p:nvSpPr>
        <p:spPr>
          <a:xfrm>
            <a:off x="4773168" y="1826568"/>
            <a:ext cx="1700784" cy="548640"/>
          </a:xfrm>
          <a:prstGeom prst="rect">
            <a:avLst/>
          </a:prstGeom>
          <a:solidFill>
            <a:srgbClr val="01949E"/>
          </a:solidFill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Rubik" panose="020B0604020202020204" charset="-79"/>
                <a:cs typeface="Rubik" panose="020B0604020202020204" charset="-79"/>
              </a:rPr>
              <a:t>Total transaksi</a:t>
            </a:r>
            <a:endParaRPr lang="en-US" sz="1400" dirty="0"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52" name="Text 13">
            <a:extLst>
              <a:ext uri="{FF2B5EF4-FFF2-40B4-BE49-F238E27FC236}">
                <a16:creationId xmlns:a16="http://schemas.microsoft.com/office/drawing/2014/main" id="{7A1242EA-C75C-02EF-A7DA-5ED53305135E}"/>
              </a:ext>
            </a:extLst>
          </p:cNvPr>
          <p:cNvSpPr txBox="1"/>
          <p:nvPr/>
        </p:nvSpPr>
        <p:spPr>
          <a:xfrm>
            <a:off x="4773168" y="2420928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COUNT(transaction_id)</a:t>
            </a:r>
            <a:endParaRPr lang="en-US" sz="1000" dirty="0"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53" name="Card">
            <a:extLst>
              <a:ext uri="{FF2B5EF4-FFF2-40B4-BE49-F238E27FC236}">
                <a16:creationId xmlns:a16="http://schemas.microsoft.com/office/drawing/2014/main" id="{3017F84D-6C73-D3FF-28AB-6C7CB1383F7A}"/>
              </a:ext>
            </a:extLst>
          </p:cNvPr>
          <p:cNvSpPr/>
          <p:nvPr/>
        </p:nvSpPr>
        <p:spPr>
          <a:xfrm>
            <a:off x="6766560" y="1277928"/>
            <a:ext cx="1920240" cy="1463040"/>
          </a:xfrm>
          <a:prstGeom prst="roundRect">
            <a:avLst>
              <a:gd name="adj" fmla="val 5000"/>
            </a:avLst>
          </a:prstGeom>
          <a:solidFill>
            <a:srgbClr val="01949E"/>
          </a:solidFill>
          <a:ln/>
        </p:spPr>
      </p:sp>
      <p:sp>
        <p:nvSpPr>
          <p:cNvPr id="54" name="Text 15">
            <a:extLst>
              <a:ext uri="{FF2B5EF4-FFF2-40B4-BE49-F238E27FC236}">
                <a16:creationId xmlns:a16="http://schemas.microsoft.com/office/drawing/2014/main" id="{7395A433-A661-610B-2243-15EB5A7AD716}"/>
              </a:ext>
            </a:extLst>
          </p:cNvPr>
          <p:cNvSpPr txBox="1"/>
          <p:nvPr/>
        </p:nvSpPr>
        <p:spPr>
          <a:xfrm>
            <a:off x="6876288" y="135108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  <a:latin typeface="Rubik" panose="020B0604020202020204" charset="-79"/>
                <a:ea typeface="Cambria" pitchFamily="34" charset="-122"/>
                <a:cs typeface="Rubik" panose="020B0604020202020204" charset="-79"/>
              </a:rPr>
              <a:t>264.601</a:t>
            </a:r>
            <a:endParaRPr lang="en-US" sz="2400" dirty="0"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55" name="Text 16">
            <a:extLst>
              <a:ext uri="{FF2B5EF4-FFF2-40B4-BE49-F238E27FC236}">
                <a16:creationId xmlns:a16="http://schemas.microsoft.com/office/drawing/2014/main" id="{4E49FB90-0066-8955-FFD3-FCE7A59533A9}"/>
              </a:ext>
            </a:extLst>
          </p:cNvPr>
          <p:cNvSpPr txBox="1"/>
          <p:nvPr/>
        </p:nvSpPr>
        <p:spPr>
          <a:xfrm>
            <a:off x="6876288" y="1826568"/>
            <a:ext cx="1700784" cy="548640"/>
          </a:xfrm>
          <a:prstGeom prst="rect">
            <a:avLst/>
          </a:prstGeom>
          <a:solidFill>
            <a:srgbClr val="01949E"/>
          </a:solidFill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Rubik" panose="020B0604020202020204" charset="-79"/>
                <a:cs typeface="Rubik" panose="020B0604020202020204" charset="-79"/>
              </a:rPr>
              <a:t>Total customer</a:t>
            </a:r>
            <a:endParaRPr lang="en-US" sz="1400" dirty="0"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56" name="Text 17">
            <a:extLst>
              <a:ext uri="{FF2B5EF4-FFF2-40B4-BE49-F238E27FC236}">
                <a16:creationId xmlns:a16="http://schemas.microsoft.com/office/drawing/2014/main" id="{170DE35F-3842-AD18-C19A-94D136FC669B}"/>
              </a:ext>
            </a:extLst>
          </p:cNvPr>
          <p:cNvSpPr txBox="1"/>
          <p:nvPr/>
        </p:nvSpPr>
        <p:spPr>
          <a:xfrm>
            <a:off x="6876288" y="2420928"/>
            <a:ext cx="1700784" cy="256032"/>
          </a:xfrm>
          <a:prstGeom prst="rect">
            <a:avLst/>
          </a:prstGeom>
          <a:solidFill>
            <a:srgbClr val="01949E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COUNT(DISTINCT customer_name)</a:t>
            </a:r>
            <a:endParaRPr lang="en-US" sz="1000" dirty="0"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57" name="Card">
            <a:extLst>
              <a:ext uri="{FF2B5EF4-FFF2-40B4-BE49-F238E27FC236}">
                <a16:creationId xmlns:a16="http://schemas.microsoft.com/office/drawing/2014/main" id="{5891640C-37C2-06F5-7815-D6691B55AFAB}"/>
              </a:ext>
            </a:extLst>
          </p:cNvPr>
          <p:cNvSpPr/>
          <p:nvPr/>
        </p:nvSpPr>
        <p:spPr>
          <a:xfrm>
            <a:off x="457200" y="2878128"/>
            <a:ext cx="1920240" cy="1463040"/>
          </a:xfrm>
          <a:prstGeom prst="roundRect">
            <a:avLst>
              <a:gd name="adj" fmla="val 5000"/>
            </a:avLst>
          </a:prstGeom>
          <a:solidFill>
            <a:srgbClr val="01949E"/>
          </a:solidFill>
          <a:ln/>
        </p:spPr>
      </p:sp>
      <p:sp>
        <p:nvSpPr>
          <p:cNvPr id="58" name="Text 19">
            <a:extLst>
              <a:ext uri="{FF2B5EF4-FFF2-40B4-BE49-F238E27FC236}">
                <a16:creationId xmlns:a16="http://schemas.microsoft.com/office/drawing/2014/main" id="{54A5A515-BAEA-A3F3-F4FA-DB4CC35D7B9C}"/>
              </a:ext>
            </a:extLst>
          </p:cNvPr>
          <p:cNvSpPr txBox="1"/>
          <p:nvPr/>
        </p:nvSpPr>
        <p:spPr>
          <a:xfrm>
            <a:off x="566928" y="295128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  <a:latin typeface="Rubik" panose="020B0604020202020204" charset="-79"/>
                <a:ea typeface="Cambria" pitchFamily="34" charset="-122"/>
                <a:cs typeface="Rubik" panose="020B0604020202020204" charset="-79"/>
              </a:rPr>
              <a:t>Rp516 rb</a:t>
            </a:r>
            <a:endParaRPr lang="en-US" sz="2400" dirty="0"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59" name="Text 20">
            <a:extLst>
              <a:ext uri="{FF2B5EF4-FFF2-40B4-BE49-F238E27FC236}">
                <a16:creationId xmlns:a16="http://schemas.microsoft.com/office/drawing/2014/main" id="{041CF8AF-477E-D355-9F02-246E9AF646EF}"/>
              </a:ext>
            </a:extLst>
          </p:cNvPr>
          <p:cNvSpPr txBox="1"/>
          <p:nvPr/>
        </p:nvSpPr>
        <p:spPr>
          <a:xfrm>
            <a:off x="566928" y="3426768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Rubik" panose="020B0604020202020204" charset="-79"/>
                <a:cs typeface="Rubik" panose="020B0604020202020204" charset="-79"/>
              </a:rPr>
              <a:t>Rata-rata nett sales per transaksi</a:t>
            </a:r>
            <a:endParaRPr lang="en-US" sz="1400" dirty="0"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60" name="Text 21">
            <a:extLst>
              <a:ext uri="{FF2B5EF4-FFF2-40B4-BE49-F238E27FC236}">
                <a16:creationId xmlns:a16="http://schemas.microsoft.com/office/drawing/2014/main" id="{CAB70182-B3C2-CEC6-A8AD-A6F6BB3C935B}"/>
              </a:ext>
            </a:extLst>
          </p:cNvPr>
          <p:cNvSpPr txBox="1"/>
          <p:nvPr/>
        </p:nvSpPr>
        <p:spPr>
          <a:xfrm>
            <a:off x="566928" y="4021128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AVG(nett_sales)</a:t>
            </a:r>
            <a:endParaRPr lang="en-US" sz="1000" dirty="0"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61" name="Card">
            <a:extLst>
              <a:ext uri="{FF2B5EF4-FFF2-40B4-BE49-F238E27FC236}">
                <a16:creationId xmlns:a16="http://schemas.microsoft.com/office/drawing/2014/main" id="{7942522F-BB1C-E747-3FF9-6EA0287819CF}"/>
              </a:ext>
            </a:extLst>
          </p:cNvPr>
          <p:cNvSpPr/>
          <p:nvPr/>
        </p:nvSpPr>
        <p:spPr>
          <a:xfrm>
            <a:off x="2560320" y="2878128"/>
            <a:ext cx="1920240" cy="1463040"/>
          </a:xfrm>
          <a:prstGeom prst="roundRect">
            <a:avLst>
              <a:gd name="adj" fmla="val 5000"/>
            </a:avLst>
          </a:prstGeom>
          <a:solidFill>
            <a:srgbClr val="01949E"/>
          </a:solidFill>
          <a:ln/>
        </p:spPr>
      </p:sp>
      <p:sp>
        <p:nvSpPr>
          <p:cNvPr id="62" name="Text 23">
            <a:extLst>
              <a:ext uri="{FF2B5EF4-FFF2-40B4-BE49-F238E27FC236}">
                <a16:creationId xmlns:a16="http://schemas.microsoft.com/office/drawing/2014/main" id="{D131A609-29E7-EC4C-CCD2-2118AF0DE6A2}"/>
              </a:ext>
            </a:extLst>
          </p:cNvPr>
          <p:cNvSpPr txBox="1"/>
          <p:nvPr/>
        </p:nvSpPr>
        <p:spPr>
          <a:xfrm>
            <a:off x="2670048" y="295128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  <a:latin typeface="Rubik" panose="020B0604020202020204" charset="-79"/>
                <a:ea typeface="Cambria" pitchFamily="34" charset="-122"/>
                <a:cs typeface="Rubik" panose="020B0604020202020204" charset="-79"/>
              </a:rPr>
              <a:t>Rp146,5 rb</a:t>
            </a:r>
            <a:endParaRPr lang="en-US" sz="2400" dirty="0"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63" name="Text 24">
            <a:extLst>
              <a:ext uri="{FF2B5EF4-FFF2-40B4-BE49-F238E27FC236}">
                <a16:creationId xmlns:a16="http://schemas.microsoft.com/office/drawing/2014/main" id="{40BED9D6-FBE9-0202-E989-788EAE8D7EA2}"/>
              </a:ext>
            </a:extLst>
          </p:cNvPr>
          <p:cNvSpPr txBox="1"/>
          <p:nvPr/>
        </p:nvSpPr>
        <p:spPr>
          <a:xfrm>
            <a:off x="2670048" y="3426768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Rubik" panose="020B0604020202020204" charset="-79"/>
                <a:cs typeface="Rubik" panose="020B0604020202020204" charset="-79"/>
              </a:rPr>
              <a:t>Rata-rata nett profit per transaksi</a:t>
            </a:r>
            <a:endParaRPr lang="en-US" sz="1400" dirty="0"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128" name="Text 25">
            <a:extLst>
              <a:ext uri="{FF2B5EF4-FFF2-40B4-BE49-F238E27FC236}">
                <a16:creationId xmlns:a16="http://schemas.microsoft.com/office/drawing/2014/main" id="{9E0DEC6F-861F-8EDF-E266-E6B36D9E15A1}"/>
              </a:ext>
            </a:extLst>
          </p:cNvPr>
          <p:cNvSpPr txBox="1"/>
          <p:nvPr/>
        </p:nvSpPr>
        <p:spPr>
          <a:xfrm>
            <a:off x="2670048" y="4021128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AVG(nett_profit)</a:t>
            </a:r>
            <a:endParaRPr lang="en-US" sz="1000" dirty="0"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129" name="Card">
            <a:extLst>
              <a:ext uri="{FF2B5EF4-FFF2-40B4-BE49-F238E27FC236}">
                <a16:creationId xmlns:a16="http://schemas.microsoft.com/office/drawing/2014/main" id="{C3B9E923-D37A-10BE-328B-E355BEEAE9D9}"/>
              </a:ext>
            </a:extLst>
          </p:cNvPr>
          <p:cNvSpPr/>
          <p:nvPr/>
        </p:nvSpPr>
        <p:spPr>
          <a:xfrm>
            <a:off x="4663440" y="2878128"/>
            <a:ext cx="1920240" cy="1463040"/>
          </a:xfrm>
          <a:prstGeom prst="roundRect">
            <a:avLst>
              <a:gd name="adj" fmla="val 5000"/>
            </a:avLst>
          </a:prstGeom>
          <a:solidFill>
            <a:srgbClr val="01949E"/>
          </a:solidFill>
          <a:ln/>
        </p:spPr>
      </p:sp>
      <p:sp>
        <p:nvSpPr>
          <p:cNvPr id="130" name="Text 27">
            <a:extLst>
              <a:ext uri="{FF2B5EF4-FFF2-40B4-BE49-F238E27FC236}">
                <a16:creationId xmlns:a16="http://schemas.microsoft.com/office/drawing/2014/main" id="{03C297C1-1BF7-3CB7-A491-8597F0ADD447}"/>
              </a:ext>
            </a:extLst>
          </p:cNvPr>
          <p:cNvSpPr txBox="1"/>
          <p:nvPr/>
        </p:nvSpPr>
        <p:spPr>
          <a:xfrm>
            <a:off x="4773168" y="295128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  <a:latin typeface="Rubik" panose="020B0604020202020204" charset="-79"/>
                <a:ea typeface="Cambria" pitchFamily="34" charset="-122"/>
                <a:cs typeface="Rubik" panose="020B0604020202020204" charset="-79"/>
              </a:rPr>
              <a:t>28,4%</a:t>
            </a:r>
            <a:endParaRPr lang="en-US" sz="2400" dirty="0"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131" name="Text 28">
            <a:extLst>
              <a:ext uri="{FF2B5EF4-FFF2-40B4-BE49-F238E27FC236}">
                <a16:creationId xmlns:a16="http://schemas.microsoft.com/office/drawing/2014/main" id="{3AFF79B3-52D7-6B65-50C8-52FB62F90E29}"/>
              </a:ext>
            </a:extLst>
          </p:cNvPr>
          <p:cNvSpPr txBox="1"/>
          <p:nvPr/>
        </p:nvSpPr>
        <p:spPr>
          <a:xfrm>
            <a:off x="4773168" y="3426768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Rubik" panose="020B0604020202020204" charset="-79"/>
                <a:cs typeface="Rubik" panose="020B0604020202020204" charset="-79"/>
              </a:rPr>
              <a:t>Margin profit (profit / sales)</a:t>
            </a:r>
            <a:endParaRPr lang="en-US" sz="1400" dirty="0"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132" name="Text 29">
            <a:extLst>
              <a:ext uri="{FF2B5EF4-FFF2-40B4-BE49-F238E27FC236}">
                <a16:creationId xmlns:a16="http://schemas.microsoft.com/office/drawing/2014/main" id="{003B5B37-7E59-740F-A204-A6C3A6E7B9C7}"/>
              </a:ext>
            </a:extLst>
          </p:cNvPr>
          <p:cNvSpPr txBox="1"/>
          <p:nvPr/>
        </p:nvSpPr>
        <p:spPr>
          <a:xfrm>
            <a:off x="4773168" y="4021128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SUM(profit) / SUM(sales)</a:t>
            </a:r>
            <a:endParaRPr lang="en-US" sz="1000" dirty="0"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133" name="Card">
            <a:extLst>
              <a:ext uri="{FF2B5EF4-FFF2-40B4-BE49-F238E27FC236}">
                <a16:creationId xmlns:a16="http://schemas.microsoft.com/office/drawing/2014/main" id="{343BEEC1-0028-D45A-0EB0-528EC20A72E8}"/>
              </a:ext>
            </a:extLst>
          </p:cNvPr>
          <p:cNvSpPr/>
          <p:nvPr/>
        </p:nvSpPr>
        <p:spPr>
          <a:xfrm>
            <a:off x="6766560" y="2878128"/>
            <a:ext cx="1920240" cy="1463040"/>
          </a:xfrm>
          <a:prstGeom prst="roundRect">
            <a:avLst>
              <a:gd name="adj" fmla="val 5000"/>
            </a:avLst>
          </a:prstGeom>
          <a:solidFill>
            <a:srgbClr val="01949E"/>
          </a:solidFill>
          <a:ln/>
        </p:spPr>
      </p:sp>
      <p:sp>
        <p:nvSpPr>
          <p:cNvPr id="134" name="Text 31">
            <a:extLst>
              <a:ext uri="{FF2B5EF4-FFF2-40B4-BE49-F238E27FC236}">
                <a16:creationId xmlns:a16="http://schemas.microsoft.com/office/drawing/2014/main" id="{48C39AD6-F269-3E53-379A-76ACA09DC827}"/>
              </a:ext>
            </a:extLst>
          </p:cNvPr>
          <p:cNvSpPr txBox="1"/>
          <p:nvPr/>
        </p:nvSpPr>
        <p:spPr>
          <a:xfrm>
            <a:off x="6876288" y="295128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  <a:latin typeface="Rubik" panose="020B0604020202020204" charset="-79"/>
                <a:ea typeface="Cambria" pitchFamily="34" charset="-122"/>
                <a:cs typeface="Rubik" panose="020B0604020202020204" charset="-79"/>
              </a:rPr>
              <a:t>2,5x</a:t>
            </a:r>
            <a:endParaRPr lang="en-US" sz="2400" dirty="0"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135" name="Text 32">
            <a:extLst>
              <a:ext uri="{FF2B5EF4-FFF2-40B4-BE49-F238E27FC236}">
                <a16:creationId xmlns:a16="http://schemas.microsoft.com/office/drawing/2014/main" id="{9C55D068-8DAC-67FA-787B-0E00D7682E06}"/>
              </a:ext>
            </a:extLst>
          </p:cNvPr>
          <p:cNvSpPr txBox="1"/>
          <p:nvPr/>
        </p:nvSpPr>
        <p:spPr>
          <a:xfrm>
            <a:off x="6876288" y="3426768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Rubik" panose="020B0604020202020204" charset="-79"/>
                <a:cs typeface="Rubik" panose="020B0604020202020204" charset="-79"/>
              </a:rPr>
              <a:t>Transaksi per customer</a:t>
            </a:r>
            <a:endParaRPr lang="en-US" sz="1400" dirty="0"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136" name="Text 33">
            <a:extLst>
              <a:ext uri="{FF2B5EF4-FFF2-40B4-BE49-F238E27FC236}">
                <a16:creationId xmlns:a16="http://schemas.microsoft.com/office/drawing/2014/main" id="{D90A23CA-1E84-0EDE-8A71-9553E9EE1442}"/>
              </a:ext>
            </a:extLst>
          </p:cNvPr>
          <p:cNvSpPr txBox="1"/>
          <p:nvPr/>
        </p:nvSpPr>
        <p:spPr>
          <a:xfrm>
            <a:off x="6876288" y="4021128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  <a:latin typeface="Rubik" panose="020B0604020202020204" charset="-79"/>
                <a:ea typeface="Courier New" pitchFamily="34" charset="-122"/>
                <a:cs typeface="Rubik" panose="020B0604020202020204" charset="-79"/>
              </a:rPr>
              <a:t>COUNT(trx) / COUNT(cust)</a:t>
            </a:r>
            <a:endParaRPr lang="en-US" sz="1000" dirty="0"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137" name="Text 34">
            <a:extLst>
              <a:ext uri="{FF2B5EF4-FFF2-40B4-BE49-F238E27FC236}">
                <a16:creationId xmlns:a16="http://schemas.microsoft.com/office/drawing/2014/main" id="{B2178158-9706-86A2-9132-1FB98A1EC5C1}"/>
              </a:ext>
            </a:extLst>
          </p:cNvPr>
          <p:cNvSpPr txBox="1"/>
          <p:nvPr/>
        </p:nvSpPr>
        <p:spPr>
          <a:xfrm>
            <a:off x="457200" y="443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3C7B"/>
                </a:solidFill>
                <a:latin typeface="Rubik" panose="020B0604020202020204" charset="-79"/>
                <a:cs typeface="Rubik" panose="020B0604020202020204" charset="-79"/>
              </a:rPr>
              <a:t>M = miliar rupiah (notasi Looker Studio), rb = ribu. Baris bawah dihitung dari angka dashboard di atas.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g23ec2985a68_1_56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g23ec2985a68_1_56"/>
          <p:cNvPicPr preferRelativeResize="0"/>
          <p:nvPr/>
        </p:nvPicPr>
        <p:blipFill rotWithShape="1">
          <a:blip r:embed="rId4">
            <a:alphaModFix/>
          </a:blip>
          <a:srcRect t="5658" b="5649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97CF9EE-CC35-3EF7-752C-D19469E2935E}"/>
              </a:ext>
            </a:extLst>
          </p:cNvPr>
          <p:cNvSpPr txBox="1"/>
          <p:nvPr/>
        </p:nvSpPr>
        <p:spPr>
          <a:xfrm>
            <a:off x="426498" y="628832"/>
            <a:ext cx="72869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b="1" dirty="0"/>
              <a:t>Link Dashboard </a:t>
            </a:r>
            <a:r>
              <a:rPr lang="en-ID" b="1" dirty="0">
                <a:hlinkClick r:id="rId5"/>
              </a:rPr>
              <a:t>here!</a:t>
            </a:r>
            <a:endParaRPr lang="en-ID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5B303C-BB28-D8B2-047F-BD7D10A381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50950" y="936609"/>
            <a:ext cx="3384665" cy="1882828"/>
          </a:xfrm>
          <a:prstGeom prst="rect">
            <a:avLst/>
          </a:prstGeom>
        </p:spPr>
      </p:pic>
      <p:pic>
        <p:nvPicPr>
          <p:cNvPr id="5" name="Picture 4" descr="A screenshot of a computer dashboard&#10;&#10;Description automatically generated">
            <a:extLst>
              <a:ext uri="{FF2B5EF4-FFF2-40B4-BE49-F238E27FC236}">
                <a16:creationId xmlns:a16="http://schemas.microsoft.com/office/drawing/2014/main" id="{CE66EE89-9C2B-25A0-FDEF-755F0E89D9F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79244" y="2905978"/>
            <a:ext cx="3377937" cy="188282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00BAD27-005D-FB1F-F012-197512C61775}"/>
              </a:ext>
            </a:extLst>
          </p:cNvPr>
          <p:cNvSpPr txBox="1"/>
          <p:nvPr/>
        </p:nvSpPr>
        <p:spPr>
          <a:xfrm>
            <a:off x="340499" y="4770301"/>
            <a:ext cx="398927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100" dirty="0">
                <a:solidFill>
                  <a:schemeClr val="accent2">
                    <a:lumMod val="75000"/>
                    <a:lumOff val="25000"/>
                  </a:schemeClr>
                </a:solidFill>
                <a:latin typeface="Rubik"/>
                <a:ea typeface="Rubik"/>
                <a:cs typeface="Rubik"/>
                <a:sym typeface="Rubik"/>
              </a:rPr>
              <a:t>Kimia </a:t>
            </a:r>
            <a:r>
              <a:rPr lang="en-ID" sz="1100" dirty="0" err="1">
                <a:solidFill>
                  <a:schemeClr val="accent2">
                    <a:lumMod val="75000"/>
                    <a:lumOff val="25000"/>
                  </a:schemeClr>
                </a:solidFill>
                <a:latin typeface="Rubik"/>
                <a:ea typeface="Rubik"/>
                <a:cs typeface="Rubik"/>
                <a:sym typeface="Rubik"/>
              </a:rPr>
              <a:t>Farma</a:t>
            </a:r>
            <a:r>
              <a:rPr lang="en-ID" sz="1100" dirty="0">
                <a:solidFill>
                  <a:schemeClr val="accent2">
                    <a:lumMod val="75000"/>
                    <a:lumOff val="25000"/>
                  </a:schemeClr>
                </a:solidFill>
                <a:latin typeface="Rubik"/>
                <a:ea typeface="Rubik"/>
                <a:cs typeface="Rubik"/>
                <a:sym typeface="Rubik"/>
              </a:rPr>
              <a:t> Performance Analytics 2020-2023</a:t>
            </a:r>
            <a:endParaRPr lang="en-ID" sz="1100" dirty="0">
              <a:solidFill>
                <a:schemeClr val="accent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Google Shape;144;g23ec2985a68_1_56">
            <a:extLst>
              <a:ext uri="{FF2B5EF4-FFF2-40B4-BE49-F238E27FC236}">
                <a16:creationId xmlns:a16="http://schemas.microsoft.com/office/drawing/2014/main" id="{6D7812B3-32A1-0A16-E464-CEE95D4E669A}"/>
              </a:ext>
            </a:extLst>
          </p:cNvPr>
          <p:cNvSpPr txBox="1"/>
          <p:nvPr/>
        </p:nvSpPr>
        <p:spPr>
          <a:xfrm>
            <a:off x="109612" y="80193"/>
            <a:ext cx="8463000" cy="461635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49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5715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</a:pPr>
            <a:r>
              <a:rPr lang="en" sz="1800" b="1" dirty="0">
                <a:latin typeface="Rubik"/>
                <a:ea typeface="Rubik"/>
                <a:cs typeface="Rubik"/>
                <a:sym typeface="Rubik"/>
              </a:rPr>
              <a:t>5. Dashboard  Performance Analytics</a:t>
            </a:r>
            <a:endParaRPr sz="1800" b="1" i="0" u="none" strike="noStrike" cap="none" dirty="0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05DFB9F-16A7-C444-ED93-E35998F1652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8891" y="936609"/>
            <a:ext cx="3363455" cy="1882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5858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g23ec2985a68_1_56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g23ec2985a68_1_56"/>
          <p:cNvPicPr preferRelativeResize="0"/>
          <p:nvPr/>
        </p:nvPicPr>
        <p:blipFill rotWithShape="1">
          <a:blip r:embed="rId4">
            <a:alphaModFix/>
          </a:blip>
          <a:srcRect t="5658" b="5649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g23ec2985a68_1_56"/>
          <p:cNvSpPr txBox="1"/>
          <p:nvPr/>
        </p:nvSpPr>
        <p:spPr>
          <a:xfrm>
            <a:off x="109612" y="80193"/>
            <a:ext cx="8463000" cy="461635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49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5715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</a:pPr>
            <a:r>
              <a:rPr lang="en" sz="1800" b="1" dirty="0">
                <a:latin typeface="Rubik"/>
                <a:ea typeface="Rubik"/>
                <a:cs typeface="Rubik"/>
                <a:sym typeface="Rubik"/>
              </a:rPr>
              <a:t>5. Dashboard  Performance Analytics</a:t>
            </a:r>
            <a:endParaRPr sz="1800" b="1" i="0" u="none" strike="noStrike" cap="none" dirty="0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00BAD27-005D-FB1F-F012-197512C61775}"/>
              </a:ext>
            </a:extLst>
          </p:cNvPr>
          <p:cNvSpPr txBox="1"/>
          <p:nvPr/>
        </p:nvSpPr>
        <p:spPr>
          <a:xfrm>
            <a:off x="340499" y="4770301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100" dirty="0">
                <a:solidFill>
                  <a:schemeClr val="accent2">
                    <a:lumMod val="75000"/>
                    <a:lumOff val="25000"/>
                  </a:schemeClr>
                </a:solidFill>
                <a:latin typeface="Rubik"/>
                <a:ea typeface="Rubik"/>
                <a:cs typeface="Rubik"/>
                <a:sym typeface="Rubik"/>
              </a:rPr>
              <a:t>Kimia </a:t>
            </a:r>
            <a:r>
              <a:rPr lang="en-ID" sz="1100" dirty="0" err="1">
                <a:solidFill>
                  <a:schemeClr val="accent2">
                    <a:lumMod val="75000"/>
                    <a:lumOff val="25000"/>
                  </a:schemeClr>
                </a:solidFill>
                <a:latin typeface="Rubik"/>
                <a:ea typeface="Rubik"/>
                <a:cs typeface="Rubik"/>
                <a:sym typeface="Rubik"/>
              </a:rPr>
              <a:t>Farma</a:t>
            </a:r>
            <a:r>
              <a:rPr lang="en-ID" sz="1100" dirty="0">
                <a:solidFill>
                  <a:schemeClr val="accent2">
                    <a:lumMod val="75000"/>
                    <a:lumOff val="25000"/>
                  </a:schemeClr>
                </a:solidFill>
                <a:latin typeface="Rubik"/>
                <a:ea typeface="Rubik"/>
                <a:cs typeface="Rubik"/>
                <a:sym typeface="Rubik"/>
              </a:rPr>
              <a:t> Performance Analytics 2020-2023</a:t>
            </a:r>
            <a:endParaRPr lang="en-ID" sz="1100" dirty="0">
              <a:solidFill>
                <a:schemeClr val="accent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1126409E-7C20-98B4-65B9-54B41EB2F30A}"/>
              </a:ext>
            </a:extLst>
          </p:cNvPr>
          <p:cNvSpPr txBox="1">
            <a:spLocks/>
          </p:cNvSpPr>
          <p:nvPr/>
        </p:nvSpPr>
        <p:spPr>
          <a:xfrm>
            <a:off x="457200" y="422476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800" b="1" dirty="0">
                <a:solidFill>
                  <a:srgbClr val="01949E"/>
                </a:solidFill>
                <a:latin typeface="Rubik" panose="020B0604020202020204" charset="-79"/>
                <a:cs typeface="Rubik" panose="020B0604020202020204" charset="-79"/>
              </a:rPr>
              <a:t>Dashboard 1: Snapshot Data</a:t>
            </a:r>
            <a:endParaRPr lang="en-US" sz="2800" dirty="0">
              <a:solidFill>
                <a:srgbClr val="01949E"/>
              </a:solidFill>
              <a:latin typeface="Rubik" panose="020B0604020202020204" charset="-79"/>
              <a:cs typeface="Rubik" panose="020B0604020202020204" charset="-79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705589D6-B11E-0B9E-AA43-2688DB36A8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0222" y="1378317"/>
            <a:ext cx="5557437" cy="2381758"/>
          </a:xfrm>
          <a:prstGeom prst="rect">
            <a:avLst/>
          </a:prstGeom>
        </p:spPr>
      </p:pic>
      <p:sp>
        <p:nvSpPr>
          <p:cNvPr id="41" name="Card">
            <a:extLst>
              <a:ext uri="{FF2B5EF4-FFF2-40B4-BE49-F238E27FC236}">
                <a16:creationId xmlns:a16="http://schemas.microsoft.com/office/drawing/2014/main" id="{630CACF2-EC31-4150-715A-FD6CC9D3DEE5}"/>
              </a:ext>
            </a:extLst>
          </p:cNvPr>
          <p:cNvSpPr/>
          <p:nvPr/>
        </p:nvSpPr>
        <p:spPr>
          <a:xfrm>
            <a:off x="5897881" y="1359118"/>
            <a:ext cx="3075897" cy="2755681"/>
          </a:xfrm>
          <a:prstGeom prst="roundRect">
            <a:avLst>
              <a:gd name="adj" fmla="val 5517"/>
            </a:avLst>
          </a:prstGeom>
          <a:solidFill>
            <a:srgbClr val="003C7B"/>
          </a:solidFill>
          <a:ln/>
        </p:spPr>
      </p:sp>
      <p:sp>
        <p:nvSpPr>
          <p:cNvPr id="42" name="Text 7">
            <a:extLst>
              <a:ext uri="{FF2B5EF4-FFF2-40B4-BE49-F238E27FC236}">
                <a16:creationId xmlns:a16="http://schemas.microsoft.com/office/drawing/2014/main" id="{67EEEEF2-6E5F-F864-FC5F-7B278EF7649F}"/>
              </a:ext>
            </a:extLst>
          </p:cNvPr>
          <p:cNvSpPr txBox="1"/>
          <p:nvPr/>
        </p:nvSpPr>
        <p:spPr>
          <a:xfrm>
            <a:off x="6007609" y="1432271"/>
            <a:ext cx="2812541" cy="2415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spcAft>
                <a:spcPts val="400"/>
              </a:spcAft>
              <a:buNone/>
            </a:pPr>
            <a:r>
              <a:rPr lang="en-US" sz="1200" b="1" dirty="0" err="1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Berisi</a:t>
            </a:r>
            <a:r>
              <a:rPr lang="en-US" sz="1200" b="1" dirty="0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:</a:t>
            </a:r>
          </a:p>
          <a:p>
            <a:pPr algn="just">
              <a:spcAft>
                <a:spcPts val="400"/>
              </a:spcAft>
            </a:pPr>
            <a:r>
              <a:rPr lang="en-US" sz="1200" dirty="0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Data 672,458 </a:t>
            </a:r>
            <a:r>
              <a:rPr lang="en-US" sz="1200" dirty="0" err="1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transaksi</a:t>
            </a:r>
            <a:r>
              <a:rPr lang="en-US" sz="1200" dirty="0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periode</a:t>
            </a:r>
            <a:r>
              <a:rPr lang="en-US" sz="1200" dirty="0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 2020-2023 yang </a:t>
            </a:r>
            <a:r>
              <a:rPr lang="en-US" sz="1200" dirty="0" err="1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diperoleh</a:t>
            </a:r>
            <a:r>
              <a:rPr lang="en-US" sz="1200" dirty="0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dari</a:t>
            </a:r>
            <a:r>
              <a:rPr lang="en-US" sz="1200" dirty="0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 dataset </a:t>
            </a:r>
            <a:r>
              <a:rPr lang="en-US" sz="1200" dirty="0" err="1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transaksi</a:t>
            </a:r>
            <a:r>
              <a:rPr lang="en-US" sz="1200" dirty="0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dari</a:t>
            </a:r>
            <a:r>
              <a:rPr lang="en-US" sz="1200" dirty="0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seluruh</a:t>
            </a:r>
            <a:r>
              <a:rPr lang="en-US" sz="1200" dirty="0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kantor</a:t>
            </a:r>
            <a:r>
              <a:rPr lang="en-US" sz="1200" dirty="0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cabang</a:t>
            </a:r>
            <a:r>
              <a:rPr lang="en-US" sz="1200" dirty="0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 Kimia </a:t>
            </a:r>
            <a:r>
              <a:rPr lang="en-US" sz="1200" dirty="0" err="1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Farma</a:t>
            </a:r>
            <a:r>
              <a:rPr lang="en-US" sz="1200" dirty="0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.</a:t>
            </a:r>
          </a:p>
          <a:p>
            <a:pPr algn="just">
              <a:spcAft>
                <a:spcPts val="400"/>
              </a:spcAft>
            </a:pPr>
            <a:endParaRPr lang="en-US" sz="1200" dirty="0">
              <a:solidFill>
                <a:schemeClr val="bg1"/>
              </a:solidFill>
              <a:latin typeface="Rubik" panose="020B0604020202020204" charset="-79"/>
              <a:cs typeface="Rubik" panose="020B0604020202020204" charset="-79"/>
            </a:endParaRPr>
          </a:p>
          <a:p>
            <a:pPr algn="just">
              <a:spcAft>
                <a:spcPts val="400"/>
              </a:spcAft>
            </a:pPr>
            <a:r>
              <a:rPr lang="en-US" sz="1200" dirty="0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Data </a:t>
            </a:r>
            <a:r>
              <a:rPr lang="en-US" sz="1200" dirty="0" err="1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didukung</a:t>
            </a:r>
            <a:r>
              <a:rPr lang="en-US" sz="1200" dirty="0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dengan</a:t>
            </a:r>
            <a:r>
              <a:rPr lang="en-US" sz="1200" dirty="0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nama</a:t>
            </a:r>
            <a:r>
              <a:rPr lang="en-US" sz="1200" dirty="0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pelanggan</a:t>
            </a:r>
            <a:r>
              <a:rPr lang="en-US" sz="1200" dirty="0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, </a:t>
            </a:r>
            <a:r>
              <a:rPr lang="en-US" sz="1200" dirty="0" err="1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produk</a:t>
            </a:r>
            <a:r>
              <a:rPr lang="en-US" sz="1200" dirty="0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, sale, profit, </a:t>
            </a:r>
            <a:r>
              <a:rPr lang="en-US" sz="1200" dirty="0" err="1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hingga</a:t>
            </a:r>
            <a:r>
              <a:rPr lang="en-US" sz="1200" dirty="0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 actual price.</a:t>
            </a:r>
          </a:p>
          <a:p>
            <a:pPr algn="just">
              <a:spcAft>
                <a:spcPts val="400"/>
              </a:spcAft>
            </a:pPr>
            <a:endParaRPr lang="en-US" sz="1200" dirty="0">
              <a:solidFill>
                <a:schemeClr val="bg1"/>
              </a:solidFill>
              <a:latin typeface="Rubik" panose="020B0604020202020204" charset="-79"/>
              <a:cs typeface="Rubik" panose="020B0604020202020204" charset="-79"/>
            </a:endParaRPr>
          </a:p>
          <a:p>
            <a:pPr algn="just">
              <a:spcAft>
                <a:spcPts val="400"/>
              </a:spcAft>
            </a:pPr>
            <a:r>
              <a:rPr lang="en-US" sz="1200" b="1" dirty="0" err="1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Fungsi</a:t>
            </a:r>
            <a:r>
              <a:rPr lang="en-US" sz="1200" b="1" dirty="0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: </a:t>
            </a:r>
            <a:r>
              <a:rPr lang="en-US" sz="1200" dirty="0" err="1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untuk</a:t>
            </a:r>
            <a:r>
              <a:rPr lang="en-US" sz="1200" dirty="0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mengetahui</a:t>
            </a:r>
            <a:r>
              <a:rPr lang="en-US" sz="1200" dirty="0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 detail </a:t>
            </a:r>
            <a:r>
              <a:rPr lang="en-US" sz="1200" dirty="0" err="1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transaksi</a:t>
            </a:r>
            <a:r>
              <a:rPr lang="en-US" sz="1200" dirty="0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 di </a:t>
            </a:r>
            <a:r>
              <a:rPr lang="en-US" sz="1200" dirty="0" err="1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setiap</a:t>
            </a:r>
            <a:r>
              <a:rPr lang="en-US" sz="1200" dirty="0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pelanggan</a:t>
            </a:r>
            <a:r>
              <a:rPr lang="en-US" sz="1200" dirty="0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serta</a:t>
            </a:r>
            <a:r>
              <a:rPr lang="en-US" sz="1200" dirty="0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 profit  </a:t>
            </a:r>
            <a:r>
              <a:rPr lang="en-US" sz="1200" dirty="0" err="1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berdasarkan</a:t>
            </a:r>
            <a:r>
              <a:rPr lang="en-US" sz="1200" dirty="0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produk</a:t>
            </a:r>
            <a:r>
              <a:rPr lang="en-US" sz="1200" dirty="0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maupun</a:t>
            </a:r>
            <a:r>
              <a:rPr lang="en-US" sz="1200" dirty="0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cabang</a:t>
            </a:r>
            <a:r>
              <a:rPr lang="en-US" sz="1200" dirty="0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.</a:t>
            </a:r>
            <a:endParaRPr lang="en-US" sz="1200" b="1" dirty="0">
              <a:solidFill>
                <a:schemeClr val="bg1"/>
              </a:solidFill>
              <a:latin typeface="Rubik" panose="020B0604020202020204" charset="-79"/>
              <a:cs typeface="Rubik" panose="020B060402020202020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41284021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g23ec2985a68_1_56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g23ec2985a68_1_56"/>
          <p:cNvPicPr preferRelativeResize="0"/>
          <p:nvPr/>
        </p:nvPicPr>
        <p:blipFill rotWithShape="1">
          <a:blip r:embed="rId4">
            <a:alphaModFix/>
          </a:blip>
          <a:srcRect t="5658" b="5649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g23ec2985a68_1_56"/>
          <p:cNvSpPr txBox="1"/>
          <p:nvPr/>
        </p:nvSpPr>
        <p:spPr>
          <a:xfrm>
            <a:off x="109612" y="80193"/>
            <a:ext cx="8463000" cy="461635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49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5715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</a:pPr>
            <a:r>
              <a:rPr lang="en" sz="1800" b="1" dirty="0">
                <a:latin typeface="Rubik"/>
                <a:ea typeface="Rubik"/>
                <a:cs typeface="Rubik"/>
                <a:sym typeface="Rubik"/>
              </a:rPr>
              <a:t>5. Dashboard  Performance Analytics</a:t>
            </a:r>
            <a:endParaRPr sz="1800" b="1" i="0" u="none" strike="noStrike" cap="none" dirty="0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00BAD27-005D-FB1F-F012-197512C61775}"/>
              </a:ext>
            </a:extLst>
          </p:cNvPr>
          <p:cNvSpPr txBox="1"/>
          <p:nvPr/>
        </p:nvSpPr>
        <p:spPr>
          <a:xfrm>
            <a:off x="340499" y="4770301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100" dirty="0">
                <a:solidFill>
                  <a:schemeClr val="accent2">
                    <a:lumMod val="75000"/>
                    <a:lumOff val="25000"/>
                  </a:schemeClr>
                </a:solidFill>
                <a:latin typeface="Rubik"/>
                <a:ea typeface="Rubik"/>
                <a:cs typeface="Rubik"/>
                <a:sym typeface="Rubik"/>
              </a:rPr>
              <a:t>Kimia </a:t>
            </a:r>
            <a:r>
              <a:rPr lang="en-ID" sz="1100" dirty="0" err="1">
                <a:solidFill>
                  <a:schemeClr val="accent2">
                    <a:lumMod val="75000"/>
                    <a:lumOff val="25000"/>
                  </a:schemeClr>
                </a:solidFill>
                <a:latin typeface="Rubik"/>
                <a:ea typeface="Rubik"/>
                <a:cs typeface="Rubik"/>
                <a:sym typeface="Rubik"/>
              </a:rPr>
              <a:t>Farma</a:t>
            </a:r>
            <a:r>
              <a:rPr lang="en-ID" sz="1100" dirty="0">
                <a:solidFill>
                  <a:schemeClr val="accent2">
                    <a:lumMod val="75000"/>
                    <a:lumOff val="25000"/>
                  </a:schemeClr>
                </a:solidFill>
                <a:latin typeface="Rubik"/>
                <a:ea typeface="Rubik"/>
                <a:cs typeface="Rubik"/>
                <a:sym typeface="Rubik"/>
              </a:rPr>
              <a:t> Performance Analytics 2020-2023</a:t>
            </a:r>
            <a:endParaRPr lang="en-ID" sz="1100" dirty="0">
              <a:solidFill>
                <a:schemeClr val="accent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1126409E-7C20-98B4-65B9-54B41EB2F30A}"/>
              </a:ext>
            </a:extLst>
          </p:cNvPr>
          <p:cNvSpPr txBox="1">
            <a:spLocks/>
          </p:cNvSpPr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800" b="1" dirty="0">
                <a:solidFill>
                  <a:srgbClr val="01949E"/>
                </a:solidFill>
                <a:latin typeface="Rubik" panose="020B0604020202020204" charset="-79"/>
                <a:cs typeface="Rubik" panose="020B0604020202020204" charset="-79"/>
              </a:rPr>
              <a:t>Dashboard 2: Performa </a:t>
            </a:r>
            <a:r>
              <a:rPr lang="en-US" sz="2800" b="1" dirty="0" err="1">
                <a:solidFill>
                  <a:srgbClr val="01949E"/>
                </a:solidFill>
                <a:latin typeface="Rubik" panose="020B0604020202020204" charset="-79"/>
                <a:cs typeface="Rubik" panose="020B0604020202020204" charset="-79"/>
              </a:rPr>
              <a:t>Bisnis</a:t>
            </a:r>
            <a:endParaRPr lang="en-US" sz="2800" dirty="0">
              <a:solidFill>
                <a:srgbClr val="01949E"/>
              </a:solidFill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5" name="Frame">
            <a:extLst>
              <a:ext uri="{FF2B5EF4-FFF2-40B4-BE49-F238E27FC236}">
                <a16:creationId xmlns:a16="http://schemas.microsoft.com/office/drawing/2014/main" id="{D9303657-6773-53A4-D21D-D534F0C99C4A}"/>
              </a:ext>
            </a:extLst>
          </p:cNvPr>
          <p:cNvSpPr/>
          <p:nvPr/>
        </p:nvSpPr>
        <p:spPr>
          <a:xfrm>
            <a:off x="411480" y="1143000"/>
            <a:ext cx="5212080" cy="2939796"/>
          </a:xfrm>
          <a:prstGeom prst="roundRect">
            <a:avLst>
              <a:gd name="adj" fmla="val 1866"/>
            </a:avLst>
          </a:prstGeom>
          <a:solidFill>
            <a:schemeClr val="accent4">
              <a:lumMod val="75000"/>
            </a:schemeClr>
          </a:solidFill>
          <a:ln w="9525">
            <a:solidFill>
              <a:srgbClr val="D5DDEB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Dashboard">
            <a:extLst>
              <a:ext uri="{FF2B5EF4-FFF2-40B4-BE49-F238E27FC236}">
                <a16:creationId xmlns:a16="http://schemas.microsoft.com/office/drawing/2014/main" id="{41D1FD0E-86CE-58F3-7097-333ECA9A2A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188720"/>
            <a:ext cx="5120640" cy="2848356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</p:pic>
      <p:sp>
        <p:nvSpPr>
          <p:cNvPr id="7" name="Marker">
            <a:extLst>
              <a:ext uri="{FF2B5EF4-FFF2-40B4-BE49-F238E27FC236}">
                <a16:creationId xmlns:a16="http://schemas.microsoft.com/office/drawing/2014/main" id="{7FAFD326-DBA8-4FCC-9A52-875E5BFE5E65}"/>
              </a:ext>
            </a:extLst>
          </p:cNvPr>
          <p:cNvSpPr/>
          <p:nvPr/>
        </p:nvSpPr>
        <p:spPr>
          <a:xfrm>
            <a:off x="2151888" y="1309878"/>
            <a:ext cx="237744" cy="237744"/>
          </a:xfrm>
          <a:prstGeom prst="ellipse">
            <a:avLst/>
          </a:prstGeom>
          <a:solidFill>
            <a:schemeClr val="accent4">
              <a:lumMod val="75000"/>
            </a:schemeClr>
          </a:solidFill>
          <a:ln/>
        </p:spPr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09F6A8DE-B04D-DB7B-41C7-0E8ADCBADB96}"/>
              </a:ext>
            </a:extLst>
          </p:cNvPr>
          <p:cNvSpPr txBox="1"/>
          <p:nvPr/>
        </p:nvSpPr>
        <p:spPr>
          <a:xfrm>
            <a:off x="2151888" y="1309878"/>
            <a:ext cx="237744" cy="237744"/>
          </a:xfrm>
          <a:prstGeom prst="rect">
            <a:avLst/>
          </a:prstGeom>
          <a:solidFill>
            <a:schemeClr val="accent4">
              <a:lumMod val="7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1</a:t>
            </a:r>
            <a:endParaRPr lang="en-US" sz="1200" dirty="0"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9" name="Marker">
            <a:extLst>
              <a:ext uri="{FF2B5EF4-FFF2-40B4-BE49-F238E27FC236}">
                <a16:creationId xmlns:a16="http://schemas.microsoft.com/office/drawing/2014/main" id="{A46A6154-18F6-5026-C83C-9538A2428362}"/>
              </a:ext>
            </a:extLst>
          </p:cNvPr>
          <p:cNvSpPr/>
          <p:nvPr/>
        </p:nvSpPr>
        <p:spPr>
          <a:xfrm>
            <a:off x="487680" y="1603248"/>
            <a:ext cx="237744" cy="237744"/>
          </a:xfrm>
          <a:prstGeom prst="ellipse">
            <a:avLst/>
          </a:prstGeom>
          <a:solidFill>
            <a:schemeClr val="accent4">
              <a:lumMod val="75000"/>
            </a:schemeClr>
          </a:solidFill>
          <a:ln/>
        </p:spPr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5F8EC4A4-F977-A811-CD07-9B7FEAF346D6}"/>
              </a:ext>
            </a:extLst>
          </p:cNvPr>
          <p:cNvSpPr txBox="1"/>
          <p:nvPr/>
        </p:nvSpPr>
        <p:spPr>
          <a:xfrm>
            <a:off x="487680" y="1606501"/>
            <a:ext cx="237744" cy="237744"/>
          </a:xfrm>
          <a:prstGeom prst="rect">
            <a:avLst/>
          </a:prstGeom>
          <a:solidFill>
            <a:schemeClr val="accent4">
              <a:lumMod val="7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2</a:t>
            </a:r>
            <a:endParaRPr lang="en-US" sz="1200" dirty="0"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11" name="Marker">
            <a:extLst>
              <a:ext uri="{FF2B5EF4-FFF2-40B4-BE49-F238E27FC236}">
                <a16:creationId xmlns:a16="http://schemas.microsoft.com/office/drawing/2014/main" id="{467F5311-C369-1319-399A-139EF4FAF00F}"/>
              </a:ext>
            </a:extLst>
          </p:cNvPr>
          <p:cNvSpPr/>
          <p:nvPr/>
        </p:nvSpPr>
        <p:spPr>
          <a:xfrm>
            <a:off x="2205228" y="1592580"/>
            <a:ext cx="237744" cy="237744"/>
          </a:xfrm>
          <a:prstGeom prst="ellipse">
            <a:avLst/>
          </a:prstGeom>
          <a:solidFill>
            <a:schemeClr val="accent4">
              <a:lumMod val="75000"/>
            </a:schemeClr>
          </a:solidFill>
          <a:ln/>
        </p:spPr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1B2C8EED-AC57-F62E-45DE-5ACCE4501C39}"/>
              </a:ext>
            </a:extLst>
          </p:cNvPr>
          <p:cNvSpPr txBox="1"/>
          <p:nvPr/>
        </p:nvSpPr>
        <p:spPr>
          <a:xfrm>
            <a:off x="2205228" y="1592580"/>
            <a:ext cx="237744" cy="237744"/>
          </a:xfrm>
          <a:prstGeom prst="rect">
            <a:avLst/>
          </a:prstGeom>
          <a:solidFill>
            <a:schemeClr val="accent4">
              <a:lumMod val="7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3</a:t>
            </a:r>
            <a:endParaRPr lang="en-US" sz="1200" dirty="0"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13" name="Marker">
            <a:extLst>
              <a:ext uri="{FF2B5EF4-FFF2-40B4-BE49-F238E27FC236}">
                <a16:creationId xmlns:a16="http://schemas.microsoft.com/office/drawing/2014/main" id="{56558E77-7623-56BB-067E-F059E01C08A4}"/>
              </a:ext>
            </a:extLst>
          </p:cNvPr>
          <p:cNvSpPr/>
          <p:nvPr/>
        </p:nvSpPr>
        <p:spPr>
          <a:xfrm>
            <a:off x="2205228" y="2019300"/>
            <a:ext cx="237744" cy="237744"/>
          </a:xfrm>
          <a:prstGeom prst="ellipse">
            <a:avLst/>
          </a:prstGeom>
          <a:solidFill>
            <a:schemeClr val="accent4">
              <a:lumMod val="75000"/>
            </a:schemeClr>
          </a:solidFill>
          <a:ln/>
        </p:spPr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100156E1-D82A-614F-7B44-A39C478ED464}"/>
              </a:ext>
            </a:extLst>
          </p:cNvPr>
          <p:cNvSpPr txBox="1"/>
          <p:nvPr/>
        </p:nvSpPr>
        <p:spPr>
          <a:xfrm>
            <a:off x="2205228" y="2019300"/>
            <a:ext cx="237744" cy="237744"/>
          </a:xfrm>
          <a:prstGeom prst="rect">
            <a:avLst/>
          </a:prstGeom>
          <a:solidFill>
            <a:schemeClr val="accent4">
              <a:lumMod val="7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4</a:t>
            </a:r>
            <a:endParaRPr lang="en-US" sz="1200" dirty="0"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15" name="Marker">
            <a:extLst>
              <a:ext uri="{FF2B5EF4-FFF2-40B4-BE49-F238E27FC236}">
                <a16:creationId xmlns:a16="http://schemas.microsoft.com/office/drawing/2014/main" id="{642270DF-A07F-0F4A-9470-7696B4C8ED5F}"/>
              </a:ext>
            </a:extLst>
          </p:cNvPr>
          <p:cNvSpPr/>
          <p:nvPr/>
        </p:nvSpPr>
        <p:spPr>
          <a:xfrm>
            <a:off x="3602736" y="1560576"/>
            <a:ext cx="237744" cy="237744"/>
          </a:xfrm>
          <a:prstGeom prst="ellipse">
            <a:avLst/>
          </a:prstGeom>
          <a:solidFill>
            <a:schemeClr val="accent4">
              <a:lumMod val="75000"/>
            </a:schemeClr>
          </a:solidFill>
          <a:ln/>
        </p:spPr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7817ED79-3DF1-48EA-4992-33C6AD808484}"/>
              </a:ext>
            </a:extLst>
          </p:cNvPr>
          <p:cNvSpPr txBox="1"/>
          <p:nvPr/>
        </p:nvSpPr>
        <p:spPr>
          <a:xfrm>
            <a:off x="3602736" y="1560576"/>
            <a:ext cx="237744" cy="237744"/>
          </a:xfrm>
          <a:prstGeom prst="rect">
            <a:avLst/>
          </a:prstGeom>
          <a:solidFill>
            <a:schemeClr val="accent4">
              <a:lumMod val="7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5</a:t>
            </a:r>
            <a:endParaRPr lang="en-US" sz="1200" dirty="0"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17" name="Marker">
            <a:extLst>
              <a:ext uri="{FF2B5EF4-FFF2-40B4-BE49-F238E27FC236}">
                <a16:creationId xmlns:a16="http://schemas.microsoft.com/office/drawing/2014/main" id="{EAF8063E-B328-65ED-D023-C0B46D6398E2}"/>
              </a:ext>
            </a:extLst>
          </p:cNvPr>
          <p:cNvSpPr/>
          <p:nvPr/>
        </p:nvSpPr>
        <p:spPr>
          <a:xfrm>
            <a:off x="487680" y="2627376"/>
            <a:ext cx="237744" cy="237744"/>
          </a:xfrm>
          <a:prstGeom prst="ellipse">
            <a:avLst/>
          </a:prstGeom>
          <a:solidFill>
            <a:schemeClr val="accent4">
              <a:lumMod val="75000"/>
            </a:schemeClr>
          </a:solidFill>
          <a:ln/>
        </p:spPr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18B97727-2095-92EC-D24B-021F0747C958}"/>
              </a:ext>
            </a:extLst>
          </p:cNvPr>
          <p:cNvSpPr txBox="1"/>
          <p:nvPr/>
        </p:nvSpPr>
        <p:spPr>
          <a:xfrm>
            <a:off x="487680" y="2627376"/>
            <a:ext cx="237744" cy="237744"/>
          </a:xfrm>
          <a:prstGeom prst="rect">
            <a:avLst/>
          </a:prstGeom>
          <a:solidFill>
            <a:schemeClr val="accent4">
              <a:lumMod val="7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6</a:t>
            </a:r>
            <a:endParaRPr lang="en-US" sz="1200" dirty="0"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19" name="Marker">
            <a:extLst>
              <a:ext uri="{FF2B5EF4-FFF2-40B4-BE49-F238E27FC236}">
                <a16:creationId xmlns:a16="http://schemas.microsoft.com/office/drawing/2014/main" id="{6F88988C-5693-FBDE-6D2D-B9CC51A96B24}"/>
              </a:ext>
            </a:extLst>
          </p:cNvPr>
          <p:cNvSpPr/>
          <p:nvPr/>
        </p:nvSpPr>
        <p:spPr>
          <a:xfrm>
            <a:off x="1895856" y="2627376"/>
            <a:ext cx="237744" cy="237744"/>
          </a:xfrm>
          <a:prstGeom prst="ellipse">
            <a:avLst/>
          </a:prstGeom>
          <a:solidFill>
            <a:schemeClr val="accent4">
              <a:lumMod val="75000"/>
            </a:schemeClr>
          </a:solidFill>
          <a:ln/>
        </p:spPr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0DE5FF50-0A37-EAC5-CBDF-111B19768FD4}"/>
              </a:ext>
            </a:extLst>
          </p:cNvPr>
          <p:cNvSpPr txBox="1"/>
          <p:nvPr/>
        </p:nvSpPr>
        <p:spPr>
          <a:xfrm>
            <a:off x="1895856" y="2627376"/>
            <a:ext cx="237744" cy="237744"/>
          </a:xfrm>
          <a:prstGeom prst="rect">
            <a:avLst/>
          </a:prstGeom>
          <a:solidFill>
            <a:schemeClr val="accent4">
              <a:lumMod val="7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7</a:t>
            </a:r>
            <a:endParaRPr lang="en-US" sz="1200" dirty="0"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21" name="Marker">
            <a:extLst>
              <a:ext uri="{FF2B5EF4-FFF2-40B4-BE49-F238E27FC236}">
                <a16:creationId xmlns:a16="http://schemas.microsoft.com/office/drawing/2014/main" id="{EF187652-2910-CF2A-9326-2B69B67833D6}"/>
              </a:ext>
            </a:extLst>
          </p:cNvPr>
          <p:cNvSpPr/>
          <p:nvPr/>
        </p:nvSpPr>
        <p:spPr>
          <a:xfrm>
            <a:off x="4082796" y="2627376"/>
            <a:ext cx="237744" cy="237744"/>
          </a:xfrm>
          <a:prstGeom prst="ellipse">
            <a:avLst/>
          </a:prstGeom>
          <a:solidFill>
            <a:schemeClr val="accent4">
              <a:lumMod val="75000"/>
            </a:schemeClr>
          </a:solidFill>
          <a:ln/>
        </p:spPr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E0BEBA4F-DFC1-3A1A-29AC-E08F8225096C}"/>
              </a:ext>
            </a:extLst>
          </p:cNvPr>
          <p:cNvSpPr txBox="1"/>
          <p:nvPr/>
        </p:nvSpPr>
        <p:spPr>
          <a:xfrm>
            <a:off x="4082796" y="2627376"/>
            <a:ext cx="237744" cy="237744"/>
          </a:xfrm>
          <a:prstGeom prst="rect">
            <a:avLst/>
          </a:prstGeom>
          <a:solidFill>
            <a:schemeClr val="accent4">
              <a:lumMod val="7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8</a:t>
            </a:r>
            <a:endParaRPr lang="en-US" sz="1200" dirty="0"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23" name="Marker">
            <a:extLst>
              <a:ext uri="{FF2B5EF4-FFF2-40B4-BE49-F238E27FC236}">
                <a16:creationId xmlns:a16="http://schemas.microsoft.com/office/drawing/2014/main" id="{CE2E2CD5-D038-F6B7-8997-E72B1FBA2592}"/>
              </a:ext>
            </a:extLst>
          </p:cNvPr>
          <p:cNvSpPr/>
          <p:nvPr/>
        </p:nvSpPr>
        <p:spPr>
          <a:xfrm>
            <a:off x="5897880" y="1234440"/>
            <a:ext cx="274320" cy="274320"/>
          </a:xfrm>
          <a:prstGeom prst="ellipse">
            <a:avLst/>
          </a:prstGeom>
          <a:solidFill>
            <a:schemeClr val="accent4">
              <a:lumMod val="75000"/>
            </a:schemeClr>
          </a:solidFill>
          <a:ln/>
        </p:spPr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BE2D353B-B16E-DF77-77D5-2079C7E72B55}"/>
              </a:ext>
            </a:extLst>
          </p:cNvPr>
          <p:cNvSpPr txBox="1"/>
          <p:nvPr/>
        </p:nvSpPr>
        <p:spPr>
          <a:xfrm>
            <a:off x="5897880" y="1234440"/>
            <a:ext cx="274320" cy="274320"/>
          </a:xfrm>
          <a:prstGeom prst="rect">
            <a:avLst/>
          </a:prstGeom>
          <a:solidFill>
            <a:schemeClr val="accent4">
              <a:lumMod val="7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1</a:t>
            </a:r>
            <a:endParaRPr lang="en-US" sz="1300" dirty="0"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25" name="Text 21">
            <a:extLst>
              <a:ext uri="{FF2B5EF4-FFF2-40B4-BE49-F238E27FC236}">
                <a16:creationId xmlns:a16="http://schemas.microsoft.com/office/drawing/2014/main" id="{40D9CC8E-706D-C114-37BC-E281CE750A33}"/>
              </a:ext>
            </a:extLst>
          </p:cNvPr>
          <p:cNvSpPr txBox="1"/>
          <p:nvPr/>
        </p:nvSpPr>
        <p:spPr>
          <a:xfrm>
            <a:off x="6309360" y="1188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Rubik" panose="020B0604020202020204" charset="-79"/>
                <a:cs typeface="Rubik" panose="020B0604020202020204" charset="-79"/>
              </a:rPr>
              <a:t>Judul &amp; filter control</a:t>
            </a:r>
            <a:endParaRPr lang="en-US" sz="1400" dirty="0"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26" name="Marker">
            <a:extLst>
              <a:ext uri="{FF2B5EF4-FFF2-40B4-BE49-F238E27FC236}">
                <a16:creationId xmlns:a16="http://schemas.microsoft.com/office/drawing/2014/main" id="{B588C74B-170E-011B-BF78-C4626B305FF6}"/>
              </a:ext>
            </a:extLst>
          </p:cNvPr>
          <p:cNvSpPr/>
          <p:nvPr/>
        </p:nvSpPr>
        <p:spPr>
          <a:xfrm>
            <a:off x="5897880" y="1657350"/>
            <a:ext cx="274320" cy="274320"/>
          </a:xfrm>
          <a:prstGeom prst="ellipse">
            <a:avLst/>
          </a:prstGeom>
          <a:solidFill>
            <a:schemeClr val="accent4">
              <a:lumMod val="75000"/>
            </a:schemeClr>
          </a:solidFill>
          <a:ln/>
        </p:spPr>
      </p:sp>
      <p:sp>
        <p:nvSpPr>
          <p:cNvPr id="27" name="Text 23">
            <a:extLst>
              <a:ext uri="{FF2B5EF4-FFF2-40B4-BE49-F238E27FC236}">
                <a16:creationId xmlns:a16="http://schemas.microsoft.com/office/drawing/2014/main" id="{D35EB3CE-E22E-FC88-1C02-8B1BC27F6278}"/>
              </a:ext>
            </a:extLst>
          </p:cNvPr>
          <p:cNvSpPr txBox="1"/>
          <p:nvPr/>
        </p:nvSpPr>
        <p:spPr>
          <a:xfrm>
            <a:off x="5897880" y="1657350"/>
            <a:ext cx="274320" cy="274320"/>
          </a:xfrm>
          <a:prstGeom prst="rect">
            <a:avLst/>
          </a:prstGeom>
          <a:solidFill>
            <a:schemeClr val="accent4">
              <a:lumMod val="7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2</a:t>
            </a:r>
            <a:endParaRPr lang="en-US" sz="1300" dirty="0"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28" name="Text 24">
            <a:extLst>
              <a:ext uri="{FF2B5EF4-FFF2-40B4-BE49-F238E27FC236}">
                <a16:creationId xmlns:a16="http://schemas.microsoft.com/office/drawing/2014/main" id="{F967280B-6A42-77B6-C14B-91DAF12BF285}"/>
              </a:ext>
            </a:extLst>
          </p:cNvPr>
          <p:cNvSpPr txBox="1"/>
          <p:nvPr/>
        </p:nvSpPr>
        <p:spPr>
          <a:xfrm>
            <a:off x="6309360" y="161163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Rubik" panose="020B0604020202020204" charset="-79"/>
                <a:cs typeface="Rubik" panose="020B0604020202020204" charset="-79"/>
              </a:rPr>
              <a:t>Peta profit provinsi</a:t>
            </a:r>
            <a:endParaRPr lang="en-US" sz="1400" dirty="0"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29" name="Marker">
            <a:extLst>
              <a:ext uri="{FF2B5EF4-FFF2-40B4-BE49-F238E27FC236}">
                <a16:creationId xmlns:a16="http://schemas.microsoft.com/office/drawing/2014/main" id="{6092BEBC-BB95-24DD-A6FE-A55B436DDEEB}"/>
              </a:ext>
            </a:extLst>
          </p:cNvPr>
          <p:cNvSpPr/>
          <p:nvPr/>
        </p:nvSpPr>
        <p:spPr>
          <a:xfrm>
            <a:off x="5897880" y="2080260"/>
            <a:ext cx="274320" cy="274320"/>
          </a:xfrm>
          <a:prstGeom prst="ellipse">
            <a:avLst/>
          </a:prstGeom>
          <a:solidFill>
            <a:schemeClr val="accent4">
              <a:lumMod val="75000"/>
            </a:schemeClr>
          </a:solidFill>
          <a:ln/>
        </p:spPr>
      </p:sp>
      <p:sp>
        <p:nvSpPr>
          <p:cNvPr id="30" name="Text 26">
            <a:extLst>
              <a:ext uri="{FF2B5EF4-FFF2-40B4-BE49-F238E27FC236}">
                <a16:creationId xmlns:a16="http://schemas.microsoft.com/office/drawing/2014/main" id="{B34AA239-38EB-82AA-80CA-C3BF889DB59B}"/>
              </a:ext>
            </a:extLst>
          </p:cNvPr>
          <p:cNvSpPr txBox="1"/>
          <p:nvPr/>
        </p:nvSpPr>
        <p:spPr>
          <a:xfrm>
            <a:off x="5897880" y="2080260"/>
            <a:ext cx="274320" cy="274320"/>
          </a:xfrm>
          <a:prstGeom prst="rect">
            <a:avLst/>
          </a:prstGeom>
          <a:solidFill>
            <a:schemeClr val="accent4">
              <a:lumMod val="7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3</a:t>
            </a:r>
            <a:endParaRPr lang="en-US" sz="1300" dirty="0"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31" name="Text 27">
            <a:extLst>
              <a:ext uri="{FF2B5EF4-FFF2-40B4-BE49-F238E27FC236}">
                <a16:creationId xmlns:a16="http://schemas.microsoft.com/office/drawing/2014/main" id="{E06B7BBE-B2A3-07C7-A8D4-F7E3C843329C}"/>
              </a:ext>
            </a:extLst>
          </p:cNvPr>
          <p:cNvSpPr txBox="1"/>
          <p:nvPr/>
        </p:nvSpPr>
        <p:spPr>
          <a:xfrm>
            <a:off x="6309360" y="20345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Rubik" panose="020B0604020202020204" charset="-79"/>
                <a:cs typeface="Rubik" panose="020B0604020202020204" charset="-79"/>
              </a:rPr>
              <a:t>Kartu ringkasan KPI</a:t>
            </a:r>
            <a:endParaRPr lang="en-US" sz="1400" dirty="0"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32" name="Marker">
            <a:extLst>
              <a:ext uri="{FF2B5EF4-FFF2-40B4-BE49-F238E27FC236}">
                <a16:creationId xmlns:a16="http://schemas.microsoft.com/office/drawing/2014/main" id="{5FC3E62C-2A0F-6E28-6062-85598578699C}"/>
              </a:ext>
            </a:extLst>
          </p:cNvPr>
          <p:cNvSpPr/>
          <p:nvPr/>
        </p:nvSpPr>
        <p:spPr>
          <a:xfrm>
            <a:off x="5897880" y="2503170"/>
            <a:ext cx="274320" cy="274320"/>
          </a:xfrm>
          <a:prstGeom prst="ellipse">
            <a:avLst/>
          </a:prstGeom>
          <a:solidFill>
            <a:schemeClr val="accent4">
              <a:lumMod val="75000"/>
            </a:schemeClr>
          </a:solidFill>
          <a:ln/>
        </p:spPr>
      </p:sp>
      <p:sp>
        <p:nvSpPr>
          <p:cNvPr id="33" name="Text 29">
            <a:extLst>
              <a:ext uri="{FF2B5EF4-FFF2-40B4-BE49-F238E27FC236}">
                <a16:creationId xmlns:a16="http://schemas.microsoft.com/office/drawing/2014/main" id="{FA5A197E-2915-EFAA-C3FB-8ADE4190ED02}"/>
              </a:ext>
            </a:extLst>
          </p:cNvPr>
          <p:cNvSpPr txBox="1"/>
          <p:nvPr/>
        </p:nvSpPr>
        <p:spPr>
          <a:xfrm>
            <a:off x="5897880" y="2503170"/>
            <a:ext cx="274320" cy="274320"/>
          </a:xfrm>
          <a:prstGeom prst="rect">
            <a:avLst/>
          </a:prstGeom>
          <a:solidFill>
            <a:schemeClr val="accent4">
              <a:lumMod val="7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4</a:t>
            </a:r>
            <a:endParaRPr lang="en-US" sz="1300" dirty="0"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34" name="Text 30">
            <a:extLst>
              <a:ext uri="{FF2B5EF4-FFF2-40B4-BE49-F238E27FC236}">
                <a16:creationId xmlns:a16="http://schemas.microsoft.com/office/drawing/2014/main" id="{75B48EA8-79A7-559A-942B-41E2643B0F1B}"/>
              </a:ext>
            </a:extLst>
          </p:cNvPr>
          <p:cNvSpPr txBox="1"/>
          <p:nvPr/>
        </p:nvSpPr>
        <p:spPr>
          <a:xfrm>
            <a:off x="6309360" y="245745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Rubik" panose="020B0604020202020204" charset="-79"/>
                <a:cs typeface="Rubik" panose="020B0604020202020204" charset="-79"/>
              </a:rPr>
              <a:t>Donut kategori cabang</a:t>
            </a:r>
            <a:endParaRPr lang="en-US" sz="1400" dirty="0"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35" name="Marker">
            <a:extLst>
              <a:ext uri="{FF2B5EF4-FFF2-40B4-BE49-F238E27FC236}">
                <a16:creationId xmlns:a16="http://schemas.microsoft.com/office/drawing/2014/main" id="{DFF8553E-F2F9-A0A4-37B8-9ABB2E251664}"/>
              </a:ext>
            </a:extLst>
          </p:cNvPr>
          <p:cNvSpPr/>
          <p:nvPr/>
        </p:nvSpPr>
        <p:spPr>
          <a:xfrm>
            <a:off x="5897880" y="2926080"/>
            <a:ext cx="274320" cy="274320"/>
          </a:xfrm>
          <a:prstGeom prst="ellipse">
            <a:avLst/>
          </a:prstGeom>
          <a:solidFill>
            <a:schemeClr val="accent4">
              <a:lumMod val="75000"/>
            </a:schemeClr>
          </a:solidFill>
          <a:ln/>
        </p:spPr>
      </p:sp>
      <p:sp>
        <p:nvSpPr>
          <p:cNvPr id="36" name="Text 32">
            <a:extLst>
              <a:ext uri="{FF2B5EF4-FFF2-40B4-BE49-F238E27FC236}">
                <a16:creationId xmlns:a16="http://schemas.microsoft.com/office/drawing/2014/main" id="{0CFD6CFF-FCDA-0F54-EAFB-FD651EB5921B}"/>
              </a:ext>
            </a:extLst>
          </p:cNvPr>
          <p:cNvSpPr txBox="1"/>
          <p:nvPr/>
        </p:nvSpPr>
        <p:spPr>
          <a:xfrm>
            <a:off x="5897880" y="2926080"/>
            <a:ext cx="274320" cy="274320"/>
          </a:xfrm>
          <a:prstGeom prst="rect">
            <a:avLst/>
          </a:prstGeom>
          <a:solidFill>
            <a:schemeClr val="accent4">
              <a:lumMod val="7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5</a:t>
            </a:r>
            <a:endParaRPr lang="en-US" sz="1300" dirty="0"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37" name="Text 33">
            <a:extLst>
              <a:ext uri="{FF2B5EF4-FFF2-40B4-BE49-F238E27FC236}">
                <a16:creationId xmlns:a16="http://schemas.microsoft.com/office/drawing/2014/main" id="{B490AF6E-1FD7-5ED8-06D7-091F6958EA17}"/>
              </a:ext>
            </a:extLst>
          </p:cNvPr>
          <p:cNvSpPr txBox="1"/>
          <p:nvPr/>
        </p:nvSpPr>
        <p:spPr>
          <a:xfrm>
            <a:off x="6309360" y="2880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Rubik" panose="020B0604020202020204" charset="-79"/>
                <a:cs typeface="Rubik" panose="020B0604020202020204" charset="-79"/>
              </a:rPr>
              <a:t>Tren profit tahunan</a:t>
            </a:r>
            <a:endParaRPr lang="en-US" sz="1400" dirty="0"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38" name="Marker">
            <a:extLst>
              <a:ext uri="{FF2B5EF4-FFF2-40B4-BE49-F238E27FC236}">
                <a16:creationId xmlns:a16="http://schemas.microsoft.com/office/drawing/2014/main" id="{086674B6-A3E6-EE2E-D69B-D73FEBB135B0}"/>
              </a:ext>
            </a:extLst>
          </p:cNvPr>
          <p:cNvSpPr/>
          <p:nvPr/>
        </p:nvSpPr>
        <p:spPr>
          <a:xfrm>
            <a:off x="5897880" y="3348990"/>
            <a:ext cx="274320" cy="274320"/>
          </a:xfrm>
          <a:prstGeom prst="ellipse">
            <a:avLst/>
          </a:prstGeom>
          <a:solidFill>
            <a:schemeClr val="accent4">
              <a:lumMod val="75000"/>
            </a:schemeClr>
          </a:solidFill>
          <a:ln/>
        </p:spPr>
      </p:sp>
      <p:sp>
        <p:nvSpPr>
          <p:cNvPr id="39" name="Text 35">
            <a:extLst>
              <a:ext uri="{FF2B5EF4-FFF2-40B4-BE49-F238E27FC236}">
                <a16:creationId xmlns:a16="http://schemas.microsoft.com/office/drawing/2014/main" id="{8BE895DE-5E49-655A-DA7C-E7208C24B1F5}"/>
              </a:ext>
            </a:extLst>
          </p:cNvPr>
          <p:cNvSpPr txBox="1"/>
          <p:nvPr/>
        </p:nvSpPr>
        <p:spPr>
          <a:xfrm>
            <a:off x="5897880" y="3348990"/>
            <a:ext cx="274320" cy="274320"/>
          </a:xfrm>
          <a:prstGeom prst="rect">
            <a:avLst/>
          </a:prstGeom>
          <a:solidFill>
            <a:schemeClr val="accent4">
              <a:lumMod val="7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6</a:t>
            </a:r>
            <a:endParaRPr lang="en-US" sz="1300" dirty="0"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138" name="Text 36">
            <a:extLst>
              <a:ext uri="{FF2B5EF4-FFF2-40B4-BE49-F238E27FC236}">
                <a16:creationId xmlns:a16="http://schemas.microsoft.com/office/drawing/2014/main" id="{601FC178-C865-0BA6-1839-796AFCCE1D91}"/>
              </a:ext>
            </a:extLst>
          </p:cNvPr>
          <p:cNvSpPr txBox="1"/>
          <p:nvPr/>
        </p:nvSpPr>
        <p:spPr>
          <a:xfrm>
            <a:off x="6309360" y="330327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Rubik" panose="020B0604020202020204" charset="-79"/>
                <a:cs typeface="Rubik" panose="020B0604020202020204" charset="-79"/>
              </a:rPr>
              <a:t>Top 10 nett sales</a:t>
            </a:r>
            <a:endParaRPr lang="en-US" sz="1400" dirty="0"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139" name="Marker">
            <a:extLst>
              <a:ext uri="{FF2B5EF4-FFF2-40B4-BE49-F238E27FC236}">
                <a16:creationId xmlns:a16="http://schemas.microsoft.com/office/drawing/2014/main" id="{31E0EE11-215E-E6FD-2BD0-A86F6A2C5C25}"/>
              </a:ext>
            </a:extLst>
          </p:cNvPr>
          <p:cNvSpPr/>
          <p:nvPr/>
        </p:nvSpPr>
        <p:spPr>
          <a:xfrm>
            <a:off x="5897880" y="3771900"/>
            <a:ext cx="274320" cy="274320"/>
          </a:xfrm>
          <a:prstGeom prst="ellipse">
            <a:avLst/>
          </a:prstGeom>
          <a:solidFill>
            <a:schemeClr val="accent4">
              <a:lumMod val="75000"/>
            </a:schemeClr>
          </a:solidFill>
          <a:ln/>
        </p:spPr>
      </p:sp>
      <p:sp>
        <p:nvSpPr>
          <p:cNvPr id="140" name="Text 38">
            <a:extLst>
              <a:ext uri="{FF2B5EF4-FFF2-40B4-BE49-F238E27FC236}">
                <a16:creationId xmlns:a16="http://schemas.microsoft.com/office/drawing/2014/main" id="{2A8F6099-8BA6-AF5D-1234-B77A18920823}"/>
              </a:ext>
            </a:extLst>
          </p:cNvPr>
          <p:cNvSpPr txBox="1"/>
          <p:nvPr/>
        </p:nvSpPr>
        <p:spPr>
          <a:xfrm>
            <a:off x="5897880" y="3771900"/>
            <a:ext cx="274320" cy="274320"/>
          </a:xfrm>
          <a:prstGeom prst="rect">
            <a:avLst/>
          </a:prstGeom>
          <a:solidFill>
            <a:schemeClr val="accent4">
              <a:lumMod val="7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7</a:t>
            </a:r>
            <a:endParaRPr lang="en-US" sz="1300" dirty="0"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141" name="Text 39">
            <a:extLst>
              <a:ext uri="{FF2B5EF4-FFF2-40B4-BE49-F238E27FC236}">
                <a16:creationId xmlns:a16="http://schemas.microsoft.com/office/drawing/2014/main" id="{08764C6C-63A1-C192-0499-4533EC304E19}"/>
              </a:ext>
            </a:extLst>
          </p:cNvPr>
          <p:cNvSpPr txBox="1"/>
          <p:nvPr/>
        </p:nvSpPr>
        <p:spPr>
          <a:xfrm>
            <a:off x="6309360" y="37261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Rubik" panose="020B0604020202020204" charset="-79"/>
                <a:cs typeface="Rubik" panose="020B0604020202020204" charset="-79"/>
              </a:rPr>
              <a:t>Top 5 rating cabang</a:t>
            </a:r>
            <a:endParaRPr lang="en-US" sz="1400" dirty="0"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145" name="Marker">
            <a:extLst>
              <a:ext uri="{FF2B5EF4-FFF2-40B4-BE49-F238E27FC236}">
                <a16:creationId xmlns:a16="http://schemas.microsoft.com/office/drawing/2014/main" id="{21887194-568E-4FBA-D04A-CF3EA03C08D5}"/>
              </a:ext>
            </a:extLst>
          </p:cNvPr>
          <p:cNvSpPr/>
          <p:nvPr/>
        </p:nvSpPr>
        <p:spPr>
          <a:xfrm>
            <a:off x="5897880" y="4194810"/>
            <a:ext cx="274320" cy="274320"/>
          </a:xfrm>
          <a:prstGeom prst="ellipse">
            <a:avLst/>
          </a:prstGeom>
          <a:solidFill>
            <a:schemeClr val="accent4">
              <a:lumMod val="75000"/>
            </a:schemeClr>
          </a:solidFill>
          <a:ln/>
        </p:spPr>
      </p:sp>
      <p:sp>
        <p:nvSpPr>
          <p:cNvPr id="146" name="Text 41">
            <a:extLst>
              <a:ext uri="{FF2B5EF4-FFF2-40B4-BE49-F238E27FC236}">
                <a16:creationId xmlns:a16="http://schemas.microsoft.com/office/drawing/2014/main" id="{135B0BA4-911F-7AC8-FF60-CD6A662B75F6}"/>
              </a:ext>
            </a:extLst>
          </p:cNvPr>
          <p:cNvSpPr txBox="1"/>
          <p:nvPr/>
        </p:nvSpPr>
        <p:spPr>
          <a:xfrm>
            <a:off x="5897880" y="4194810"/>
            <a:ext cx="274320" cy="274320"/>
          </a:xfrm>
          <a:prstGeom prst="rect">
            <a:avLst/>
          </a:prstGeom>
          <a:solidFill>
            <a:schemeClr val="accent4">
              <a:lumMod val="7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8</a:t>
            </a:r>
            <a:endParaRPr lang="en-US" sz="1300" dirty="0"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147" name="Text 42">
            <a:extLst>
              <a:ext uri="{FF2B5EF4-FFF2-40B4-BE49-F238E27FC236}">
                <a16:creationId xmlns:a16="http://schemas.microsoft.com/office/drawing/2014/main" id="{0EEE382E-ACAE-D1AE-6210-F92C5820233F}"/>
              </a:ext>
            </a:extLst>
          </p:cNvPr>
          <p:cNvSpPr txBox="1"/>
          <p:nvPr/>
        </p:nvSpPr>
        <p:spPr>
          <a:xfrm>
            <a:off x="6309360" y="414909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Rubik" panose="020B0604020202020204" charset="-79"/>
                <a:cs typeface="Rubik" panose="020B0604020202020204" charset="-79"/>
              </a:rPr>
              <a:t>Top 10 total transaksi</a:t>
            </a:r>
            <a:endParaRPr lang="en-US" sz="1400" dirty="0">
              <a:latin typeface="Rubik" panose="020B0604020202020204" charset="-79"/>
              <a:cs typeface="Rubik" panose="020B060402020202020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9557540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g23ec2985a68_1_56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g23ec2985a68_1_56"/>
          <p:cNvPicPr preferRelativeResize="0"/>
          <p:nvPr/>
        </p:nvPicPr>
        <p:blipFill rotWithShape="1">
          <a:blip r:embed="rId4">
            <a:alphaModFix/>
          </a:blip>
          <a:srcRect t="5658" b="5649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g23ec2985a68_1_56"/>
          <p:cNvSpPr txBox="1"/>
          <p:nvPr/>
        </p:nvSpPr>
        <p:spPr>
          <a:xfrm>
            <a:off x="109612" y="80193"/>
            <a:ext cx="8463000" cy="461635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49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5715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</a:pPr>
            <a:r>
              <a:rPr lang="en" sz="1800" b="1" dirty="0">
                <a:latin typeface="Rubik"/>
                <a:ea typeface="Rubik"/>
                <a:cs typeface="Rubik"/>
                <a:sym typeface="Rubik"/>
              </a:rPr>
              <a:t>5. Dashboard  Performance Analytics</a:t>
            </a:r>
            <a:endParaRPr sz="1800" b="1" i="0" u="none" strike="noStrike" cap="none" dirty="0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00BAD27-005D-FB1F-F012-197512C61775}"/>
              </a:ext>
            </a:extLst>
          </p:cNvPr>
          <p:cNvSpPr txBox="1"/>
          <p:nvPr/>
        </p:nvSpPr>
        <p:spPr>
          <a:xfrm>
            <a:off x="340499" y="4770301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100" dirty="0">
                <a:solidFill>
                  <a:schemeClr val="accent2">
                    <a:lumMod val="75000"/>
                    <a:lumOff val="25000"/>
                  </a:schemeClr>
                </a:solidFill>
                <a:latin typeface="Rubik"/>
                <a:ea typeface="Rubik"/>
                <a:cs typeface="Rubik"/>
                <a:sym typeface="Rubik"/>
              </a:rPr>
              <a:t>Kimia </a:t>
            </a:r>
            <a:r>
              <a:rPr lang="en-ID" sz="1100" dirty="0" err="1">
                <a:solidFill>
                  <a:schemeClr val="accent2">
                    <a:lumMod val="75000"/>
                    <a:lumOff val="25000"/>
                  </a:schemeClr>
                </a:solidFill>
                <a:latin typeface="Rubik"/>
                <a:ea typeface="Rubik"/>
                <a:cs typeface="Rubik"/>
                <a:sym typeface="Rubik"/>
              </a:rPr>
              <a:t>Farma</a:t>
            </a:r>
            <a:r>
              <a:rPr lang="en-ID" sz="1100" dirty="0">
                <a:solidFill>
                  <a:schemeClr val="accent2">
                    <a:lumMod val="75000"/>
                    <a:lumOff val="25000"/>
                  </a:schemeClr>
                </a:solidFill>
                <a:latin typeface="Rubik"/>
                <a:ea typeface="Rubik"/>
                <a:cs typeface="Rubik"/>
                <a:sym typeface="Rubik"/>
              </a:rPr>
              <a:t> Performance Analytics 2020-2023</a:t>
            </a:r>
            <a:endParaRPr lang="en-ID" sz="1100" dirty="0">
              <a:solidFill>
                <a:schemeClr val="accent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50E77AF-0800-E0B6-BFFD-C429A04491CF}"/>
              </a:ext>
            </a:extLst>
          </p:cNvPr>
          <p:cNvSpPr txBox="1">
            <a:spLocks/>
          </p:cNvSpPr>
          <p:nvPr/>
        </p:nvSpPr>
        <p:spPr>
          <a:xfrm>
            <a:off x="457200" y="434897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800" b="1">
                <a:solidFill>
                  <a:srgbClr val="01949E"/>
                </a:solidFill>
                <a:latin typeface="Rubik" panose="020B0604020202020204" charset="-79"/>
                <a:cs typeface="Rubik" panose="020B0604020202020204" charset="-79"/>
              </a:rPr>
              <a:t>Filter, Ringkasan, dan Peta</a:t>
            </a:r>
            <a:endParaRPr lang="en-US" sz="2800" dirty="0">
              <a:solidFill>
                <a:srgbClr val="01949E"/>
              </a:solidFill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40" name="Frame">
            <a:extLst>
              <a:ext uri="{FF2B5EF4-FFF2-40B4-BE49-F238E27FC236}">
                <a16:creationId xmlns:a16="http://schemas.microsoft.com/office/drawing/2014/main" id="{A0FDF615-2A67-E5F6-39C8-1E3318C3E580}"/>
              </a:ext>
            </a:extLst>
          </p:cNvPr>
          <p:cNvSpPr/>
          <p:nvPr/>
        </p:nvSpPr>
        <p:spPr>
          <a:xfrm>
            <a:off x="411480" y="1782619"/>
            <a:ext cx="2743200" cy="412402"/>
          </a:xfrm>
          <a:prstGeom prst="roundRect">
            <a:avLst>
              <a:gd name="adj" fmla="val 13304"/>
            </a:avLst>
          </a:prstGeom>
          <a:solidFill>
            <a:srgbClr val="FFFFFF"/>
          </a:solidFill>
          <a:ln w="9525">
            <a:solidFill>
              <a:srgbClr val="D5DDEB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41" name="Image 0" descr="Filter control">
            <a:extLst>
              <a:ext uri="{FF2B5EF4-FFF2-40B4-BE49-F238E27FC236}">
                <a16:creationId xmlns:a16="http://schemas.microsoft.com/office/drawing/2014/main" id="{75CB0F5E-26A6-18F1-A4FB-DE46F4805B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828339"/>
            <a:ext cx="2651760" cy="320962"/>
          </a:xfrm>
          <a:prstGeom prst="rect">
            <a:avLst/>
          </a:prstGeom>
        </p:spPr>
      </p:pic>
      <p:sp>
        <p:nvSpPr>
          <p:cNvPr id="42" name="Card">
            <a:extLst>
              <a:ext uri="{FF2B5EF4-FFF2-40B4-BE49-F238E27FC236}">
                <a16:creationId xmlns:a16="http://schemas.microsoft.com/office/drawing/2014/main" id="{66B89747-F8C1-5DEC-7586-C78530DCAAAD}"/>
              </a:ext>
            </a:extLst>
          </p:cNvPr>
          <p:cNvSpPr/>
          <p:nvPr/>
        </p:nvSpPr>
        <p:spPr>
          <a:xfrm>
            <a:off x="457200" y="2971800"/>
            <a:ext cx="2651760" cy="1332571"/>
          </a:xfrm>
          <a:prstGeom prst="roundRect">
            <a:avLst>
              <a:gd name="adj" fmla="val 4444"/>
            </a:avLst>
          </a:prstGeom>
          <a:solidFill>
            <a:srgbClr val="01949E"/>
          </a:solidFill>
          <a:ln/>
        </p:spPr>
      </p:sp>
      <p:sp>
        <p:nvSpPr>
          <p:cNvPr id="43" name="Text 4">
            <a:extLst>
              <a:ext uri="{FF2B5EF4-FFF2-40B4-BE49-F238E27FC236}">
                <a16:creationId xmlns:a16="http://schemas.microsoft.com/office/drawing/2014/main" id="{F58670C4-0FF0-EA7C-2F86-8EAC5B554912}"/>
              </a:ext>
            </a:extLst>
          </p:cNvPr>
          <p:cNvSpPr txBox="1"/>
          <p:nvPr/>
        </p:nvSpPr>
        <p:spPr>
          <a:xfrm>
            <a:off x="566928" y="3044952"/>
            <a:ext cx="2432304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1"/>
                </a:solidFill>
                <a:latin typeface="Rubik" panose="020B0604020202020204" charset="-79"/>
                <a:cs typeface="Rubik" panose="020B0604020202020204" charset="-79"/>
              </a:rPr>
              <a:t>Filter control</a:t>
            </a:r>
            <a:endParaRPr lang="en-US" sz="1200" dirty="0">
              <a:solidFill>
                <a:schemeClr val="tx1"/>
              </a:solidFill>
              <a:latin typeface="Rubik" panose="020B0604020202020204" charset="-79"/>
              <a:cs typeface="Rubik" panose="020B0604020202020204" charset="-79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1"/>
                </a:solidFill>
                <a:latin typeface="Rubik" panose="020B0604020202020204" charset="-79"/>
                <a:cs typeface="Rubik" panose="020B0604020202020204" charset="-79"/>
              </a:rPr>
              <a:t>Fungsi: </a:t>
            </a:r>
            <a:r>
              <a:rPr lang="en-US" sz="1200" dirty="0">
                <a:solidFill>
                  <a:schemeClr val="tx1"/>
                </a:solidFill>
                <a:latin typeface="Rubik" panose="020B0604020202020204" charset="-79"/>
                <a:cs typeface="Rubik" panose="020B0604020202020204" charset="-79"/>
              </a:rPr>
              <a:t>Tanggal, tahun, kota, provinsi menyaring semua grafik.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1"/>
                </a:solidFill>
                <a:latin typeface="Rubik" panose="020B0604020202020204" charset="-79"/>
                <a:cs typeface="Rubik" panose="020B0604020202020204" charset="-79"/>
              </a:rPr>
              <a:t>Insight: </a:t>
            </a:r>
            <a:r>
              <a:rPr lang="en-US" sz="1200" dirty="0">
                <a:solidFill>
                  <a:schemeClr val="tx1"/>
                </a:solidFill>
                <a:latin typeface="Rubik" panose="020B0604020202020204" charset="-79"/>
                <a:cs typeface="Rubik" panose="020B0604020202020204" charset="-79"/>
              </a:rPr>
              <a:t>Memudahkan drill-down per periode dan wilayah.</a:t>
            </a:r>
          </a:p>
        </p:txBody>
      </p:sp>
      <p:sp>
        <p:nvSpPr>
          <p:cNvPr id="44" name="Frame">
            <a:extLst>
              <a:ext uri="{FF2B5EF4-FFF2-40B4-BE49-F238E27FC236}">
                <a16:creationId xmlns:a16="http://schemas.microsoft.com/office/drawing/2014/main" id="{B0B73921-A0DB-A8F9-533D-D06D405F67DD}"/>
              </a:ext>
            </a:extLst>
          </p:cNvPr>
          <p:cNvSpPr/>
          <p:nvPr/>
        </p:nvSpPr>
        <p:spPr>
          <a:xfrm>
            <a:off x="3200400" y="1589532"/>
            <a:ext cx="2743200" cy="798576"/>
          </a:xfrm>
          <a:prstGeom prst="roundRect">
            <a:avLst>
              <a:gd name="adj" fmla="val 6870"/>
            </a:avLst>
          </a:prstGeom>
          <a:solidFill>
            <a:srgbClr val="FFFFFF"/>
          </a:solidFill>
          <a:ln w="9525">
            <a:solidFill>
              <a:srgbClr val="D5DDEB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45" name="Image 1" descr="Kartu ringkasan">
            <a:extLst>
              <a:ext uri="{FF2B5EF4-FFF2-40B4-BE49-F238E27FC236}">
                <a16:creationId xmlns:a16="http://schemas.microsoft.com/office/drawing/2014/main" id="{72BEA2B0-5FC7-BA42-82CF-4E3417A00D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46120" y="1635252"/>
            <a:ext cx="2651760" cy="707136"/>
          </a:xfrm>
          <a:prstGeom prst="rect">
            <a:avLst/>
          </a:prstGeom>
        </p:spPr>
      </p:pic>
      <p:sp>
        <p:nvSpPr>
          <p:cNvPr id="46" name="Card">
            <a:extLst>
              <a:ext uri="{FF2B5EF4-FFF2-40B4-BE49-F238E27FC236}">
                <a16:creationId xmlns:a16="http://schemas.microsoft.com/office/drawing/2014/main" id="{F615F07B-0F08-0F4A-CE9D-AB0610DD0FF7}"/>
              </a:ext>
            </a:extLst>
          </p:cNvPr>
          <p:cNvSpPr/>
          <p:nvPr/>
        </p:nvSpPr>
        <p:spPr>
          <a:xfrm>
            <a:off x="3246120" y="2971800"/>
            <a:ext cx="2651760" cy="1332571"/>
          </a:xfrm>
          <a:prstGeom prst="roundRect">
            <a:avLst>
              <a:gd name="adj" fmla="val 4444"/>
            </a:avLst>
          </a:prstGeom>
          <a:solidFill>
            <a:srgbClr val="01949E"/>
          </a:solidFill>
          <a:ln/>
        </p:spPr>
      </p:sp>
      <p:sp>
        <p:nvSpPr>
          <p:cNvPr id="47" name="Text 7">
            <a:extLst>
              <a:ext uri="{FF2B5EF4-FFF2-40B4-BE49-F238E27FC236}">
                <a16:creationId xmlns:a16="http://schemas.microsoft.com/office/drawing/2014/main" id="{ED7E9CF6-6CC2-85A7-B781-2F944C08FB6C}"/>
              </a:ext>
            </a:extLst>
          </p:cNvPr>
          <p:cNvSpPr txBox="1"/>
          <p:nvPr/>
        </p:nvSpPr>
        <p:spPr>
          <a:xfrm>
            <a:off x="3355848" y="3044952"/>
            <a:ext cx="2442786" cy="1493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1"/>
                </a:solidFill>
                <a:latin typeface="Rubik" panose="020B0604020202020204" charset="-79"/>
                <a:cs typeface="Rubik" panose="020B0604020202020204" charset="-79"/>
              </a:rPr>
              <a:t>Kartu ringkasan</a:t>
            </a:r>
            <a:endParaRPr lang="en-US" sz="1200" dirty="0">
              <a:solidFill>
                <a:schemeClr val="tx1"/>
              </a:solidFill>
              <a:latin typeface="Rubik" panose="020B0604020202020204" charset="-79"/>
              <a:cs typeface="Rubik" panose="020B0604020202020204" charset="-79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1"/>
                </a:solidFill>
                <a:latin typeface="Rubik" panose="020B0604020202020204" charset="-79"/>
                <a:cs typeface="Rubik" panose="020B0604020202020204" charset="-79"/>
              </a:rPr>
              <a:t>Fungsi: </a:t>
            </a:r>
            <a:r>
              <a:rPr lang="en-US" sz="1200" dirty="0">
                <a:solidFill>
                  <a:schemeClr val="tx1"/>
                </a:solidFill>
                <a:latin typeface="Rubik" panose="020B0604020202020204" charset="-79"/>
                <a:cs typeface="Rubik" panose="020B0604020202020204" charset="-79"/>
              </a:rPr>
              <a:t>Lima KPI: profit, customer, transaksi, revenue, produk.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1"/>
                </a:solidFill>
                <a:latin typeface="Rubik" panose="020B0604020202020204" charset="-79"/>
                <a:cs typeface="Rubik" panose="020B0604020202020204" charset="-79"/>
              </a:rPr>
              <a:t>Insight: </a:t>
            </a:r>
            <a:r>
              <a:rPr lang="en-US" sz="1200" dirty="0">
                <a:solidFill>
                  <a:schemeClr val="tx1"/>
                </a:solidFill>
                <a:latin typeface="Rubik" panose="020B0604020202020204" charset="-79"/>
                <a:cs typeface="Rubik" panose="020B0604020202020204" charset="-79"/>
              </a:rPr>
              <a:t>Margin profit sekitar 28,4% dari revenue.</a:t>
            </a:r>
          </a:p>
        </p:txBody>
      </p:sp>
      <p:sp>
        <p:nvSpPr>
          <p:cNvPr id="48" name="Frame">
            <a:extLst>
              <a:ext uri="{FF2B5EF4-FFF2-40B4-BE49-F238E27FC236}">
                <a16:creationId xmlns:a16="http://schemas.microsoft.com/office/drawing/2014/main" id="{2166D36E-5839-C4CF-1017-EE2B7BA65D69}"/>
              </a:ext>
            </a:extLst>
          </p:cNvPr>
          <p:cNvSpPr/>
          <p:nvPr/>
        </p:nvSpPr>
        <p:spPr>
          <a:xfrm>
            <a:off x="5989320" y="1155859"/>
            <a:ext cx="2743200" cy="1665923"/>
          </a:xfrm>
          <a:prstGeom prst="roundRect">
            <a:avLst>
              <a:gd name="adj" fmla="val 3293"/>
            </a:avLst>
          </a:prstGeom>
          <a:solidFill>
            <a:srgbClr val="FFFFFF"/>
          </a:solidFill>
          <a:ln w="9525">
            <a:solidFill>
              <a:srgbClr val="D5DDEB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49" name="Image 2" descr="Geo map profit">
            <a:extLst>
              <a:ext uri="{FF2B5EF4-FFF2-40B4-BE49-F238E27FC236}">
                <a16:creationId xmlns:a16="http://schemas.microsoft.com/office/drawing/2014/main" id="{28EFD562-1B73-0E0D-238F-B9A2A34D6A6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35040" y="1201579"/>
            <a:ext cx="2651760" cy="1574483"/>
          </a:xfrm>
          <a:prstGeom prst="rect">
            <a:avLst/>
          </a:prstGeom>
        </p:spPr>
      </p:pic>
      <p:sp>
        <p:nvSpPr>
          <p:cNvPr id="50" name="Card">
            <a:extLst>
              <a:ext uri="{FF2B5EF4-FFF2-40B4-BE49-F238E27FC236}">
                <a16:creationId xmlns:a16="http://schemas.microsoft.com/office/drawing/2014/main" id="{73D1B4CA-6015-4A26-8E89-EEFD580B93FB}"/>
              </a:ext>
            </a:extLst>
          </p:cNvPr>
          <p:cNvSpPr/>
          <p:nvPr/>
        </p:nvSpPr>
        <p:spPr>
          <a:xfrm>
            <a:off x="6035040" y="2994103"/>
            <a:ext cx="2651760" cy="1310268"/>
          </a:xfrm>
          <a:prstGeom prst="roundRect">
            <a:avLst>
              <a:gd name="adj" fmla="val 4444"/>
            </a:avLst>
          </a:prstGeom>
          <a:solidFill>
            <a:srgbClr val="01949E"/>
          </a:solidFill>
          <a:ln/>
        </p:spPr>
      </p:sp>
      <p:sp>
        <p:nvSpPr>
          <p:cNvPr id="51" name="Text 10">
            <a:extLst>
              <a:ext uri="{FF2B5EF4-FFF2-40B4-BE49-F238E27FC236}">
                <a16:creationId xmlns:a16="http://schemas.microsoft.com/office/drawing/2014/main" id="{A39E9883-8FB7-9DEB-F3D1-42455C121595}"/>
              </a:ext>
            </a:extLst>
          </p:cNvPr>
          <p:cNvSpPr txBox="1"/>
          <p:nvPr/>
        </p:nvSpPr>
        <p:spPr>
          <a:xfrm>
            <a:off x="6144768" y="3044952"/>
            <a:ext cx="2432304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1"/>
                </a:solidFill>
                <a:latin typeface="Rubik" panose="020B0604020202020204" charset="-79"/>
                <a:cs typeface="Rubik" panose="020B0604020202020204" charset="-79"/>
              </a:rPr>
              <a:t>Geo map profit</a:t>
            </a:r>
            <a:endParaRPr lang="en-US" sz="1200" dirty="0">
              <a:solidFill>
                <a:schemeClr val="tx1"/>
              </a:solidFill>
              <a:latin typeface="Rubik" panose="020B0604020202020204" charset="-79"/>
              <a:cs typeface="Rubik" panose="020B0604020202020204" charset="-79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1"/>
                </a:solidFill>
                <a:latin typeface="Rubik" panose="020B0604020202020204" charset="-79"/>
                <a:cs typeface="Rubik" panose="020B0604020202020204" charset="-79"/>
              </a:rPr>
              <a:t>Fungsi: </a:t>
            </a:r>
            <a:r>
              <a:rPr lang="en-US" sz="1200" dirty="0">
                <a:solidFill>
                  <a:schemeClr val="tx1"/>
                </a:solidFill>
                <a:latin typeface="Rubik" panose="020B0604020202020204" charset="-79"/>
                <a:cs typeface="Rubik" panose="020B0604020202020204" charset="-79"/>
              </a:rPr>
              <a:t>Gelembung = total profit tiap provinsi.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1"/>
                </a:solidFill>
                <a:latin typeface="Rubik" panose="020B0604020202020204" charset="-79"/>
                <a:cs typeface="Rubik" panose="020B0604020202020204" charset="-79"/>
              </a:rPr>
              <a:t>Insight: </a:t>
            </a:r>
            <a:r>
              <a:rPr lang="en-US" sz="1200" dirty="0">
                <a:solidFill>
                  <a:schemeClr val="tx1"/>
                </a:solidFill>
                <a:latin typeface="Rubik" panose="020B0604020202020204" charset="-79"/>
                <a:cs typeface="Rubik" panose="020B0604020202020204" charset="-79"/>
              </a:rPr>
              <a:t>Jawa Barat dominan, wilayah timur masih kecil.</a:t>
            </a:r>
          </a:p>
        </p:txBody>
      </p:sp>
    </p:spTree>
    <p:extLst>
      <p:ext uri="{BB962C8B-B14F-4D97-AF65-F5344CB8AC3E}">
        <p14:creationId xmlns:p14="http://schemas.microsoft.com/office/powerpoint/2010/main" val="17114037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g23ec2985a68_1_56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9525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g23ec2985a68_1_56"/>
          <p:cNvPicPr preferRelativeResize="0"/>
          <p:nvPr/>
        </p:nvPicPr>
        <p:blipFill rotWithShape="1">
          <a:blip r:embed="rId4">
            <a:alphaModFix/>
          </a:blip>
          <a:srcRect t="5658" b="5649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g23ec2985a68_1_56"/>
          <p:cNvSpPr txBox="1"/>
          <p:nvPr/>
        </p:nvSpPr>
        <p:spPr>
          <a:xfrm>
            <a:off x="109612" y="80193"/>
            <a:ext cx="8463000" cy="461635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49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5715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</a:pPr>
            <a:r>
              <a:rPr lang="en" sz="1800" b="1" dirty="0">
                <a:latin typeface="Rubik"/>
                <a:ea typeface="Rubik"/>
                <a:cs typeface="Rubik"/>
                <a:sym typeface="Rubik"/>
              </a:rPr>
              <a:t>5. Dashboard  Performance Analytics</a:t>
            </a:r>
            <a:endParaRPr sz="1800" b="1" i="0" u="none" strike="noStrike" cap="none" dirty="0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00BAD27-005D-FB1F-F012-197512C61775}"/>
              </a:ext>
            </a:extLst>
          </p:cNvPr>
          <p:cNvSpPr txBox="1"/>
          <p:nvPr/>
        </p:nvSpPr>
        <p:spPr>
          <a:xfrm>
            <a:off x="340499" y="4770301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100" dirty="0">
                <a:solidFill>
                  <a:schemeClr val="accent2">
                    <a:lumMod val="75000"/>
                    <a:lumOff val="25000"/>
                  </a:schemeClr>
                </a:solidFill>
                <a:latin typeface="Rubik"/>
                <a:ea typeface="Rubik"/>
                <a:cs typeface="Rubik"/>
                <a:sym typeface="Rubik"/>
              </a:rPr>
              <a:t>Kimia </a:t>
            </a:r>
            <a:r>
              <a:rPr lang="en-ID" sz="1100" dirty="0" err="1">
                <a:solidFill>
                  <a:schemeClr val="accent2">
                    <a:lumMod val="75000"/>
                    <a:lumOff val="25000"/>
                  </a:schemeClr>
                </a:solidFill>
                <a:latin typeface="Rubik"/>
                <a:ea typeface="Rubik"/>
                <a:cs typeface="Rubik"/>
                <a:sym typeface="Rubik"/>
              </a:rPr>
              <a:t>Farma</a:t>
            </a:r>
            <a:r>
              <a:rPr lang="en-ID" sz="1100" dirty="0">
                <a:solidFill>
                  <a:schemeClr val="accent2">
                    <a:lumMod val="75000"/>
                    <a:lumOff val="25000"/>
                  </a:schemeClr>
                </a:solidFill>
                <a:latin typeface="Rubik"/>
                <a:ea typeface="Rubik"/>
                <a:cs typeface="Rubik"/>
                <a:sym typeface="Rubik"/>
              </a:rPr>
              <a:t> Performance Analytics 2020-2023</a:t>
            </a:r>
            <a:endParaRPr lang="en-ID" sz="1100" dirty="0">
              <a:solidFill>
                <a:schemeClr val="accent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665F929D-AFEE-4FD4-9188-9A21A0849D76}"/>
              </a:ext>
            </a:extLst>
          </p:cNvPr>
          <p:cNvSpPr txBox="1">
            <a:spLocks/>
          </p:cNvSpPr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800" b="1" dirty="0">
                <a:solidFill>
                  <a:srgbClr val="01949E"/>
                </a:solidFill>
                <a:latin typeface="Rubik" panose="020B0604020202020204" charset="-79"/>
                <a:cs typeface="Rubik" panose="020B0604020202020204" charset="-79"/>
              </a:rPr>
              <a:t>Donut Cabang &amp; </a:t>
            </a:r>
            <a:r>
              <a:rPr lang="en-US" sz="2800" b="1" dirty="0" err="1">
                <a:solidFill>
                  <a:srgbClr val="01949E"/>
                </a:solidFill>
                <a:latin typeface="Rubik" panose="020B0604020202020204" charset="-79"/>
                <a:cs typeface="Rubik" panose="020B0604020202020204" charset="-79"/>
              </a:rPr>
              <a:t>Tren</a:t>
            </a:r>
            <a:r>
              <a:rPr lang="en-US" sz="2800" b="1" dirty="0">
                <a:solidFill>
                  <a:srgbClr val="01949E"/>
                </a:solidFill>
                <a:latin typeface="Rubik" panose="020B0604020202020204" charset="-79"/>
                <a:cs typeface="Rubik" panose="020B0604020202020204" charset="-79"/>
              </a:rPr>
              <a:t> Profit</a:t>
            </a:r>
            <a:endParaRPr lang="en-US" sz="2800" dirty="0">
              <a:solidFill>
                <a:srgbClr val="01949E"/>
              </a:solidFill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5" name="Frame">
            <a:extLst>
              <a:ext uri="{FF2B5EF4-FFF2-40B4-BE49-F238E27FC236}">
                <a16:creationId xmlns:a16="http://schemas.microsoft.com/office/drawing/2014/main" id="{5AF006B0-0932-5CE0-AFFA-D93B608989D3}"/>
              </a:ext>
            </a:extLst>
          </p:cNvPr>
          <p:cNvSpPr/>
          <p:nvPr/>
        </p:nvSpPr>
        <p:spPr>
          <a:xfrm>
            <a:off x="460150" y="1143000"/>
            <a:ext cx="4040321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9525">
            <a:solidFill>
              <a:srgbClr val="D5DDEB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Distribusi profit kategori cabang">
            <a:extLst>
              <a:ext uri="{FF2B5EF4-FFF2-40B4-BE49-F238E27FC236}">
                <a16:creationId xmlns:a16="http://schemas.microsoft.com/office/drawing/2014/main" id="{DECABECB-E63F-D44C-6449-EDC32ADEF3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870" y="1188720"/>
            <a:ext cx="3948881" cy="1920240"/>
          </a:xfrm>
          <a:prstGeom prst="rect">
            <a:avLst/>
          </a:prstGeom>
        </p:spPr>
      </p:pic>
      <p:sp>
        <p:nvSpPr>
          <p:cNvPr id="7" name="Card">
            <a:extLst>
              <a:ext uri="{FF2B5EF4-FFF2-40B4-BE49-F238E27FC236}">
                <a16:creationId xmlns:a16="http://schemas.microsoft.com/office/drawing/2014/main" id="{7060C8DF-96C1-224A-180C-881AB930D594}"/>
              </a:ext>
            </a:extLst>
          </p:cNvPr>
          <p:cNvSpPr/>
          <p:nvPr/>
        </p:nvSpPr>
        <p:spPr>
          <a:xfrm>
            <a:off x="457200" y="3291840"/>
            <a:ext cx="4046220" cy="1325880"/>
          </a:xfrm>
          <a:prstGeom prst="roundRect">
            <a:avLst>
              <a:gd name="adj" fmla="val 5517"/>
            </a:avLst>
          </a:prstGeom>
          <a:solidFill>
            <a:srgbClr val="003C7B"/>
          </a:solidFill>
          <a:ln/>
        </p:spPr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794FA79D-0B4A-3EC5-6CEC-46DE053A1E5E}"/>
              </a:ext>
            </a:extLst>
          </p:cNvPr>
          <p:cNvSpPr txBox="1"/>
          <p:nvPr/>
        </p:nvSpPr>
        <p:spPr>
          <a:xfrm>
            <a:off x="566928" y="3387294"/>
            <a:ext cx="3826764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Distribusi profit kategori cabang</a:t>
            </a:r>
            <a:endParaRPr lang="en-US" sz="1200" dirty="0">
              <a:solidFill>
                <a:schemeClr val="bg1"/>
              </a:solidFill>
              <a:latin typeface="Rubik" panose="020B0604020202020204" charset="-79"/>
              <a:cs typeface="Rubik" panose="020B0604020202020204" charset="-79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Fungsi: </a:t>
            </a:r>
            <a:r>
              <a:rPr lang="en-US" sz="1200" dirty="0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Porsi profit Apotek, Klinik &amp; Apotek, Klinik-Apotek.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Insight: </a:t>
            </a:r>
            <a:r>
              <a:rPr lang="en-US" sz="1200" dirty="0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Hampir sama rata (sekitar 33%), ketiganya setara.</a:t>
            </a:r>
          </a:p>
        </p:txBody>
      </p:sp>
      <p:sp>
        <p:nvSpPr>
          <p:cNvPr id="9" name="Frame">
            <a:extLst>
              <a:ext uri="{FF2B5EF4-FFF2-40B4-BE49-F238E27FC236}">
                <a16:creationId xmlns:a16="http://schemas.microsoft.com/office/drawing/2014/main" id="{0D4368FD-26E8-6DD7-0195-25B1DE334BA5}"/>
              </a:ext>
            </a:extLst>
          </p:cNvPr>
          <p:cNvSpPr/>
          <p:nvPr/>
        </p:nvSpPr>
        <p:spPr>
          <a:xfrm>
            <a:off x="4892754" y="1143000"/>
            <a:ext cx="3541871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9525">
            <a:solidFill>
              <a:srgbClr val="D5DDEB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0" name="Image 1" descr="Perbandingan profit tahunan">
            <a:extLst>
              <a:ext uri="{FF2B5EF4-FFF2-40B4-BE49-F238E27FC236}">
                <a16:creationId xmlns:a16="http://schemas.microsoft.com/office/drawing/2014/main" id="{207488F8-C7DE-8BBA-BA47-D5E4F4AE82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8474" y="1188720"/>
            <a:ext cx="3450431" cy="1920240"/>
          </a:xfrm>
          <a:prstGeom prst="rect">
            <a:avLst/>
          </a:prstGeom>
        </p:spPr>
      </p:pic>
      <p:sp>
        <p:nvSpPr>
          <p:cNvPr id="11" name="Card">
            <a:extLst>
              <a:ext uri="{FF2B5EF4-FFF2-40B4-BE49-F238E27FC236}">
                <a16:creationId xmlns:a16="http://schemas.microsoft.com/office/drawing/2014/main" id="{B3F20059-C94B-19DA-440B-69ABA96010BB}"/>
              </a:ext>
            </a:extLst>
          </p:cNvPr>
          <p:cNvSpPr/>
          <p:nvPr/>
        </p:nvSpPr>
        <p:spPr>
          <a:xfrm>
            <a:off x="4640580" y="3291840"/>
            <a:ext cx="4046220" cy="1335916"/>
          </a:xfrm>
          <a:prstGeom prst="roundRect">
            <a:avLst>
              <a:gd name="adj" fmla="val 5517"/>
            </a:avLst>
          </a:prstGeom>
          <a:solidFill>
            <a:srgbClr val="003C7B"/>
          </a:solidFill>
          <a:ln/>
        </p:spPr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311DC476-D0B8-6A2D-1CE9-66F60881850D}"/>
              </a:ext>
            </a:extLst>
          </p:cNvPr>
          <p:cNvSpPr txBox="1"/>
          <p:nvPr/>
        </p:nvSpPr>
        <p:spPr>
          <a:xfrm>
            <a:off x="4750308" y="3364992"/>
            <a:ext cx="3847282" cy="1162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Perbandingan profit tahunan</a:t>
            </a:r>
            <a:endParaRPr lang="en-US" sz="1200" dirty="0">
              <a:solidFill>
                <a:schemeClr val="bg1"/>
              </a:solidFill>
              <a:latin typeface="Rubik" panose="020B0604020202020204" charset="-79"/>
              <a:cs typeface="Rubik" panose="020B0604020202020204" charset="-79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Fungsi: </a:t>
            </a:r>
            <a:r>
              <a:rPr lang="en-US" sz="1200" dirty="0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Satu garis per tahun, sumbu X </a:t>
            </a:r>
            <a:r>
              <a:rPr lang="en-US" sz="1200" dirty="0" err="1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menunjukkan</a:t>
            </a:r>
            <a:r>
              <a:rPr lang="en-US" sz="1200" dirty="0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bulan</a:t>
            </a:r>
            <a:r>
              <a:rPr lang="en-US" sz="1200" dirty="0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 Jan-Des.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Insight: </a:t>
            </a:r>
            <a:r>
              <a:rPr lang="en-US" sz="1200" dirty="0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Garis berimpit: pola musiman sama, </a:t>
            </a:r>
            <a:r>
              <a:rPr lang="en-US" sz="1200" dirty="0" err="1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terendah</a:t>
            </a:r>
            <a:r>
              <a:rPr lang="en-US" sz="1200" dirty="0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 di </a:t>
            </a:r>
            <a:r>
              <a:rPr lang="en-US" sz="1200" dirty="0" err="1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Februari</a:t>
            </a:r>
            <a:r>
              <a:rPr lang="en-US" sz="1200" dirty="0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 </a:t>
            </a:r>
            <a:r>
              <a:rPr lang="en-US" sz="1200" dirty="0">
                <a:solidFill>
                  <a:srgbClr val="FFFFFF"/>
                </a:solidFill>
                <a:latin typeface="Rubik" panose="020B0604020202020204" charset="-79"/>
                <a:cs typeface="Rubik" panose="020B0604020202020204" charset="-79"/>
              </a:rPr>
              <a:t>(</a:t>
            </a:r>
            <a:r>
              <a:rPr lang="en-US" sz="1200" dirty="0" err="1">
                <a:solidFill>
                  <a:srgbClr val="FFFFFF"/>
                </a:solidFill>
                <a:latin typeface="Rubik" panose="020B0604020202020204" charset="-79"/>
                <a:cs typeface="Rubik" panose="020B0604020202020204" charset="-79"/>
              </a:rPr>
              <a:t>sekitar</a:t>
            </a:r>
            <a:r>
              <a:rPr lang="en-US" sz="1200" dirty="0">
                <a:solidFill>
                  <a:srgbClr val="FFFFFF"/>
                </a:solidFill>
                <a:latin typeface="Rubik" panose="020B0604020202020204" charset="-79"/>
                <a:cs typeface="Rubik" panose="020B0604020202020204" charset="-79"/>
              </a:rPr>
              <a:t> Rp1,9 M) </a:t>
            </a:r>
            <a:r>
              <a:rPr lang="en-US" sz="1200" dirty="0" err="1">
                <a:solidFill>
                  <a:srgbClr val="FFFFFF"/>
                </a:solidFill>
                <a:latin typeface="Rubik" panose="020B0604020202020204" charset="-79"/>
                <a:cs typeface="Rubik" panose="020B0604020202020204" charset="-79"/>
              </a:rPr>
              <a:t>dengan</a:t>
            </a:r>
            <a:r>
              <a:rPr lang="en-US" sz="1200" dirty="0">
                <a:solidFill>
                  <a:srgbClr val="FFFFFF"/>
                </a:solidFill>
                <a:latin typeface="Rubik" panose="020B0604020202020204" charset="-79"/>
                <a:cs typeface="Rubik" panose="020B0604020202020204" charset="-79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Rubik" panose="020B0604020202020204" charset="-79"/>
                <a:cs typeface="Rubik" panose="020B0604020202020204" charset="-79"/>
              </a:rPr>
              <a:t>puncak</a:t>
            </a:r>
            <a:r>
              <a:rPr lang="en-US" sz="1200" dirty="0">
                <a:solidFill>
                  <a:srgbClr val="FFFFFF"/>
                </a:solidFill>
                <a:latin typeface="Rubik" panose="020B0604020202020204" charset="-79"/>
                <a:cs typeface="Rubik" panose="020B0604020202020204" charset="-79"/>
              </a:rPr>
              <a:t> di </a:t>
            </a:r>
            <a:r>
              <a:rPr lang="en-US" sz="1200" dirty="0" err="1">
                <a:solidFill>
                  <a:srgbClr val="FFFFFF"/>
                </a:solidFill>
                <a:latin typeface="Rubik" panose="020B0604020202020204" charset="-79"/>
                <a:cs typeface="Rubik" panose="020B0604020202020204" charset="-79"/>
              </a:rPr>
              <a:t>Maret</a:t>
            </a:r>
            <a:r>
              <a:rPr lang="en-US" sz="1200" dirty="0">
                <a:solidFill>
                  <a:srgbClr val="FFFFFF"/>
                </a:solidFill>
                <a:latin typeface="Rubik" panose="020B0604020202020204" charset="-79"/>
                <a:cs typeface="Rubik" panose="020B0604020202020204" charset="-79"/>
              </a:rPr>
              <a:t> &amp; Mei (</a:t>
            </a:r>
            <a:r>
              <a:rPr lang="en-US" sz="1200" dirty="0" err="1">
                <a:solidFill>
                  <a:srgbClr val="FFFFFF"/>
                </a:solidFill>
                <a:latin typeface="Rubik" panose="020B0604020202020204" charset="-79"/>
                <a:cs typeface="Rubik" panose="020B0604020202020204" charset="-79"/>
              </a:rPr>
              <a:t>sekitar</a:t>
            </a:r>
            <a:r>
              <a:rPr lang="en-US" sz="1200" dirty="0">
                <a:solidFill>
                  <a:srgbClr val="FFFFFF"/>
                </a:solidFill>
                <a:latin typeface="Rubik" panose="020B0604020202020204" charset="-79"/>
                <a:cs typeface="Rubik" panose="020B0604020202020204" charset="-79"/>
              </a:rPr>
              <a:t> Rp2,1 M).</a:t>
            </a:r>
          </a:p>
        </p:txBody>
      </p:sp>
      <p:sp>
        <p:nvSpPr>
          <p:cNvPr id="3" name="Card">
            <a:extLst>
              <a:ext uri="{FF2B5EF4-FFF2-40B4-BE49-F238E27FC236}">
                <a16:creationId xmlns:a16="http://schemas.microsoft.com/office/drawing/2014/main" id="{BC2C71FF-6226-B216-CA2A-5C6D3E9303C3}"/>
              </a:ext>
            </a:extLst>
          </p:cNvPr>
          <p:cNvSpPr/>
          <p:nvPr/>
        </p:nvSpPr>
        <p:spPr>
          <a:xfrm>
            <a:off x="7810354" y="1255299"/>
            <a:ext cx="1104720" cy="536535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F4508120-B4A5-94A6-FF6C-A9C5BF7F3C4C}"/>
              </a:ext>
            </a:extLst>
          </p:cNvPr>
          <p:cNvSpPr txBox="1"/>
          <p:nvPr/>
        </p:nvSpPr>
        <p:spPr>
          <a:xfrm>
            <a:off x="7910912" y="1276711"/>
            <a:ext cx="1104720" cy="233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chemeClr val="bg1"/>
                </a:solidFill>
                <a:latin typeface="Rubik" panose="020B0604020202020204" charset="-79"/>
                <a:ea typeface="Cambria" pitchFamily="34" charset="-122"/>
                <a:cs typeface="Rubik" panose="020B0604020202020204" charset="-79"/>
              </a:rPr>
              <a:t>Rp24,6 M</a:t>
            </a:r>
            <a:endParaRPr lang="en-US" sz="800" dirty="0">
              <a:solidFill>
                <a:schemeClr val="bg1"/>
              </a:solidFill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89DE55A9-84F5-EFE3-8248-08B1AAF627AC}"/>
              </a:ext>
            </a:extLst>
          </p:cNvPr>
          <p:cNvSpPr txBox="1"/>
          <p:nvPr/>
        </p:nvSpPr>
        <p:spPr>
          <a:xfrm>
            <a:off x="7910912" y="1481048"/>
            <a:ext cx="1104720" cy="20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profit rata-rata per tahun</a:t>
            </a:r>
          </a:p>
        </p:txBody>
      </p:sp>
      <p:sp>
        <p:nvSpPr>
          <p:cNvPr id="15" name="Card">
            <a:extLst>
              <a:ext uri="{FF2B5EF4-FFF2-40B4-BE49-F238E27FC236}">
                <a16:creationId xmlns:a16="http://schemas.microsoft.com/office/drawing/2014/main" id="{A255A0A3-C63E-DA9F-8AF5-BBECDFD9A794}"/>
              </a:ext>
            </a:extLst>
          </p:cNvPr>
          <p:cNvSpPr/>
          <p:nvPr/>
        </p:nvSpPr>
        <p:spPr>
          <a:xfrm>
            <a:off x="7781707" y="2275712"/>
            <a:ext cx="1104720" cy="536535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9821B53E-F1BA-6C12-6105-476A12EFB618}"/>
              </a:ext>
            </a:extLst>
          </p:cNvPr>
          <p:cNvSpPr txBox="1"/>
          <p:nvPr/>
        </p:nvSpPr>
        <p:spPr>
          <a:xfrm>
            <a:off x="7882265" y="2285973"/>
            <a:ext cx="1104720" cy="233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chemeClr val="bg1"/>
                </a:solidFill>
                <a:latin typeface="Rubik" panose="020B0604020202020204" charset="-79"/>
                <a:ea typeface="Cambria" pitchFamily="34" charset="-122"/>
                <a:cs typeface="Rubik" panose="020B0604020202020204" charset="-79"/>
              </a:rPr>
              <a:t>Rp2,05 M</a:t>
            </a:r>
            <a:endParaRPr lang="en-US" sz="800" dirty="0">
              <a:solidFill>
                <a:schemeClr val="bg1"/>
              </a:solidFill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878B211F-C1E8-E706-93A4-20E0D6E49BBA}"/>
              </a:ext>
            </a:extLst>
          </p:cNvPr>
          <p:cNvSpPr txBox="1"/>
          <p:nvPr/>
        </p:nvSpPr>
        <p:spPr>
          <a:xfrm>
            <a:off x="7882265" y="2468008"/>
            <a:ext cx="1104720" cy="20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profit rata-rata per bulan</a:t>
            </a:r>
          </a:p>
        </p:txBody>
      </p:sp>
    </p:spTree>
    <p:extLst>
      <p:ext uri="{BB962C8B-B14F-4D97-AF65-F5344CB8AC3E}">
        <p14:creationId xmlns:p14="http://schemas.microsoft.com/office/powerpoint/2010/main" val="870320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g23ec2985a68_1_56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g23ec2985a68_1_56"/>
          <p:cNvPicPr preferRelativeResize="0"/>
          <p:nvPr/>
        </p:nvPicPr>
        <p:blipFill rotWithShape="1">
          <a:blip r:embed="rId4">
            <a:alphaModFix/>
          </a:blip>
          <a:srcRect t="5658" b="5649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g23ec2985a68_1_56"/>
          <p:cNvSpPr txBox="1"/>
          <p:nvPr/>
        </p:nvSpPr>
        <p:spPr>
          <a:xfrm>
            <a:off x="109612" y="80193"/>
            <a:ext cx="8463000" cy="461635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49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5715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</a:pPr>
            <a:r>
              <a:rPr lang="en" sz="1800" b="1" dirty="0">
                <a:latin typeface="Rubik"/>
                <a:ea typeface="Rubik"/>
                <a:cs typeface="Rubik"/>
                <a:sym typeface="Rubik"/>
              </a:rPr>
              <a:t>5. Dashboard  Performance Analytics</a:t>
            </a:r>
            <a:endParaRPr sz="1800" b="1" i="0" u="none" strike="noStrike" cap="none" dirty="0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00BAD27-005D-FB1F-F012-197512C61775}"/>
              </a:ext>
            </a:extLst>
          </p:cNvPr>
          <p:cNvSpPr txBox="1"/>
          <p:nvPr/>
        </p:nvSpPr>
        <p:spPr>
          <a:xfrm>
            <a:off x="340499" y="4770301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100" dirty="0">
                <a:solidFill>
                  <a:schemeClr val="accent2">
                    <a:lumMod val="75000"/>
                    <a:lumOff val="25000"/>
                  </a:schemeClr>
                </a:solidFill>
                <a:latin typeface="Rubik"/>
                <a:ea typeface="Rubik"/>
                <a:cs typeface="Rubik"/>
                <a:sym typeface="Rubik"/>
              </a:rPr>
              <a:t>Kimia </a:t>
            </a:r>
            <a:r>
              <a:rPr lang="en-ID" sz="1100" dirty="0" err="1">
                <a:solidFill>
                  <a:schemeClr val="accent2">
                    <a:lumMod val="75000"/>
                    <a:lumOff val="25000"/>
                  </a:schemeClr>
                </a:solidFill>
                <a:latin typeface="Rubik"/>
                <a:ea typeface="Rubik"/>
                <a:cs typeface="Rubik"/>
                <a:sym typeface="Rubik"/>
              </a:rPr>
              <a:t>Farma</a:t>
            </a:r>
            <a:r>
              <a:rPr lang="en-ID" sz="1100" dirty="0">
                <a:solidFill>
                  <a:schemeClr val="accent2">
                    <a:lumMod val="75000"/>
                    <a:lumOff val="25000"/>
                  </a:schemeClr>
                </a:solidFill>
                <a:latin typeface="Rubik"/>
                <a:ea typeface="Rubik"/>
                <a:cs typeface="Rubik"/>
                <a:sym typeface="Rubik"/>
              </a:rPr>
              <a:t> Performance Analytics 2020-2023</a:t>
            </a:r>
            <a:endParaRPr lang="en-ID" sz="1100" dirty="0">
              <a:solidFill>
                <a:schemeClr val="accent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C042BAB-EAAF-5C54-1038-7E523A4DD19B}"/>
              </a:ext>
            </a:extLst>
          </p:cNvPr>
          <p:cNvSpPr txBox="1">
            <a:spLocks/>
          </p:cNvSpPr>
          <p:nvPr/>
        </p:nvSpPr>
        <p:spPr>
          <a:xfrm>
            <a:off x="457200" y="434897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800" b="1">
                <a:solidFill>
                  <a:srgbClr val="01949E"/>
                </a:solidFill>
                <a:latin typeface="Rubik" panose="020B0604020202020204" charset="-79"/>
                <a:cs typeface="Rubik" panose="020B0604020202020204" charset="-79"/>
              </a:rPr>
              <a:t>Tiga Peringkat Utama</a:t>
            </a:r>
            <a:endParaRPr lang="en-US" sz="2800" dirty="0">
              <a:solidFill>
                <a:srgbClr val="01949E"/>
              </a:solidFill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13" name="Frame">
            <a:extLst>
              <a:ext uri="{FF2B5EF4-FFF2-40B4-BE49-F238E27FC236}">
                <a16:creationId xmlns:a16="http://schemas.microsoft.com/office/drawing/2014/main" id="{436F9D50-2EDB-BD6C-606C-CE628A15245B}"/>
              </a:ext>
            </a:extLst>
          </p:cNvPr>
          <p:cNvSpPr/>
          <p:nvPr/>
        </p:nvSpPr>
        <p:spPr>
          <a:xfrm>
            <a:off x="863301" y="1143000"/>
            <a:ext cx="1839558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D5DDEB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4" name="Image 0" descr="Top 10 nett sales">
            <a:extLst>
              <a:ext uri="{FF2B5EF4-FFF2-40B4-BE49-F238E27FC236}">
                <a16:creationId xmlns:a16="http://schemas.microsoft.com/office/drawing/2014/main" id="{C7126E38-272A-1FE8-2CF5-48D5CDC36B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021" y="1188720"/>
            <a:ext cx="1748118" cy="1600200"/>
          </a:xfrm>
          <a:prstGeom prst="rect">
            <a:avLst/>
          </a:prstGeom>
        </p:spPr>
      </p:pic>
      <p:sp>
        <p:nvSpPr>
          <p:cNvPr id="15" name="Card">
            <a:extLst>
              <a:ext uri="{FF2B5EF4-FFF2-40B4-BE49-F238E27FC236}">
                <a16:creationId xmlns:a16="http://schemas.microsoft.com/office/drawing/2014/main" id="{D44DA84C-BEF5-FCF2-ED73-69B73B7F5ABF}"/>
              </a:ext>
            </a:extLst>
          </p:cNvPr>
          <p:cNvSpPr/>
          <p:nvPr/>
        </p:nvSpPr>
        <p:spPr>
          <a:xfrm>
            <a:off x="457200" y="2994102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01949E"/>
          </a:solidFill>
          <a:ln/>
        </p:spPr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B695203E-F395-F234-DC60-97F40E24C91D}"/>
              </a:ext>
            </a:extLst>
          </p:cNvPr>
          <p:cNvSpPr txBox="1"/>
          <p:nvPr/>
        </p:nvSpPr>
        <p:spPr>
          <a:xfrm>
            <a:off x="566928" y="3044952"/>
            <a:ext cx="2481072" cy="1546098"/>
          </a:xfrm>
          <a:prstGeom prst="rect">
            <a:avLst/>
          </a:prstGeom>
          <a:solidFill>
            <a:srgbClr val="01949E"/>
          </a:solidFill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12121"/>
                </a:solidFill>
                <a:latin typeface="Rubik" panose="020B0604020202020204" charset="-79"/>
                <a:cs typeface="Rubik" panose="020B0604020202020204" charset="-79"/>
              </a:rPr>
              <a:t>Top 10 nett sales</a:t>
            </a:r>
            <a:endParaRPr lang="en-US" sz="1200" dirty="0">
              <a:solidFill>
                <a:srgbClr val="212121"/>
              </a:solidFill>
              <a:latin typeface="Rubik" panose="020B0604020202020204" charset="-79"/>
              <a:cs typeface="Rubik" panose="020B0604020202020204" charset="-79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12121"/>
                </a:solidFill>
                <a:latin typeface="Rubik" panose="020B0604020202020204" charset="-79"/>
                <a:cs typeface="Rubik" panose="020B0604020202020204" charset="-79"/>
              </a:rPr>
              <a:t>Fungsi: </a:t>
            </a:r>
            <a:r>
              <a:rPr lang="en-US" sz="1200" dirty="0" err="1">
                <a:solidFill>
                  <a:srgbClr val="212121"/>
                </a:solidFill>
                <a:latin typeface="Rubik" panose="020B0604020202020204" charset="-79"/>
                <a:cs typeface="Rubik" panose="020B0604020202020204" charset="-79"/>
              </a:rPr>
              <a:t>Peringkat</a:t>
            </a:r>
            <a:r>
              <a:rPr lang="en-US" sz="1200" dirty="0">
                <a:solidFill>
                  <a:srgbClr val="212121"/>
                </a:solidFill>
                <a:latin typeface="Rubik" panose="020B0604020202020204" charset="-79"/>
                <a:cs typeface="Rubik" panose="020B0604020202020204" charset="-79"/>
              </a:rPr>
              <a:t> 10 </a:t>
            </a:r>
            <a:r>
              <a:rPr lang="en-US" sz="1200" dirty="0" err="1">
                <a:solidFill>
                  <a:srgbClr val="212121"/>
                </a:solidFill>
                <a:latin typeface="Rubik" panose="020B0604020202020204" charset="-79"/>
                <a:cs typeface="Rubik" panose="020B0604020202020204" charset="-79"/>
              </a:rPr>
              <a:t>teratas</a:t>
            </a:r>
            <a:r>
              <a:rPr lang="en-US" sz="1200" dirty="0">
                <a:solidFill>
                  <a:srgbClr val="212121"/>
                </a:solidFill>
                <a:latin typeface="Rubik" panose="020B0604020202020204" charset="-79"/>
                <a:cs typeface="Rubik" panose="020B0604020202020204" charset="-79"/>
              </a:rPr>
              <a:t> provinsi menurut SUM(nett_sales).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12121"/>
                </a:solidFill>
                <a:latin typeface="Rubik" panose="020B0604020202020204" charset="-79"/>
                <a:cs typeface="Rubik" panose="020B0604020202020204" charset="-79"/>
              </a:rPr>
              <a:t>Insight: </a:t>
            </a:r>
            <a:r>
              <a:rPr lang="en-US" sz="1200" dirty="0" err="1">
                <a:solidFill>
                  <a:srgbClr val="212121"/>
                </a:solidFill>
                <a:latin typeface="Rubik" panose="020B0604020202020204" charset="-79"/>
                <a:cs typeface="Rubik" panose="020B0604020202020204" charset="-79"/>
              </a:rPr>
              <a:t>Tertinggi</a:t>
            </a:r>
            <a:r>
              <a:rPr lang="en-US" sz="1200" dirty="0">
                <a:solidFill>
                  <a:srgbClr val="212121"/>
                </a:solidFill>
                <a:latin typeface="Rubik" panose="020B0604020202020204" charset="-79"/>
                <a:cs typeface="Rubik" panose="020B0604020202020204" charset="-79"/>
              </a:rPr>
              <a:t> di </a:t>
            </a:r>
            <a:r>
              <a:rPr lang="en-US" sz="1200" dirty="0" err="1">
                <a:solidFill>
                  <a:srgbClr val="212121"/>
                </a:solidFill>
                <a:latin typeface="Rubik" panose="020B0604020202020204" charset="-79"/>
                <a:cs typeface="Rubik" panose="020B0604020202020204" charset="-79"/>
              </a:rPr>
              <a:t>Jawa</a:t>
            </a:r>
            <a:r>
              <a:rPr lang="en-US" sz="1200" dirty="0">
                <a:solidFill>
                  <a:srgbClr val="212121"/>
                </a:solidFill>
                <a:latin typeface="Rubik" panose="020B0604020202020204" charset="-79"/>
                <a:cs typeface="Rubik" panose="020B0604020202020204" charset="-79"/>
              </a:rPr>
              <a:t> Barat </a:t>
            </a:r>
            <a:r>
              <a:rPr lang="en-US" sz="1200" dirty="0" err="1">
                <a:solidFill>
                  <a:srgbClr val="212121"/>
                </a:solidFill>
                <a:latin typeface="Rubik" panose="020B0604020202020204" charset="-79"/>
                <a:cs typeface="Rubik" panose="020B0604020202020204" charset="-79"/>
              </a:rPr>
              <a:t>sebesar</a:t>
            </a:r>
            <a:r>
              <a:rPr lang="en-US" sz="1200" dirty="0">
                <a:solidFill>
                  <a:srgbClr val="212121"/>
                </a:solidFill>
                <a:latin typeface="Rubik" panose="020B0604020202020204" charset="-79"/>
                <a:cs typeface="Rubik" panose="020B0604020202020204" charset="-79"/>
              </a:rPr>
              <a:t> Rp102,5 M, </a:t>
            </a:r>
            <a:r>
              <a:rPr lang="en-US" sz="1200" dirty="0" err="1">
                <a:solidFill>
                  <a:srgbClr val="212121"/>
                </a:solidFill>
                <a:latin typeface="Rubik" panose="020B0604020202020204" charset="-79"/>
                <a:cs typeface="Rubik" panose="020B0604020202020204" charset="-79"/>
              </a:rPr>
              <a:t>sekitar</a:t>
            </a:r>
            <a:r>
              <a:rPr lang="en-US" sz="1200" dirty="0">
                <a:solidFill>
                  <a:srgbClr val="212121"/>
                </a:solidFill>
                <a:latin typeface="Rubik" panose="020B0604020202020204" charset="-79"/>
                <a:cs typeface="Rubik" panose="020B0604020202020204" charset="-79"/>
              </a:rPr>
              <a:t> 4,1x provinsi kedua.</a:t>
            </a:r>
          </a:p>
        </p:txBody>
      </p:sp>
      <p:sp>
        <p:nvSpPr>
          <p:cNvPr id="17" name="Frame">
            <a:extLst>
              <a:ext uri="{FF2B5EF4-FFF2-40B4-BE49-F238E27FC236}">
                <a16:creationId xmlns:a16="http://schemas.microsoft.com/office/drawing/2014/main" id="{22C569E3-C931-A5B9-E1CB-705076C03426}"/>
              </a:ext>
            </a:extLst>
          </p:cNvPr>
          <p:cNvSpPr/>
          <p:nvPr/>
        </p:nvSpPr>
        <p:spPr>
          <a:xfrm>
            <a:off x="3669030" y="1143000"/>
            <a:ext cx="180594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D5DDEB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8" name="Image 1" descr="Top 10 transaksi">
            <a:extLst>
              <a:ext uri="{FF2B5EF4-FFF2-40B4-BE49-F238E27FC236}">
                <a16:creationId xmlns:a16="http://schemas.microsoft.com/office/drawing/2014/main" id="{D7B4F34D-7BD6-9A34-584D-FB6172C71E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4750" y="1188720"/>
            <a:ext cx="1714500" cy="1600200"/>
          </a:xfrm>
          <a:prstGeom prst="rect">
            <a:avLst/>
          </a:prstGeom>
        </p:spPr>
      </p:pic>
      <p:sp>
        <p:nvSpPr>
          <p:cNvPr id="19" name="Card">
            <a:extLst>
              <a:ext uri="{FF2B5EF4-FFF2-40B4-BE49-F238E27FC236}">
                <a16:creationId xmlns:a16="http://schemas.microsoft.com/office/drawing/2014/main" id="{732513BD-C677-1D27-B9F3-D8665913E74D}"/>
              </a:ext>
            </a:extLst>
          </p:cNvPr>
          <p:cNvSpPr/>
          <p:nvPr/>
        </p:nvSpPr>
        <p:spPr>
          <a:xfrm>
            <a:off x="3246120" y="297180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01949E"/>
          </a:solidFill>
          <a:ln/>
        </p:spPr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749274CB-637B-06FE-9FE3-989333BFAB8E}"/>
              </a:ext>
            </a:extLst>
          </p:cNvPr>
          <p:cNvSpPr txBox="1"/>
          <p:nvPr/>
        </p:nvSpPr>
        <p:spPr>
          <a:xfrm>
            <a:off x="3355848" y="3044952"/>
            <a:ext cx="2432304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12121"/>
                </a:solidFill>
                <a:latin typeface="Rubik" panose="020B0604020202020204" charset="-79"/>
                <a:cs typeface="Rubik" panose="020B0604020202020204" charset="-79"/>
              </a:rPr>
              <a:t>Top 10 transaksi</a:t>
            </a:r>
            <a:endParaRPr lang="en-US" sz="1200" dirty="0">
              <a:solidFill>
                <a:srgbClr val="212121"/>
              </a:solidFill>
              <a:latin typeface="Rubik" panose="020B0604020202020204" charset="-79"/>
              <a:cs typeface="Rubik" panose="020B0604020202020204" charset="-79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12121"/>
                </a:solidFill>
                <a:latin typeface="Rubik" panose="020B0604020202020204" charset="-79"/>
                <a:cs typeface="Rubik" panose="020B0604020202020204" charset="-79"/>
              </a:rPr>
              <a:t>Fungsi: </a:t>
            </a:r>
            <a:r>
              <a:rPr lang="en-US" sz="1200" dirty="0" err="1">
                <a:solidFill>
                  <a:srgbClr val="212121"/>
                </a:solidFill>
                <a:latin typeface="Rubik" panose="020B0604020202020204" charset="-79"/>
                <a:cs typeface="Rubik" panose="020B0604020202020204" charset="-79"/>
              </a:rPr>
              <a:t>Peringkat</a:t>
            </a:r>
            <a:r>
              <a:rPr lang="en-US" sz="1200" dirty="0">
                <a:solidFill>
                  <a:srgbClr val="212121"/>
                </a:solidFill>
                <a:latin typeface="Rubik" panose="020B0604020202020204" charset="-79"/>
                <a:cs typeface="Rubik" panose="020B0604020202020204" charset="-79"/>
              </a:rPr>
              <a:t> 10 </a:t>
            </a:r>
            <a:r>
              <a:rPr lang="en-US" sz="1200" dirty="0" err="1">
                <a:solidFill>
                  <a:srgbClr val="212121"/>
                </a:solidFill>
                <a:latin typeface="Rubik" panose="020B0604020202020204" charset="-79"/>
                <a:cs typeface="Rubik" panose="020B0604020202020204" charset="-79"/>
              </a:rPr>
              <a:t>teratas</a:t>
            </a:r>
            <a:r>
              <a:rPr lang="en-US" sz="1200" dirty="0">
                <a:solidFill>
                  <a:srgbClr val="212121"/>
                </a:solidFill>
                <a:latin typeface="Rubik" panose="020B0604020202020204" charset="-79"/>
                <a:cs typeface="Rubik" panose="020B0604020202020204" charset="-79"/>
              </a:rPr>
              <a:t> </a:t>
            </a:r>
            <a:r>
              <a:rPr lang="en-US" sz="1200" dirty="0" err="1">
                <a:solidFill>
                  <a:srgbClr val="212121"/>
                </a:solidFill>
                <a:latin typeface="Rubik" panose="020B0604020202020204" charset="-79"/>
                <a:cs typeface="Rubik" panose="020B0604020202020204" charset="-79"/>
              </a:rPr>
              <a:t>provinsi</a:t>
            </a:r>
            <a:r>
              <a:rPr lang="en-US" sz="1200" dirty="0">
                <a:solidFill>
                  <a:srgbClr val="212121"/>
                </a:solidFill>
                <a:latin typeface="Rubik" panose="020B0604020202020204" charset="-79"/>
                <a:cs typeface="Rubik" panose="020B0604020202020204" charset="-79"/>
              </a:rPr>
              <a:t> menurut jumlah transaksi.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12121"/>
                </a:solidFill>
                <a:latin typeface="Rubik" panose="020B0604020202020204" charset="-79"/>
                <a:cs typeface="Rubik" panose="020B0604020202020204" charset="-79"/>
              </a:rPr>
              <a:t>Insight: </a:t>
            </a:r>
            <a:r>
              <a:rPr lang="en-US" sz="1200" dirty="0">
                <a:solidFill>
                  <a:srgbClr val="212121"/>
                </a:solidFill>
                <a:latin typeface="Rubik" panose="020B0604020202020204" charset="-79"/>
                <a:cs typeface="Rubik" panose="020B0604020202020204" charset="-79"/>
              </a:rPr>
              <a:t>Urutan sama dengan nett sales. (</a:t>
            </a:r>
            <a:r>
              <a:rPr lang="en-US" sz="1200" dirty="0" err="1">
                <a:solidFill>
                  <a:srgbClr val="212121"/>
                </a:solidFill>
                <a:latin typeface="Rubik" panose="020B0604020202020204" charset="-79"/>
                <a:cs typeface="Rubik" panose="020B0604020202020204" charset="-79"/>
              </a:rPr>
              <a:t>Jawa</a:t>
            </a:r>
            <a:r>
              <a:rPr lang="en-US" sz="1200" dirty="0">
                <a:solidFill>
                  <a:srgbClr val="212121"/>
                </a:solidFill>
                <a:latin typeface="Rubik" panose="020B0604020202020204" charset="-79"/>
                <a:cs typeface="Rubik" panose="020B0604020202020204" charset="-79"/>
              </a:rPr>
              <a:t> Barat = 198,7 </a:t>
            </a:r>
            <a:r>
              <a:rPr lang="en-US" sz="1200" dirty="0" err="1">
                <a:solidFill>
                  <a:srgbClr val="212121"/>
                </a:solidFill>
                <a:latin typeface="Rubik" panose="020B0604020202020204" charset="-79"/>
                <a:cs typeface="Rubik" panose="020B0604020202020204" charset="-79"/>
              </a:rPr>
              <a:t>ribu</a:t>
            </a:r>
            <a:r>
              <a:rPr lang="en-US" sz="1200" dirty="0">
                <a:solidFill>
                  <a:srgbClr val="212121"/>
                </a:solidFill>
                <a:latin typeface="Rubik" panose="020B0604020202020204" charset="-79"/>
                <a:cs typeface="Rubik" panose="020B0604020202020204" charset="-79"/>
              </a:rPr>
              <a:t>)</a:t>
            </a:r>
          </a:p>
        </p:txBody>
      </p:sp>
      <p:sp>
        <p:nvSpPr>
          <p:cNvPr id="21" name="Frame">
            <a:extLst>
              <a:ext uri="{FF2B5EF4-FFF2-40B4-BE49-F238E27FC236}">
                <a16:creationId xmlns:a16="http://schemas.microsoft.com/office/drawing/2014/main" id="{71A71739-6EA1-8E6C-9FFF-374E0DDD17A7}"/>
              </a:ext>
            </a:extLst>
          </p:cNvPr>
          <p:cNvSpPr/>
          <p:nvPr/>
        </p:nvSpPr>
        <p:spPr>
          <a:xfrm>
            <a:off x="5989320" y="1173443"/>
            <a:ext cx="2743200" cy="1630754"/>
          </a:xfrm>
          <a:prstGeom prst="roundRect">
            <a:avLst>
              <a:gd name="adj" fmla="val 3364"/>
            </a:avLst>
          </a:prstGeom>
          <a:solidFill>
            <a:srgbClr val="FFFFFF"/>
          </a:solidFill>
          <a:ln w="9525">
            <a:solidFill>
              <a:srgbClr val="D5DDEB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2" name="Image 2" descr="Top 5 rating cabang">
            <a:extLst>
              <a:ext uri="{FF2B5EF4-FFF2-40B4-BE49-F238E27FC236}">
                <a16:creationId xmlns:a16="http://schemas.microsoft.com/office/drawing/2014/main" id="{ECD61AAC-643E-D3C7-42E5-0C694EEA2BE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35040" y="1219163"/>
            <a:ext cx="2651760" cy="1539314"/>
          </a:xfrm>
          <a:prstGeom prst="rect">
            <a:avLst/>
          </a:prstGeom>
        </p:spPr>
      </p:pic>
      <p:sp>
        <p:nvSpPr>
          <p:cNvPr id="23" name="Card">
            <a:extLst>
              <a:ext uri="{FF2B5EF4-FFF2-40B4-BE49-F238E27FC236}">
                <a16:creationId xmlns:a16="http://schemas.microsoft.com/office/drawing/2014/main" id="{C0634FED-B2A6-B651-0579-79CA7AE2E460}"/>
              </a:ext>
            </a:extLst>
          </p:cNvPr>
          <p:cNvSpPr/>
          <p:nvPr/>
        </p:nvSpPr>
        <p:spPr>
          <a:xfrm>
            <a:off x="6035040" y="297180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01949E"/>
          </a:solidFill>
          <a:ln/>
        </p:spPr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1FACEA6A-7C2B-97A1-6259-5E41686568BC}"/>
              </a:ext>
            </a:extLst>
          </p:cNvPr>
          <p:cNvSpPr txBox="1"/>
          <p:nvPr/>
        </p:nvSpPr>
        <p:spPr>
          <a:xfrm>
            <a:off x="6144768" y="3044952"/>
            <a:ext cx="2432304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12121"/>
                </a:solidFill>
                <a:latin typeface="Rubik" panose="020B0604020202020204" charset="-79"/>
                <a:cs typeface="Rubik" panose="020B0604020202020204" charset="-79"/>
              </a:rPr>
              <a:t>Top 5 rating cabang</a:t>
            </a:r>
            <a:endParaRPr lang="en-US" sz="1200" dirty="0">
              <a:solidFill>
                <a:srgbClr val="212121"/>
              </a:solidFill>
              <a:latin typeface="Rubik" panose="020B0604020202020204" charset="-79"/>
              <a:cs typeface="Rubik" panose="020B0604020202020204" charset="-79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12121"/>
                </a:solidFill>
                <a:latin typeface="Rubik" panose="020B0604020202020204" charset="-79"/>
                <a:cs typeface="Rubik" panose="020B0604020202020204" charset="-79"/>
              </a:rPr>
              <a:t>Fungsi: </a:t>
            </a:r>
            <a:r>
              <a:rPr lang="en-US" sz="1200" dirty="0">
                <a:solidFill>
                  <a:srgbClr val="212121"/>
                </a:solidFill>
                <a:latin typeface="Rubik" panose="020B0604020202020204" charset="-79"/>
                <a:cs typeface="Rubik" panose="020B0604020202020204" charset="-79"/>
              </a:rPr>
              <a:t>Rating </a:t>
            </a:r>
            <a:r>
              <a:rPr lang="en-US" sz="1200" dirty="0" err="1">
                <a:solidFill>
                  <a:srgbClr val="212121"/>
                </a:solidFill>
                <a:latin typeface="Rubik" panose="020B0604020202020204" charset="-79"/>
                <a:cs typeface="Rubik" panose="020B0604020202020204" charset="-79"/>
              </a:rPr>
              <a:t>cabang</a:t>
            </a:r>
            <a:r>
              <a:rPr lang="en-US" sz="1200" dirty="0">
                <a:solidFill>
                  <a:srgbClr val="212121"/>
                </a:solidFill>
                <a:latin typeface="Rubik" panose="020B0604020202020204" charset="-79"/>
                <a:cs typeface="Rubik" panose="020B0604020202020204" charset="-79"/>
              </a:rPr>
              <a:t> </a:t>
            </a:r>
            <a:r>
              <a:rPr lang="en-US" sz="1200" dirty="0" err="1">
                <a:solidFill>
                  <a:srgbClr val="212121"/>
                </a:solidFill>
                <a:latin typeface="Rubik" panose="020B0604020202020204" charset="-79"/>
                <a:cs typeface="Rubik" panose="020B0604020202020204" charset="-79"/>
              </a:rPr>
              <a:t>tinggi</a:t>
            </a:r>
            <a:r>
              <a:rPr lang="en-US" sz="1200" dirty="0">
                <a:solidFill>
                  <a:srgbClr val="212121"/>
                </a:solidFill>
                <a:latin typeface="Rubik" panose="020B0604020202020204" charset="-79"/>
                <a:cs typeface="Rubik" panose="020B0604020202020204" charset="-79"/>
              </a:rPr>
              <a:t> vs rating </a:t>
            </a:r>
            <a:r>
              <a:rPr lang="en-US" sz="1200" dirty="0" err="1">
                <a:solidFill>
                  <a:srgbClr val="212121"/>
                </a:solidFill>
                <a:latin typeface="Rubik" panose="020B0604020202020204" charset="-79"/>
                <a:cs typeface="Rubik" panose="020B0604020202020204" charset="-79"/>
              </a:rPr>
              <a:t>transaksi</a:t>
            </a:r>
            <a:r>
              <a:rPr lang="en-US" sz="1200" dirty="0">
                <a:solidFill>
                  <a:srgbClr val="212121"/>
                </a:solidFill>
                <a:latin typeface="Rubik" panose="020B0604020202020204" charset="-79"/>
                <a:cs typeface="Rubik" panose="020B0604020202020204" charset="-79"/>
              </a:rPr>
              <a:t> </a:t>
            </a:r>
            <a:r>
              <a:rPr lang="en-US" sz="1200" dirty="0" err="1">
                <a:solidFill>
                  <a:srgbClr val="212121"/>
                </a:solidFill>
                <a:latin typeface="Rubik" panose="020B0604020202020204" charset="-79"/>
                <a:cs typeface="Rubik" panose="020B0604020202020204" charset="-79"/>
              </a:rPr>
              <a:t>rendah</a:t>
            </a:r>
            <a:r>
              <a:rPr lang="en-US" sz="1200" dirty="0">
                <a:solidFill>
                  <a:srgbClr val="212121"/>
                </a:solidFill>
                <a:latin typeface="Rubik" panose="020B0604020202020204" charset="-79"/>
                <a:cs typeface="Rubik" panose="020B0604020202020204" charset="-79"/>
              </a:rPr>
              <a:t>.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12121"/>
                </a:solidFill>
                <a:latin typeface="Rubik" panose="020B0604020202020204" charset="-79"/>
                <a:cs typeface="Rubik" panose="020B0604020202020204" charset="-79"/>
              </a:rPr>
              <a:t>Insight: </a:t>
            </a:r>
            <a:r>
              <a:rPr lang="en-US" sz="1200" dirty="0">
                <a:solidFill>
                  <a:srgbClr val="212121"/>
                </a:solidFill>
                <a:latin typeface="Rubik" panose="020B0604020202020204" charset="-79"/>
                <a:cs typeface="Rubik" panose="020B0604020202020204" charset="-79"/>
              </a:rPr>
              <a:t>Cabang 4,5+ tetapi transaksi hanya sekitar 4,0.</a:t>
            </a:r>
          </a:p>
        </p:txBody>
      </p:sp>
    </p:spTree>
    <p:extLst>
      <p:ext uri="{BB962C8B-B14F-4D97-AF65-F5344CB8AC3E}">
        <p14:creationId xmlns:p14="http://schemas.microsoft.com/office/powerpoint/2010/main" val="16796915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g23ec2985a68_1_56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g23ec2985a68_1_56"/>
          <p:cNvPicPr preferRelativeResize="0"/>
          <p:nvPr/>
        </p:nvPicPr>
        <p:blipFill rotWithShape="1">
          <a:blip r:embed="rId4">
            <a:alphaModFix/>
          </a:blip>
          <a:srcRect t="5658" b="5649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g23ec2985a68_1_56"/>
          <p:cNvSpPr txBox="1"/>
          <p:nvPr/>
        </p:nvSpPr>
        <p:spPr>
          <a:xfrm>
            <a:off x="109612" y="80193"/>
            <a:ext cx="8463000" cy="461635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49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5715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</a:pPr>
            <a:r>
              <a:rPr lang="en" sz="1800" b="1" dirty="0">
                <a:latin typeface="Rubik"/>
                <a:ea typeface="Rubik"/>
                <a:cs typeface="Rubik"/>
                <a:sym typeface="Rubik"/>
              </a:rPr>
              <a:t>5. Dashboard  Performance Analytics</a:t>
            </a:r>
            <a:endParaRPr sz="1800" b="1" i="0" u="none" strike="noStrike" cap="none" dirty="0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00BAD27-005D-FB1F-F012-197512C61775}"/>
              </a:ext>
            </a:extLst>
          </p:cNvPr>
          <p:cNvSpPr txBox="1"/>
          <p:nvPr/>
        </p:nvSpPr>
        <p:spPr>
          <a:xfrm>
            <a:off x="340499" y="4770301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100" dirty="0">
                <a:solidFill>
                  <a:schemeClr val="accent2">
                    <a:lumMod val="75000"/>
                    <a:lumOff val="25000"/>
                  </a:schemeClr>
                </a:solidFill>
                <a:latin typeface="Rubik"/>
                <a:ea typeface="Rubik"/>
                <a:cs typeface="Rubik"/>
                <a:sym typeface="Rubik"/>
              </a:rPr>
              <a:t>Kimia </a:t>
            </a:r>
            <a:r>
              <a:rPr lang="en-ID" sz="1100" dirty="0" err="1">
                <a:solidFill>
                  <a:schemeClr val="accent2">
                    <a:lumMod val="75000"/>
                    <a:lumOff val="25000"/>
                  </a:schemeClr>
                </a:solidFill>
                <a:latin typeface="Rubik"/>
                <a:ea typeface="Rubik"/>
                <a:cs typeface="Rubik"/>
                <a:sym typeface="Rubik"/>
              </a:rPr>
              <a:t>Farma</a:t>
            </a:r>
            <a:r>
              <a:rPr lang="en-ID" sz="1100" dirty="0">
                <a:solidFill>
                  <a:schemeClr val="accent2">
                    <a:lumMod val="75000"/>
                    <a:lumOff val="25000"/>
                  </a:schemeClr>
                </a:solidFill>
                <a:latin typeface="Rubik"/>
                <a:ea typeface="Rubik"/>
                <a:cs typeface="Rubik"/>
                <a:sym typeface="Rubik"/>
              </a:rPr>
              <a:t> Performance Analytics 2020-2023</a:t>
            </a:r>
            <a:endParaRPr lang="en-ID" sz="1100" dirty="0">
              <a:solidFill>
                <a:schemeClr val="accent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F8E4261A-0862-F69B-A2BB-65E613345BBA}"/>
              </a:ext>
            </a:extLst>
          </p:cNvPr>
          <p:cNvSpPr txBox="1">
            <a:spLocks/>
          </p:cNvSpPr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800" b="1" dirty="0">
                <a:solidFill>
                  <a:srgbClr val="01949E"/>
                </a:solidFill>
                <a:latin typeface="Rubik" panose="020B0604020202020204" charset="-79"/>
                <a:cs typeface="Rubik" panose="020B0604020202020204" charset="-79"/>
              </a:rPr>
              <a:t>Dashboard 3: </a:t>
            </a:r>
            <a:r>
              <a:rPr lang="en-US" sz="2800" b="1" dirty="0" err="1">
                <a:solidFill>
                  <a:srgbClr val="01949E"/>
                </a:solidFill>
                <a:latin typeface="Rubik" panose="020B0604020202020204" charset="-79"/>
                <a:cs typeface="Rubik" panose="020B0604020202020204" charset="-79"/>
              </a:rPr>
              <a:t>Analisis</a:t>
            </a:r>
            <a:r>
              <a:rPr lang="en-US" sz="2800" b="1" dirty="0">
                <a:solidFill>
                  <a:srgbClr val="01949E"/>
                </a:solidFill>
                <a:latin typeface="Rubik" panose="020B0604020202020204" charset="-79"/>
                <a:cs typeface="Rubik" panose="020B0604020202020204" charset="-79"/>
              </a:rPr>
              <a:t> </a:t>
            </a:r>
            <a:r>
              <a:rPr lang="en-US" sz="2800" b="1" dirty="0" err="1">
                <a:solidFill>
                  <a:srgbClr val="01949E"/>
                </a:solidFill>
                <a:latin typeface="Rubik" panose="020B0604020202020204" charset="-79"/>
                <a:cs typeface="Rubik" panose="020B0604020202020204" charset="-79"/>
              </a:rPr>
              <a:t>Lanjutan</a:t>
            </a:r>
            <a:endParaRPr lang="en-US" sz="2800" dirty="0">
              <a:solidFill>
                <a:srgbClr val="01949E"/>
              </a:solidFill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5" name="Frame">
            <a:extLst>
              <a:ext uri="{FF2B5EF4-FFF2-40B4-BE49-F238E27FC236}">
                <a16:creationId xmlns:a16="http://schemas.microsoft.com/office/drawing/2014/main" id="{FDCC1E89-CAC1-2056-8A4D-8B66FCD4C9CC}"/>
              </a:ext>
            </a:extLst>
          </p:cNvPr>
          <p:cNvSpPr/>
          <p:nvPr/>
        </p:nvSpPr>
        <p:spPr>
          <a:xfrm>
            <a:off x="411480" y="1143000"/>
            <a:ext cx="5212080" cy="2945654"/>
          </a:xfrm>
          <a:prstGeom prst="roundRect">
            <a:avLst>
              <a:gd name="adj" fmla="val 1863"/>
            </a:avLst>
          </a:prstGeom>
          <a:solidFill>
            <a:schemeClr val="accent4">
              <a:lumMod val="75000"/>
            </a:schemeClr>
          </a:solidFill>
          <a:ln w="9525">
            <a:solidFill>
              <a:srgbClr val="D5DDEB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Dashboard">
            <a:extLst>
              <a:ext uri="{FF2B5EF4-FFF2-40B4-BE49-F238E27FC236}">
                <a16:creationId xmlns:a16="http://schemas.microsoft.com/office/drawing/2014/main" id="{8FA21DFD-6418-1195-CC79-C297DE9108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188720"/>
            <a:ext cx="5120640" cy="2854214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</p:pic>
      <p:sp>
        <p:nvSpPr>
          <p:cNvPr id="7" name="Marker">
            <a:extLst>
              <a:ext uri="{FF2B5EF4-FFF2-40B4-BE49-F238E27FC236}">
                <a16:creationId xmlns:a16="http://schemas.microsoft.com/office/drawing/2014/main" id="{83D82885-1292-6FCF-3739-3424A319121F}"/>
              </a:ext>
            </a:extLst>
          </p:cNvPr>
          <p:cNvSpPr/>
          <p:nvPr/>
        </p:nvSpPr>
        <p:spPr>
          <a:xfrm>
            <a:off x="550144" y="1609978"/>
            <a:ext cx="237744" cy="237744"/>
          </a:xfrm>
          <a:prstGeom prst="ellipse">
            <a:avLst/>
          </a:prstGeom>
          <a:solidFill>
            <a:schemeClr val="accent4">
              <a:lumMod val="75000"/>
            </a:schemeClr>
          </a:solidFill>
          <a:ln/>
        </p:spPr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ABDD5869-1754-DC59-89F4-345F400E0F47}"/>
              </a:ext>
            </a:extLst>
          </p:cNvPr>
          <p:cNvSpPr txBox="1"/>
          <p:nvPr/>
        </p:nvSpPr>
        <p:spPr>
          <a:xfrm>
            <a:off x="550144" y="1609978"/>
            <a:ext cx="237744" cy="237744"/>
          </a:xfrm>
          <a:prstGeom prst="rect">
            <a:avLst/>
          </a:prstGeom>
          <a:solidFill>
            <a:schemeClr val="accent4">
              <a:lumMod val="7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1</a:t>
            </a:r>
            <a:endParaRPr lang="en-US" sz="1200" dirty="0"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9" name="Marker">
            <a:extLst>
              <a:ext uri="{FF2B5EF4-FFF2-40B4-BE49-F238E27FC236}">
                <a16:creationId xmlns:a16="http://schemas.microsoft.com/office/drawing/2014/main" id="{37EDBBDD-6E04-532F-4621-1A9DA84AB42B}"/>
              </a:ext>
            </a:extLst>
          </p:cNvPr>
          <p:cNvSpPr/>
          <p:nvPr/>
        </p:nvSpPr>
        <p:spPr>
          <a:xfrm>
            <a:off x="2022261" y="1609978"/>
            <a:ext cx="237744" cy="237744"/>
          </a:xfrm>
          <a:prstGeom prst="ellipse">
            <a:avLst/>
          </a:prstGeom>
          <a:solidFill>
            <a:schemeClr val="accent4">
              <a:lumMod val="75000"/>
            </a:schemeClr>
          </a:solidFill>
          <a:ln/>
        </p:spPr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CD61163F-D479-C5A2-C2B9-A090D57D566B}"/>
              </a:ext>
            </a:extLst>
          </p:cNvPr>
          <p:cNvSpPr txBox="1"/>
          <p:nvPr/>
        </p:nvSpPr>
        <p:spPr>
          <a:xfrm>
            <a:off x="2022261" y="1609978"/>
            <a:ext cx="237744" cy="237744"/>
          </a:xfrm>
          <a:prstGeom prst="rect">
            <a:avLst/>
          </a:prstGeom>
          <a:solidFill>
            <a:schemeClr val="accent4">
              <a:lumMod val="7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2</a:t>
            </a:r>
            <a:endParaRPr lang="en-US" sz="1200" dirty="0"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11" name="Marker">
            <a:extLst>
              <a:ext uri="{FF2B5EF4-FFF2-40B4-BE49-F238E27FC236}">
                <a16:creationId xmlns:a16="http://schemas.microsoft.com/office/drawing/2014/main" id="{269DBEDB-D88D-111A-8C74-8871BF06EDD7}"/>
              </a:ext>
            </a:extLst>
          </p:cNvPr>
          <p:cNvSpPr/>
          <p:nvPr/>
        </p:nvSpPr>
        <p:spPr>
          <a:xfrm>
            <a:off x="3875647" y="1609978"/>
            <a:ext cx="237744" cy="237744"/>
          </a:xfrm>
          <a:prstGeom prst="ellipse">
            <a:avLst/>
          </a:prstGeom>
          <a:solidFill>
            <a:schemeClr val="accent4">
              <a:lumMod val="75000"/>
            </a:schemeClr>
          </a:solidFill>
          <a:ln/>
        </p:spPr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A946EDA8-70D2-1FA3-231E-4096CA53CA89}"/>
              </a:ext>
            </a:extLst>
          </p:cNvPr>
          <p:cNvSpPr txBox="1"/>
          <p:nvPr/>
        </p:nvSpPr>
        <p:spPr>
          <a:xfrm>
            <a:off x="3875647" y="1609978"/>
            <a:ext cx="237744" cy="237744"/>
          </a:xfrm>
          <a:prstGeom prst="rect">
            <a:avLst/>
          </a:prstGeom>
          <a:solidFill>
            <a:schemeClr val="accent4">
              <a:lumMod val="7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3</a:t>
            </a:r>
            <a:endParaRPr lang="en-US" sz="1200" dirty="0"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25" name="Marker">
            <a:extLst>
              <a:ext uri="{FF2B5EF4-FFF2-40B4-BE49-F238E27FC236}">
                <a16:creationId xmlns:a16="http://schemas.microsoft.com/office/drawing/2014/main" id="{F6E7CBFF-3550-0516-5B93-31A066C8C504}"/>
              </a:ext>
            </a:extLst>
          </p:cNvPr>
          <p:cNvSpPr/>
          <p:nvPr/>
        </p:nvSpPr>
        <p:spPr>
          <a:xfrm>
            <a:off x="550144" y="2817326"/>
            <a:ext cx="237744" cy="237744"/>
          </a:xfrm>
          <a:prstGeom prst="ellipse">
            <a:avLst/>
          </a:prstGeom>
          <a:solidFill>
            <a:schemeClr val="accent4">
              <a:lumMod val="75000"/>
            </a:schemeClr>
          </a:solidFill>
          <a:ln/>
        </p:spPr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7B10ECCC-9F4B-8B08-BA63-85DF063E24AD}"/>
              </a:ext>
            </a:extLst>
          </p:cNvPr>
          <p:cNvSpPr txBox="1"/>
          <p:nvPr/>
        </p:nvSpPr>
        <p:spPr>
          <a:xfrm>
            <a:off x="550144" y="2817326"/>
            <a:ext cx="237744" cy="237744"/>
          </a:xfrm>
          <a:prstGeom prst="rect">
            <a:avLst/>
          </a:prstGeom>
          <a:solidFill>
            <a:schemeClr val="accent4">
              <a:lumMod val="7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4</a:t>
            </a:r>
            <a:endParaRPr lang="en-US" sz="1200" dirty="0"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27" name="Marker">
            <a:extLst>
              <a:ext uri="{FF2B5EF4-FFF2-40B4-BE49-F238E27FC236}">
                <a16:creationId xmlns:a16="http://schemas.microsoft.com/office/drawing/2014/main" id="{F13E9243-0E1C-8A66-ACCD-09C1F125FBE4}"/>
              </a:ext>
            </a:extLst>
          </p:cNvPr>
          <p:cNvSpPr/>
          <p:nvPr/>
        </p:nvSpPr>
        <p:spPr>
          <a:xfrm>
            <a:off x="3594991" y="2843803"/>
            <a:ext cx="237744" cy="237744"/>
          </a:xfrm>
          <a:prstGeom prst="ellipse">
            <a:avLst/>
          </a:prstGeom>
          <a:solidFill>
            <a:schemeClr val="accent4">
              <a:lumMod val="75000"/>
            </a:schemeClr>
          </a:solidFill>
          <a:ln/>
        </p:spPr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F1D8053A-B05F-5613-3186-F709D8856C8A}"/>
              </a:ext>
            </a:extLst>
          </p:cNvPr>
          <p:cNvSpPr txBox="1"/>
          <p:nvPr/>
        </p:nvSpPr>
        <p:spPr>
          <a:xfrm>
            <a:off x="3594991" y="2843803"/>
            <a:ext cx="237744" cy="237744"/>
          </a:xfrm>
          <a:prstGeom prst="rect">
            <a:avLst/>
          </a:prstGeom>
          <a:solidFill>
            <a:schemeClr val="accent4">
              <a:lumMod val="7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5</a:t>
            </a:r>
            <a:endParaRPr lang="en-US" sz="1200" dirty="0"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29" name="Marker">
            <a:extLst>
              <a:ext uri="{FF2B5EF4-FFF2-40B4-BE49-F238E27FC236}">
                <a16:creationId xmlns:a16="http://schemas.microsoft.com/office/drawing/2014/main" id="{AA16E788-90A2-F35E-55DC-EA85CDD2137B}"/>
              </a:ext>
            </a:extLst>
          </p:cNvPr>
          <p:cNvSpPr/>
          <p:nvPr/>
        </p:nvSpPr>
        <p:spPr>
          <a:xfrm>
            <a:off x="5897880" y="1234440"/>
            <a:ext cx="274320" cy="274320"/>
          </a:xfrm>
          <a:prstGeom prst="ellipse">
            <a:avLst/>
          </a:prstGeom>
          <a:solidFill>
            <a:schemeClr val="accent4">
              <a:lumMod val="75000"/>
            </a:schemeClr>
          </a:solidFill>
          <a:ln/>
        </p:spPr>
      </p:sp>
      <p:sp>
        <p:nvSpPr>
          <p:cNvPr id="30" name="Text 14">
            <a:extLst>
              <a:ext uri="{FF2B5EF4-FFF2-40B4-BE49-F238E27FC236}">
                <a16:creationId xmlns:a16="http://schemas.microsoft.com/office/drawing/2014/main" id="{1B1AFD66-6D2E-4523-373B-316BE19CECCC}"/>
              </a:ext>
            </a:extLst>
          </p:cNvPr>
          <p:cNvSpPr txBox="1"/>
          <p:nvPr/>
        </p:nvSpPr>
        <p:spPr>
          <a:xfrm>
            <a:off x="5897880" y="1256743"/>
            <a:ext cx="274320" cy="274320"/>
          </a:xfrm>
          <a:prstGeom prst="rect">
            <a:avLst/>
          </a:prstGeom>
          <a:solidFill>
            <a:schemeClr val="accent4">
              <a:lumMod val="7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1</a:t>
            </a:r>
            <a:endParaRPr lang="en-US" sz="1300" dirty="0"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31" name="Text 15">
            <a:extLst>
              <a:ext uri="{FF2B5EF4-FFF2-40B4-BE49-F238E27FC236}">
                <a16:creationId xmlns:a16="http://schemas.microsoft.com/office/drawing/2014/main" id="{A5139EFF-7BFF-6B43-0AFE-50AABB21557A}"/>
              </a:ext>
            </a:extLst>
          </p:cNvPr>
          <p:cNvSpPr txBox="1"/>
          <p:nvPr/>
        </p:nvSpPr>
        <p:spPr>
          <a:xfrm>
            <a:off x="6309360" y="1188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Rubik" panose="020B0604020202020204" charset="-79"/>
                <a:cs typeface="Rubik" panose="020B0604020202020204" charset="-79"/>
              </a:rPr>
              <a:t>Profit contribution matrix</a:t>
            </a:r>
            <a:endParaRPr lang="en-US" sz="1400" dirty="0"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32" name="Marker">
            <a:extLst>
              <a:ext uri="{FF2B5EF4-FFF2-40B4-BE49-F238E27FC236}">
                <a16:creationId xmlns:a16="http://schemas.microsoft.com/office/drawing/2014/main" id="{93C207B9-74C3-90C5-FCF4-5966FC0E6EE4}"/>
              </a:ext>
            </a:extLst>
          </p:cNvPr>
          <p:cNvSpPr/>
          <p:nvPr/>
        </p:nvSpPr>
        <p:spPr>
          <a:xfrm>
            <a:off x="5897880" y="1911096"/>
            <a:ext cx="274320" cy="274320"/>
          </a:xfrm>
          <a:prstGeom prst="ellipse">
            <a:avLst/>
          </a:prstGeom>
          <a:solidFill>
            <a:schemeClr val="accent4">
              <a:lumMod val="75000"/>
            </a:schemeClr>
          </a:solidFill>
          <a:ln/>
        </p:spPr>
      </p:sp>
      <p:sp>
        <p:nvSpPr>
          <p:cNvPr id="33" name="Text 17">
            <a:extLst>
              <a:ext uri="{FF2B5EF4-FFF2-40B4-BE49-F238E27FC236}">
                <a16:creationId xmlns:a16="http://schemas.microsoft.com/office/drawing/2014/main" id="{4347E82E-746C-8123-9FCC-0E17AF372F58}"/>
              </a:ext>
            </a:extLst>
          </p:cNvPr>
          <p:cNvSpPr txBox="1"/>
          <p:nvPr/>
        </p:nvSpPr>
        <p:spPr>
          <a:xfrm>
            <a:off x="5897880" y="1911096"/>
            <a:ext cx="274320" cy="274320"/>
          </a:xfrm>
          <a:prstGeom prst="rect">
            <a:avLst/>
          </a:prstGeom>
          <a:solidFill>
            <a:schemeClr val="accent4">
              <a:lumMod val="7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2</a:t>
            </a:r>
            <a:endParaRPr lang="en-US" sz="1300" dirty="0"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34" name="Text 18">
            <a:extLst>
              <a:ext uri="{FF2B5EF4-FFF2-40B4-BE49-F238E27FC236}">
                <a16:creationId xmlns:a16="http://schemas.microsoft.com/office/drawing/2014/main" id="{05540D49-2605-F0D9-1C94-BCE59E1F372A}"/>
              </a:ext>
            </a:extLst>
          </p:cNvPr>
          <p:cNvSpPr txBox="1"/>
          <p:nvPr/>
        </p:nvSpPr>
        <p:spPr>
          <a:xfrm>
            <a:off x="6309360" y="186537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Rubik" panose="020B0604020202020204" charset="-79"/>
                <a:cs typeface="Rubik" panose="020B0604020202020204" charset="-79"/>
              </a:rPr>
              <a:t>Dampak diskon pada profit</a:t>
            </a:r>
            <a:endParaRPr lang="en-US" sz="1400" dirty="0"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35" name="Marker">
            <a:extLst>
              <a:ext uri="{FF2B5EF4-FFF2-40B4-BE49-F238E27FC236}">
                <a16:creationId xmlns:a16="http://schemas.microsoft.com/office/drawing/2014/main" id="{94E53127-8CB9-D843-3FE9-104C59142D09}"/>
              </a:ext>
            </a:extLst>
          </p:cNvPr>
          <p:cNvSpPr/>
          <p:nvPr/>
        </p:nvSpPr>
        <p:spPr>
          <a:xfrm>
            <a:off x="5897880" y="2587752"/>
            <a:ext cx="274320" cy="274320"/>
          </a:xfrm>
          <a:prstGeom prst="ellipse">
            <a:avLst/>
          </a:prstGeom>
          <a:solidFill>
            <a:schemeClr val="accent4">
              <a:lumMod val="75000"/>
            </a:schemeClr>
          </a:solidFill>
          <a:ln/>
        </p:spPr>
      </p:sp>
      <p:sp>
        <p:nvSpPr>
          <p:cNvPr id="36" name="Text 20">
            <a:extLst>
              <a:ext uri="{FF2B5EF4-FFF2-40B4-BE49-F238E27FC236}">
                <a16:creationId xmlns:a16="http://schemas.microsoft.com/office/drawing/2014/main" id="{BA888EB0-E97F-EDEF-A1AF-B1AFDEF9A6C0}"/>
              </a:ext>
            </a:extLst>
          </p:cNvPr>
          <p:cNvSpPr txBox="1"/>
          <p:nvPr/>
        </p:nvSpPr>
        <p:spPr>
          <a:xfrm>
            <a:off x="5897880" y="2587752"/>
            <a:ext cx="274320" cy="274320"/>
          </a:xfrm>
          <a:prstGeom prst="rect">
            <a:avLst/>
          </a:prstGeom>
          <a:solidFill>
            <a:schemeClr val="accent4">
              <a:lumMod val="7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3</a:t>
            </a:r>
            <a:endParaRPr lang="en-US" sz="1300" dirty="0"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37" name="Text 21">
            <a:extLst>
              <a:ext uri="{FF2B5EF4-FFF2-40B4-BE49-F238E27FC236}">
                <a16:creationId xmlns:a16="http://schemas.microsoft.com/office/drawing/2014/main" id="{EB8AF10D-9C49-63E9-4135-3B5605623408}"/>
              </a:ext>
            </a:extLst>
          </p:cNvPr>
          <p:cNvSpPr txBox="1"/>
          <p:nvPr/>
        </p:nvSpPr>
        <p:spPr>
          <a:xfrm>
            <a:off x="6309360" y="2542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Rubik" panose="020B0604020202020204" charset="-79"/>
                <a:cs typeface="Rubik" panose="020B0604020202020204" charset="-79"/>
              </a:rPr>
              <a:t>Dampak diskon pada customer</a:t>
            </a:r>
            <a:endParaRPr lang="en-US" sz="1400" dirty="0"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38" name="Marker">
            <a:extLst>
              <a:ext uri="{FF2B5EF4-FFF2-40B4-BE49-F238E27FC236}">
                <a16:creationId xmlns:a16="http://schemas.microsoft.com/office/drawing/2014/main" id="{1E7F4142-1A91-8B2C-75B2-D4F948AEEEBB}"/>
              </a:ext>
            </a:extLst>
          </p:cNvPr>
          <p:cNvSpPr/>
          <p:nvPr/>
        </p:nvSpPr>
        <p:spPr>
          <a:xfrm>
            <a:off x="5897880" y="3264408"/>
            <a:ext cx="274320" cy="274320"/>
          </a:xfrm>
          <a:prstGeom prst="ellipse">
            <a:avLst/>
          </a:prstGeom>
          <a:solidFill>
            <a:schemeClr val="accent4">
              <a:lumMod val="75000"/>
            </a:schemeClr>
          </a:solidFill>
          <a:ln/>
        </p:spPr>
      </p:sp>
      <p:sp>
        <p:nvSpPr>
          <p:cNvPr id="39" name="Text 23">
            <a:extLst>
              <a:ext uri="{FF2B5EF4-FFF2-40B4-BE49-F238E27FC236}">
                <a16:creationId xmlns:a16="http://schemas.microsoft.com/office/drawing/2014/main" id="{570E6AAF-FC33-0E52-7C59-AE203302DDFF}"/>
              </a:ext>
            </a:extLst>
          </p:cNvPr>
          <p:cNvSpPr txBox="1"/>
          <p:nvPr/>
        </p:nvSpPr>
        <p:spPr>
          <a:xfrm>
            <a:off x="5897880" y="3264408"/>
            <a:ext cx="274320" cy="274320"/>
          </a:xfrm>
          <a:prstGeom prst="rect">
            <a:avLst/>
          </a:prstGeom>
          <a:solidFill>
            <a:schemeClr val="accent4">
              <a:lumMod val="7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4</a:t>
            </a:r>
            <a:endParaRPr lang="en-US" sz="1300" dirty="0"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40" name="Text 24">
            <a:extLst>
              <a:ext uri="{FF2B5EF4-FFF2-40B4-BE49-F238E27FC236}">
                <a16:creationId xmlns:a16="http://schemas.microsoft.com/office/drawing/2014/main" id="{EEC7BAA8-EBFC-76AE-88C1-C6DBE4C11D10}"/>
              </a:ext>
            </a:extLst>
          </p:cNvPr>
          <p:cNvSpPr txBox="1"/>
          <p:nvPr/>
        </p:nvSpPr>
        <p:spPr>
          <a:xfrm>
            <a:off x="6309360" y="32186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Rubik" panose="020B0604020202020204" charset="-79"/>
                <a:cs typeface="Rubik" panose="020B0604020202020204" charset="-79"/>
              </a:rPr>
              <a:t>Persentase produk</a:t>
            </a:r>
            <a:endParaRPr lang="en-US" sz="1400" dirty="0"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41" name="Marker">
            <a:extLst>
              <a:ext uri="{FF2B5EF4-FFF2-40B4-BE49-F238E27FC236}">
                <a16:creationId xmlns:a16="http://schemas.microsoft.com/office/drawing/2014/main" id="{EA227D44-BD8A-F694-F8A4-FC15FE137120}"/>
              </a:ext>
            </a:extLst>
          </p:cNvPr>
          <p:cNvSpPr/>
          <p:nvPr/>
        </p:nvSpPr>
        <p:spPr>
          <a:xfrm>
            <a:off x="5897880" y="3941064"/>
            <a:ext cx="274320" cy="274320"/>
          </a:xfrm>
          <a:prstGeom prst="ellipse">
            <a:avLst/>
          </a:prstGeom>
          <a:solidFill>
            <a:schemeClr val="accent4">
              <a:lumMod val="75000"/>
            </a:schemeClr>
          </a:solidFill>
          <a:ln/>
        </p:spPr>
      </p:sp>
      <p:sp>
        <p:nvSpPr>
          <p:cNvPr id="42" name="Text 26">
            <a:extLst>
              <a:ext uri="{FF2B5EF4-FFF2-40B4-BE49-F238E27FC236}">
                <a16:creationId xmlns:a16="http://schemas.microsoft.com/office/drawing/2014/main" id="{A4386E67-01D1-0622-11E2-0E05C9F6E2E1}"/>
              </a:ext>
            </a:extLst>
          </p:cNvPr>
          <p:cNvSpPr txBox="1"/>
          <p:nvPr/>
        </p:nvSpPr>
        <p:spPr>
          <a:xfrm>
            <a:off x="5897880" y="3941064"/>
            <a:ext cx="274320" cy="274320"/>
          </a:xfrm>
          <a:prstGeom prst="rect">
            <a:avLst/>
          </a:prstGeom>
          <a:solidFill>
            <a:schemeClr val="accent4">
              <a:lumMod val="7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5</a:t>
            </a:r>
            <a:endParaRPr lang="en-US" sz="1300" dirty="0"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43" name="Text 27">
            <a:extLst>
              <a:ext uri="{FF2B5EF4-FFF2-40B4-BE49-F238E27FC236}">
                <a16:creationId xmlns:a16="http://schemas.microsoft.com/office/drawing/2014/main" id="{33512B35-5150-B21D-9E16-9A4A50136DF6}"/>
              </a:ext>
            </a:extLst>
          </p:cNvPr>
          <p:cNvSpPr txBox="1"/>
          <p:nvPr/>
        </p:nvSpPr>
        <p:spPr>
          <a:xfrm>
            <a:off x="6309360" y="389534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Rubik" panose="020B0604020202020204" charset="-79"/>
                <a:cs typeface="Rubik" panose="020B0604020202020204" charset="-79"/>
              </a:rPr>
              <a:t>Tren kategori daya beli</a:t>
            </a:r>
            <a:endParaRPr lang="en-US" sz="1400" dirty="0">
              <a:latin typeface="Rubik" panose="020B0604020202020204" charset="-79"/>
              <a:cs typeface="Rubik" panose="020B060402020202020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8825555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g23ec2985a68_1_56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g23ec2985a68_1_56"/>
          <p:cNvPicPr preferRelativeResize="0"/>
          <p:nvPr/>
        </p:nvPicPr>
        <p:blipFill rotWithShape="1">
          <a:blip r:embed="rId4">
            <a:alphaModFix/>
          </a:blip>
          <a:srcRect t="5658" b="5649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g23ec2985a68_1_56"/>
          <p:cNvSpPr txBox="1"/>
          <p:nvPr/>
        </p:nvSpPr>
        <p:spPr>
          <a:xfrm>
            <a:off x="109612" y="80193"/>
            <a:ext cx="8463000" cy="461635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49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5715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</a:pPr>
            <a:r>
              <a:rPr lang="en" sz="1800" b="1" dirty="0">
                <a:latin typeface="Rubik"/>
                <a:ea typeface="Rubik"/>
                <a:cs typeface="Rubik"/>
                <a:sym typeface="Rubik"/>
              </a:rPr>
              <a:t>5. Dashboard  Performance Analytics</a:t>
            </a:r>
            <a:endParaRPr sz="1800" b="1" i="0" u="none" strike="noStrike" cap="none" dirty="0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00BAD27-005D-FB1F-F012-197512C61775}"/>
              </a:ext>
            </a:extLst>
          </p:cNvPr>
          <p:cNvSpPr txBox="1"/>
          <p:nvPr/>
        </p:nvSpPr>
        <p:spPr>
          <a:xfrm>
            <a:off x="340499" y="4770301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100" dirty="0">
                <a:solidFill>
                  <a:schemeClr val="accent2">
                    <a:lumMod val="75000"/>
                    <a:lumOff val="25000"/>
                  </a:schemeClr>
                </a:solidFill>
                <a:latin typeface="Rubik"/>
                <a:ea typeface="Rubik"/>
                <a:cs typeface="Rubik"/>
                <a:sym typeface="Rubik"/>
              </a:rPr>
              <a:t>Kimia </a:t>
            </a:r>
            <a:r>
              <a:rPr lang="en-ID" sz="1100" dirty="0" err="1">
                <a:solidFill>
                  <a:schemeClr val="accent2">
                    <a:lumMod val="75000"/>
                    <a:lumOff val="25000"/>
                  </a:schemeClr>
                </a:solidFill>
                <a:latin typeface="Rubik"/>
                <a:ea typeface="Rubik"/>
                <a:cs typeface="Rubik"/>
                <a:sym typeface="Rubik"/>
              </a:rPr>
              <a:t>Farma</a:t>
            </a:r>
            <a:r>
              <a:rPr lang="en-ID" sz="1100" dirty="0">
                <a:solidFill>
                  <a:schemeClr val="accent2">
                    <a:lumMod val="75000"/>
                    <a:lumOff val="25000"/>
                  </a:schemeClr>
                </a:solidFill>
                <a:latin typeface="Rubik"/>
                <a:ea typeface="Rubik"/>
                <a:cs typeface="Rubik"/>
                <a:sym typeface="Rubik"/>
              </a:rPr>
              <a:t> Performance Analytics 2020-2023</a:t>
            </a:r>
            <a:endParaRPr lang="en-ID" sz="1100" dirty="0">
              <a:solidFill>
                <a:schemeClr val="accent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771053B-DCDA-EB42-217B-922A0044AD52}"/>
              </a:ext>
            </a:extLst>
          </p:cNvPr>
          <p:cNvSpPr txBox="1">
            <a:spLocks/>
          </p:cNvSpPr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800" b="1" dirty="0" err="1">
                <a:solidFill>
                  <a:srgbClr val="01949E"/>
                </a:solidFill>
                <a:latin typeface="Rubik" panose="020B0604020202020204" charset="-79"/>
                <a:cs typeface="Rubik" panose="020B0604020202020204" charset="-79"/>
              </a:rPr>
              <a:t>Matriks</a:t>
            </a:r>
            <a:r>
              <a:rPr lang="en-US" sz="2800" b="1" dirty="0">
                <a:solidFill>
                  <a:srgbClr val="01949E"/>
                </a:solidFill>
                <a:latin typeface="Rubik" panose="020B0604020202020204" charset="-79"/>
                <a:cs typeface="Rubik" panose="020B0604020202020204" charset="-79"/>
              </a:rPr>
              <a:t> Profit &amp; </a:t>
            </a:r>
            <a:r>
              <a:rPr lang="en-US" sz="2800" b="1" dirty="0" err="1">
                <a:solidFill>
                  <a:srgbClr val="01949E"/>
                </a:solidFill>
                <a:latin typeface="Rubik" panose="020B0604020202020204" charset="-79"/>
                <a:cs typeface="Rubik" panose="020B0604020202020204" charset="-79"/>
              </a:rPr>
              <a:t>Dampak</a:t>
            </a:r>
            <a:r>
              <a:rPr lang="en-US" sz="2800" b="1" dirty="0">
                <a:solidFill>
                  <a:srgbClr val="01949E"/>
                </a:solidFill>
                <a:latin typeface="Rubik" panose="020B0604020202020204" charset="-79"/>
                <a:cs typeface="Rubik" panose="020B0604020202020204" charset="-79"/>
              </a:rPr>
              <a:t> </a:t>
            </a:r>
            <a:r>
              <a:rPr lang="en-US" sz="2800" b="1" dirty="0" err="1">
                <a:solidFill>
                  <a:srgbClr val="01949E"/>
                </a:solidFill>
                <a:latin typeface="Rubik" panose="020B0604020202020204" charset="-79"/>
                <a:cs typeface="Rubik" panose="020B0604020202020204" charset="-79"/>
              </a:rPr>
              <a:t>Diskon</a:t>
            </a:r>
            <a:endParaRPr lang="en-US" sz="2800" dirty="0">
              <a:solidFill>
                <a:srgbClr val="01949E"/>
              </a:solidFill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13" name="Frame">
            <a:extLst>
              <a:ext uri="{FF2B5EF4-FFF2-40B4-BE49-F238E27FC236}">
                <a16:creationId xmlns:a16="http://schemas.microsoft.com/office/drawing/2014/main" id="{47AF670A-DAC9-CC03-AB05-86855D46C265}"/>
              </a:ext>
            </a:extLst>
          </p:cNvPr>
          <p:cNvSpPr/>
          <p:nvPr/>
        </p:nvSpPr>
        <p:spPr>
          <a:xfrm>
            <a:off x="727710" y="1143000"/>
            <a:ext cx="211074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D5DDEB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4" name="Image 0" descr="Profit contribution">
            <a:extLst>
              <a:ext uri="{FF2B5EF4-FFF2-40B4-BE49-F238E27FC236}">
                <a16:creationId xmlns:a16="http://schemas.microsoft.com/office/drawing/2014/main" id="{5F5028F8-DF17-386E-5E15-D9B45B5F75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430" y="1188720"/>
            <a:ext cx="2019300" cy="1600200"/>
          </a:xfrm>
          <a:prstGeom prst="rect">
            <a:avLst/>
          </a:prstGeom>
        </p:spPr>
      </p:pic>
      <p:sp>
        <p:nvSpPr>
          <p:cNvPr id="15" name="Card">
            <a:extLst>
              <a:ext uri="{FF2B5EF4-FFF2-40B4-BE49-F238E27FC236}">
                <a16:creationId xmlns:a16="http://schemas.microsoft.com/office/drawing/2014/main" id="{4FED457E-8695-AFDB-F0EE-D756391C13CB}"/>
              </a:ext>
            </a:extLst>
          </p:cNvPr>
          <p:cNvSpPr/>
          <p:nvPr/>
        </p:nvSpPr>
        <p:spPr>
          <a:xfrm>
            <a:off x="457200" y="2994102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003C7B"/>
          </a:solidFill>
          <a:ln/>
        </p:spPr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97442EBB-E866-BBE3-8FAC-DABAE0FAB902}"/>
              </a:ext>
            </a:extLst>
          </p:cNvPr>
          <p:cNvSpPr txBox="1"/>
          <p:nvPr/>
        </p:nvSpPr>
        <p:spPr>
          <a:xfrm>
            <a:off x="566928" y="3044952"/>
            <a:ext cx="2432304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Profit contribution</a:t>
            </a:r>
            <a:endParaRPr lang="en-US" sz="1400" dirty="0">
              <a:solidFill>
                <a:schemeClr val="bg1"/>
              </a:solidFill>
              <a:latin typeface="Rubik" panose="020B0604020202020204" charset="-79"/>
              <a:cs typeface="Rubik" panose="020B0604020202020204" charset="-79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Fungsi: </a:t>
            </a:r>
            <a:r>
              <a:rPr lang="en-US" sz="1400" dirty="0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Tiap titik provinsi: volume transaksi vs nett profit.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Insight: </a:t>
            </a:r>
            <a:r>
              <a:rPr lang="en-US" sz="1400" dirty="0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Hampir linear: profit digerakkan volume.</a:t>
            </a:r>
          </a:p>
        </p:txBody>
      </p:sp>
      <p:sp>
        <p:nvSpPr>
          <p:cNvPr id="17" name="Frame">
            <a:extLst>
              <a:ext uri="{FF2B5EF4-FFF2-40B4-BE49-F238E27FC236}">
                <a16:creationId xmlns:a16="http://schemas.microsoft.com/office/drawing/2014/main" id="{AD8DDE70-28A3-9758-686E-1A4CA27DFE0D}"/>
              </a:ext>
            </a:extLst>
          </p:cNvPr>
          <p:cNvSpPr/>
          <p:nvPr/>
        </p:nvSpPr>
        <p:spPr>
          <a:xfrm>
            <a:off x="3223260" y="1143000"/>
            <a:ext cx="269748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D5DDEB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8" name="Image 1" descr="Diskon vs profit">
            <a:extLst>
              <a:ext uri="{FF2B5EF4-FFF2-40B4-BE49-F238E27FC236}">
                <a16:creationId xmlns:a16="http://schemas.microsoft.com/office/drawing/2014/main" id="{2BFAF5C2-C98E-3F7A-E636-5675EA4B0B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68980" y="1188720"/>
            <a:ext cx="2606040" cy="1600200"/>
          </a:xfrm>
          <a:prstGeom prst="rect">
            <a:avLst/>
          </a:prstGeom>
        </p:spPr>
      </p:pic>
      <p:sp>
        <p:nvSpPr>
          <p:cNvPr id="19" name="Card">
            <a:extLst>
              <a:ext uri="{FF2B5EF4-FFF2-40B4-BE49-F238E27FC236}">
                <a16:creationId xmlns:a16="http://schemas.microsoft.com/office/drawing/2014/main" id="{0AC3B944-5899-9EE1-C856-61AC04A1ABC6}"/>
              </a:ext>
            </a:extLst>
          </p:cNvPr>
          <p:cNvSpPr/>
          <p:nvPr/>
        </p:nvSpPr>
        <p:spPr>
          <a:xfrm>
            <a:off x="3246120" y="297180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003C7B"/>
          </a:solidFill>
          <a:ln/>
        </p:spPr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EEA4654E-0905-1E77-E6CF-EAF5941F08DA}"/>
              </a:ext>
            </a:extLst>
          </p:cNvPr>
          <p:cNvSpPr txBox="1"/>
          <p:nvPr/>
        </p:nvSpPr>
        <p:spPr>
          <a:xfrm>
            <a:off x="3355848" y="3044952"/>
            <a:ext cx="2432304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Diskon vs profit</a:t>
            </a:r>
            <a:endParaRPr lang="en-US" sz="1400" dirty="0">
              <a:solidFill>
                <a:schemeClr val="bg1"/>
              </a:solidFill>
              <a:latin typeface="Rubik" panose="020B0604020202020204" charset="-79"/>
              <a:cs typeface="Rubik" panose="020B0604020202020204" charset="-79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Fungsi: </a:t>
            </a:r>
            <a:r>
              <a:rPr lang="en-US" sz="1400" dirty="0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Bar volume diskon, garis total profit.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Insight: </a:t>
            </a:r>
            <a:r>
              <a:rPr lang="en-US" sz="1400" dirty="0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Keduanya tertinggi di Jawa Barat.</a:t>
            </a:r>
          </a:p>
        </p:txBody>
      </p:sp>
      <p:sp>
        <p:nvSpPr>
          <p:cNvPr id="21" name="Frame">
            <a:extLst>
              <a:ext uri="{FF2B5EF4-FFF2-40B4-BE49-F238E27FC236}">
                <a16:creationId xmlns:a16="http://schemas.microsoft.com/office/drawing/2014/main" id="{CAE6A661-B6D0-733F-5419-7DA028ACB07C}"/>
              </a:ext>
            </a:extLst>
          </p:cNvPr>
          <p:cNvSpPr/>
          <p:nvPr/>
        </p:nvSpPr>
        <p:spPr>
          <a:xfrm>
            <a:off x="6248400" y="1143000"/>
            <a:ext cx="222504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D5DDEB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2" name="Image 2" descr="Diskon vs customer">
            <a:extLst>
              <a:ext uri="{FF2B5EF4-FFF2-40B4-BE49-F238E27FC236}">
                <a16:creationId xmlns:a16="http://schemas.microsoft.com/office/drawing/2014/main" id="{91B22521-7EE6-0055-8649-BC8B7EF14D1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94120" y="1188720"/>
            <a:ext cx="2133600" cy="1600200"/>
          </a:xfrm>
          <a:prstGeom prst="rect">
            <a:avLst/>
          </a:prstGeom>
        </p:spPr>
      </p:pic>
      <p:sp>
        <p:nvSpPr>
          <p:cNvPr id="23" name="Card">
            <a:extLst>
              <a:ext uri="{FF2B5EF4-FFF2-40B4-BE49-F238E27FC236}">
                <a16:creationId xmlns:a16="http://schemas.microsoft.com/office/drawing/2014/main" id="{CDDAB1B7-8261-E3CE-19A2-3F4397F1C552}"/>
              </a:ext>
            </a:extLst>
          </p:cNvPr>
          <p:cNvSpPr/>
          <p:nvPr/>
        </p:nvSpPr>
        <p:spPr>
          <a:xfrm>
            <a:off x="6035040" y="297180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003C7B"/>
          </a:solidFill>
          <a:ln/>
        </p:spPr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1A9C812A-C519-3F86-A94A-0F932561EF73}"/>
              </a:ext>
            </a:extLst>
          </p:cNvPr>
          <p:cNvSpPr txBox="1"/>
          <p:nvPr/>
        </p:nvSpPr>
        <p:spPr>
          <a:xfrm>
            <a:off x="6144768" y="3044952"/>
            <a:ext cx="2432304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Diskon vs customer</a:t>
            </a:r>
            <a:endParaRPr lang="en-US" sz="1400" dirty="0">
              <a:solidFill>
                <a:schemeClr val="bg1"/>
              </a:solidFill>
              <a:latin typeface="Rubik" panose="020B0604020202020204" charset="-79"/>
              <a:cs typeface="Rubik" panose="020B0604020202020204" charset="-79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Fungsi: </a:t>
            </a:r>
            <a:r>
              <a:rPr lang="en-US" sz="1400" dirty="0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Volume diskon vs jumlah customer, 5 provinsi.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Insight: </a:t>
            </a:r>
            <a:r>
              <a:rPr lang="en-US" sz="1400" dirty="0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Searah, namun korelasi bukan sebab-akibat.</a:t>
            </a:r>
          </a:p>
        </p:txBody>
      </p:sp>
    </p:spTree>
    <p:extLst>
      <p:ext uri="{BB962C8B-B14F-4D97-AF65-F5344CB8AC3E}">
        <p14:creationId xmlns:p14="http://schemas.microsoft.com/office/powerpoint/2010/main" val="24187323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g23ec2985a68_1_56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g23ec2985a68_1_56"/>
          <p:cNvPicPr preferRelativeResize="0"/>
          <p:nvPr/>
        </p:nvPicPr>
        <p:blipFill rotWithShape="1">
          <a:blip r:embed="rId4">
            <a:alphaModFix/>
          </a:blip>
          <a:srcRect t="5658" b="5649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g23ec2985a68_1_56"/>
          <p:cNvSpPr txBox="1"/>
          <p:nvPr/>
        </p:nvSpPr>
        <p:spPr>
          <a:xfrm>
            <a:off x="109612" y="80193"/>
            <a:ext cx="8463000" cy="461635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49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5715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</a:pPr>
            <a:r>
              <a:rPr lang="en" sz="1800" b="1" dirty="0">
                <a:latin typeface="Rubik"/>
                <a:ea typeface="Rubik"/>
                <a:cs typeface="Rubik"/>
                <a:sym typeface="Rubik"/>
              </a:rPr>
              <a:t>5. Dashboard  Performance Analytics</a:t>
            </a:r>
            <a:endParaRPr sz="1800" b="1" i="0" u="none" strike="noStrike" cap="none" dirty="0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00BAD27-005D-FB1F-F012-197512C61775}"/>
              </a:ext>
            </a:extLst>
          </p:cNvPr>
          <p:cNvSpPr txBox="1"/>
          <p:nvPr/>
        </p:nvSpPr>
        <p:spPr>
          <a:xfrm>
            <a:off x="340499" y="4770301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100" dirty="0">
                <a:solidFill>
                  <a:schemeClr val="accent2">
                    <a:lumMod val="75000"/>
                    <a:lumOff val="25000"/>
                  </a:schemeClr>
                </a:solidFill>
                <a:latin typeface="Rubik"/>
                <a:ea typeface="Rubik"/>
                <a:cs typeface="Rubik"/>
                <a:sym typeface="Rubik"/>
              </a:rPr>
              <a:t>Kimia </a:t>
            </a:r>
            <a:r>
              <a:rPr lang="en-ID" sz="1100" dirty="0" err="1">
                <a:solidFill>
                  <a:schemeClr val="accent2">
                    <a:lumMod val="75000"/>
                    <a:lumOff val="25000"/>
                  </a:schemeClr>
                </a:solidFill>
                <a:latin typeface="Rubik"/>
                <a:ea typeface="Rubik"/>
                <a:cs typeface="Rubik"/>
                <a:sym typeface="Rubik"/>
              </a:rPr>
              <a:t>Farma</a:t>
            </a:r>
            <a:r>
              <a:rPr lang="en-ID" sz="1100" dirty="0">
                <a:solidFill>
                  <a:schemeClr val="accent2">
                    <a:lumMod val="75000"/>
                    <a:lumOff val="25000"/>
                  </a:schemeClr>
                </a:solidFill>
                <a:latin typeface="Rubik"/>
                <a:ea typeface="Rubik"/>
                <a:cs typeface="Rubik"/>
                <a:sym typeface="Rubik"/>
              </a:rPr>
              <a:t> Performance Analytics 2020-2023</a:t>
            </a:r>
            <a:endParaRPr lang="en-ID" sz="1100" dirty="0">
              <a:solidFill>
                <a:schemeClr val="accent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0E224B22-682C-91BC-43D9-079E0898BE3F}"/>
              </a:ext>
            </a:extLst>
          </p:cNvPr>
          <p:cNvSpPr txBox="1">
            <a:spLocks/>
          </p:cNvSpPr>
          <p:nvPr/>
        </p:nvSpPr>
        <p:spPr>
          <a:xfrm>
            <a:off x="457200" y="43489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800" b="1">
                <a:solidFill>
                  <a:srgbClr val="01949E"/>
                </a:solidFill>
                <a:latin typeface="Rubik" panose="020B0604020202020204" charset="-79"/>
                <a:cs typeface="Rubik" panose="020B0604020202020204" charset="-79"/>
              </a:rPr>
              <a:t>Komposisi Produk &amp; Tier Laba</a:t>
            </a:r>
            <a:endParaRPr lang="en-US" sz="2800" dirty="0">
              <a:solidFill>
                <a:srgbClr val="01949E"/>
              </a:solidFill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5" name="Frame">
            <a:extLst>
              <a:ext uri="{FF2B5EF4-FFF2-40B4-BE49-F238E27FC236}">
                <a16:creationId xmlns:a16="http://schemas.microsoft.com/office/drawing/2014/main" id="{D4062AAF-52FF-3048-9CC4-8251ACB401F5}"/>
              </a:ext>
            </a:extLst>
          </p:cNvPr>
          <p:cNvSpPr/>
          <p:nvPr/>
        </p:nvSpPr>
        <p:spPr>
          <a:xfrm>
            <a:off x="411480" y="1315360"/>
            <a:ext cx="4137660" cy="1666959"/>
          </a:xfrm>
          <a:prstGeom prst="roundRect">
            <a:avLst>
              <a:gd name="adj" fmla="val 3291"/>
            </a:avLst>
          </a:prstGeom>
          <a:solidFill>
            <a:srgbClr val="FFFFFF"/>
          </a:solidFill>
          <a:ln w="9525">
            <a:solidFill>
              <a:srgbClr val="D5DDEB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Persentase produk per transaksi">
            <a:extLst>
              <a:ext uri="{FF2B5EF4-FFF2-40B4-BE49-F238E27FC236}">
                <a16:creationId xmlns:a16="http://schemas.microsoft.com/office/drawing/2014/main" id="{E68544BB-F3E7-0A41-E1E6-04BB4A9DC4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361080"/>
            <a:ext cx="4046220" cy="1575519"/>
          </a:xfrm>
          <a:prstGeom prst="rect">
            <a:avLst/>
          </a:prstGeom>
        </p:spPr>
      </p:pic>
      <p:sp>
        <p:nvSpPr>
          <p:cNvPr id="7" name="Card">
            <a:extLst>
              <a:ext uri="{FF2B5EF4-FFF2-40B4-BE49-F238E27FC236}">
                <a16:creationId xmlns:a16="http://schemas.microsoft.com/office/drawing/2014/main" id="{EC19785B-E78B-C96F-D522-44AE7D5C3A11}"/>
              </a:ext>
            </a:extLst>
          </p:cNvPr>
          <p:cNvSpPr/>
          <p:nvPr/>
        </p:nvSpPr>
        <p:spPr>
          <a:xfrm>
            <a:off x="457200" y="3291840"/>
            <a:ext cx="4046220" cy="1325880"/>
          </a:xfrm>
          <a:prstGeom prst="roundRect">
            <a:avLst>
              <a:gd name="adj" fmla="val 5517"/>
            </a:avLst>
          </a:prstGeom>
          <a:solidFill>
            <a:srgbClr val="01949E"/>
          </a:solidFill>
          <a:ln/>
        </p:spPr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9A858145-D0C3-D824-FDDF-A22D0016891A}"/>
              </a:ext>
            </a:extLst>
          </p:cNvPr>
          <p:cNvSpPr txBox="1"/>
          <p:nvPr/>
        </p:nvSpPr>
        <p:spPr>
          <a:xfrm>
            <a:off x="566928" y="3364992"/>
            <a:ext cx="3793199" cy="1162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1"/>
                </a:solidFill>
                <a:latin typeface="Rubik" panose="020B0604020202020204" charset="-79"/>
                <a:cs typeface="Rubik" panose="020B0604020202020204" charset="-79"/>
              </a:rPr>
              <a:t>Persentase produk per transaksi</a:t>
            </a:r>
            <a:endParaRPr lang="en-US" sz="1200" dirty="0">
              <a:solidFill>
                <a:schemeClr val="tx1"/>
              </a:solidFill>
              <a:latin typeface="Rubik" panose="020B0604020202020204" charset="-79"/>
              <a:cs typeface="Rubik" panose="020B0604020202020204" charset="-79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1"/>
                </a:solidFill>
                <a:latin typeface="Rubik" panose="020B0604020202020204" charset="-79"/>
                <a:cs typeface="Rubik" panose="020B0604020202020204" charset="-79"/>
              </a:rPr>
              <a:t>Fungsi: </a:t>
            </a:r>
            <a:r>
              <a:rPr lang="en-US" sz="1200" dirty="0">
                <a:solidFill>
                  <a:schemeClr val="tx1"/>
                </a:solidFill>
                <a:latin typeface="Rubik" panose="020B0604020202020204" charset="-79"/>
                <a:cs typeface="Rubik" panose="020B0604020202020204" charset="-79"/>
              </a:rPr>
              <a:t>Porsi 8 kelompok produk dari total transaksi.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1"/>
                </a:solidFill>
                <a:latin typeface="Rubik" panose="020B0604020202020204" charset="-79"/>
                <a:cs typeface="Rubik" panose="020B0604020202020204" charset="-79"/>
              </a:rPr>
              <a:t>Insight: </a:t>
            </a:r>
            <a:r>
              <a:rPr lang="en-US" sz="1200" dirty="0">
                <a:solidFill>
                  <a:schemeClr val="tx1"/>
                </a:solidFill>
                <a:latin typeface="Rubik" panose="020B0604020202020204" charset="-79"/>
                <a:cs typeface="Rubik" panose="020B0604020202020204" charset="-79"/>
              </a:rPr>
              <a:t>2 </a:t>
            </a:r>
            <a:r>
              <a:rPr lang="en-US" sz="1200" dirty="0" err="1">
                <a:solidFill>
                  <a:schemeClr val="tx1"/>
                </a:solidFill>
                <a:latin typeface="Rubik" panose="020B0604020202020204" charset="-79"/>
                <a:cs typeface="Rubik" panose="020B0604020202020204" charset="-79"/>
              </a:rPr>
              <a:t>Kelompok</a:t>
            </a:r>
            <a:r>
              <a:rPr lang="en-US" sz="1200" dirty="0">
                <a:solidFill>
                  <a:schemeClr val="tx1"/>
                </a:solidFill>
                <a:latin typeface="Rubik" panose="020B0604020202020204" charset="-79"/>
                <a:cs typeface="Rubik" panose="020B0604020202020204" charset="-79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Rubik" panose="020B0604020202020204" charset="-79"/>
                <a:cs typeface="Rubik" panose="020B0604020202020204" charset="-79"/>
              </a:rPr>
              <a:t>teratas</a:t>
            </a:r>
            <a:r>
              <a:rPr lang="en-US" sz="1200" dirty="0">
                <a:solidFill>
                  <a:schemeClr val="tx1"/>
                </a:solidFill>
                <a:latin typeface="Rubik" panose="020B0604020202020204" charset="-79"/>
                <a:cs typeface="Rubik" panose="020B0604020202020204" charset="-79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Rubik" panose="020B0604020202020204" charset="-79"/>
                <a:cs typeface="Rubik" panose="020B0604020202020204" charset="-79"/>
              </a:rPr>
              <a:t>yaitu</a:t>
            </a:r>
            <a:r>
              <a:rPr lang="en-US" sz="1200" dirty="0">
                <a:solidFill>
                  <a:schemeClr val="tx1"/>
                </a:solidFill>
                <a:latin typeface="Rubik" panose="020B0604020202020204" charset="-79"/>
                <a:cs typeface="Rubik" panose="020B0604020202020204" charset="-79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Rubik" panose="020B0604020202020204" charset="-79"/>
                <a:cs typeface="Rubik" panose="020B0604020202020204" charset="-79"/>
              </a:rPr>
              <a:t>Psycholeptics</a:t>
            </a:r>
            <a:r>
              <a:rPr lang="en-US" sz="1200" dirty="0">
                <a:solidFill>
                  <a:schemeClr val="tx1"/>
                </a:solidFill>
                <a:latin typeface="Rubik" panose="020B0604020202020204" charset="-79"/>
                <a:cs typeface="Rubik" panose="020B0604020202020204" charset="-79"/>
              </a:rPr>
              <a:t> (hipnotik-sedatif &amp; ansiolitik) </a:t>
            </a:r>
            <a:r>
              <a:rPr lang="en-US" sz="1200" dirty="0" err="1">
                <a:solidFill>
                  <a:schemeClr val="tx1"/>
                </a:solidFill>
                <a:latin typeface="Rubik" panose="020B0604020202020204" charset="-79"/>
                <a:cs typeface="Rubik" panose="020B0604020202020204" charset="-79"/>
              </a:rPr>
              <a:t>sebesar</a:t>
            </a:r>
            <a:r>
              <a:rPr lang="en-US" sz="1200" dirty="0">
                <a:solidFill>
                  <a:schemeClr val="tx1"/>
                </a:solidFill>
                <a:latin typeface="Rubik" panose="020B0604020202020204" charset="-79"/>
                <a:cs typeface="Rubik" panose="020B0604020202020204" charset="-79"/>
              </a:rPr>
              <a:t> 36%.</a:t>
            </a:r>
          </a:p>
        </p:txBody>
      </p:sp>
      <p:sp>
        <p:nvSpPr>
          <p:cNvPr id="9" name="Frame">
            <a:extLst>
              <a:ext uri="{FF2B5EF4-FFF2-40B4-BE49-F238E27FC236}">
                <a16:creationId xmlns:a16="http://schemas.microsoft.com/office/drawing/2014/main" id="{DD19221F-6E88-8342-584B-ECAAC6B0A65B}"/>
              </a:ext>
            </a:extLst>
          </p:cNvPr>
          <p:cNvSpPr/>
          <p:nvPr/>
        </p:nvSpPr>
        <p:spPr>
          <a:xfrm>
            <a:off x="4907118" y="1143000"/>
            <a:ext cx="3513144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9525">
            <a:solidFill>
              <a:srgbClr val="D5DDEB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0" name="Image 1" descr="Tren kategori daya beli">
            <a:extLst>
              <a:ext uri="{FF2B5EF4-FFF2-40B4-BE49-F238E27FC236}">
                <a16:creationId xmlns:a16="http://schemas.microsoft.com/office/drawing/2014/main" id="{0AC4C8F2-0C68-8931-1C15-8DF2EB9396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2838" y="1188720"/>
            <a:ext cx="3421704" cy="1920240"/>
          </a:xfrm>
          <a:prstGeom prst="rect">
            <a:avLst/>
          </a:prstGeom>
        </p:spPr>
      </p:pic>
      <p:sp>
        <p:nvSpPr>
          <p:cNvPr id="11" name="Card">
            <a:extLst>
              <a:ext uri="{FF2B5EF4-FFF2-40B4-BE49-F238E27FC236}">
                <a16:creationId xmlns:a16="http://schemas.microsoft.com/office/drawing/2014/main" id="{FC2A5140-BF52-39C0-C714-C70E028584A5}"/>
              </a:ext>
            </a:extLst>
          </p:cNvPr>
          <p:cNvSpPr/>
          <p:nvPr/>
        </p:nvSpPr>
        <p:spPr>
          <a:xfrm>
            <a:off x="4640580" y="3314142"/>
            <a:ext cx="4046220" cy="1325880"/>
          </a:xfrm>
          <a:prstGeom prst="roundRect">
            <a:avLst>
              <a:gd name="adj" fmla="val 5517"/>
            </a:avLst>
          </a:prstGeom>
          <a:solidFill>
            <a:srgbClr val="01949E"/>
          </a:solidFill>
          <a:ln/>
        </p:spPr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E7AB38F9-2A9F-503C-3316-A37A8404AED9}"/>
              </a:ext>
            </a:extLst>
          </p:cNvPr>
          <p:cNvSpPr txBox="1"/>
          <p:nvPr/>
        </p:nvSpPr>
        <p:spPr>
          <a:xfrm>
            <a:off x="4750420" y="3364991"/>
            <a:ext cx="3826652" cy="11958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1"/>
                </a:solidFill>
                <a:latin typeface="Rubik" panose="020B0604020202020204" charset="-79"/>
                <a:cs typeface="Rubik" panose="020B0604020202020204" charset="-79"/>
              </a:rPr>
              <a:t>Tren kategori daya beli</a:t>
            </a:r>
            <a:endParaRPr lang="en-US" sz="1200" dirty="0">
              <a:solidFill>
                <a:schemeClr val="tx1"/>
              </a:solidFill>
              <a:latin typeface="Rubik" panose="020B0604020202020204" charset="-79"/>
              <a:cs typeface="Rubik" panose="020B0604020202020204" charset="-79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1"/>
                </a:solidFill>
                <a:latin typeface="Rubik" panose="020B0604020202020204" charset="-79"/>
                <a:cs typeface="Rubik" panose="020B0604020202020204" charset="-79"/>
              </a:rPr>
              <a:t>Fungsi: </a:t>
            </a:r>
            <a:r>
              <a:rPr lang="en-US" sz="1200" dirty="0">
                <a:solidFill>
                  <a:schemeClr val="tx1"/>
                </a:solidFill>
                <a:latin typeface="Rubik" panose="020B0604020202020204" charset="-79"/>
                <a:cs typeface="Rubik" panose="020B0604020202020204" charset="-79"/>
              </a:rPr>
              <a:t>Komposisi transaksi per tier laba 10-30%, 2020-2023.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1"/>
                </a:solidFill>
                <a:latin typeface="Rubik" panose="020B0604020202020204" charset="-79"/>
                <a:cs typeface="Rubik" panose="020B0604020202020204" charset="-79"/>
              </a:rPr>
              <a:t>Insight: </a:t>
            </a:r>
            <a:r>
              <a:rPr lang="en-US" sz="1200" dirty="0">
                <a:solidFill>
                  <a:schemeClr val="tx1"/>
                </a:solidFill>
                <a:latin typeface="Rubik" panose="020B0604020202020204" charset="-79"/>
                <a:cs typeface="Rubik" panose="020B0604020202020204" charset="-79"/>
              </a:rPr>
              <a:t>Tier 30% sekitar 52% transaksi, stabil tiap tahun.</a:t>
            </a:r>
          </a:p>
        </p:txBody>
      </p:sp>
    </p:spTree>
    <p:extLst>
      <p:ext uri="{BB962C8B-B14F-4D97-AF65-F5344CB8AC3E}">
        <p14:creationId xmlns:p14="http://schemas.microsoft.com/office/powerpoint/2010/main" val="22373974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g23ec2985a68_1_56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g23ec2985a68_1_56"/>
          <p:cNvPicPr preferRelativeResize="0"/>
          <p:nvPr/>
        </p:nvPicPr>
        <p:blipFill rotWithShape="1">
          <a:blip r:embed="rId4">
            <a:alphaModFix/>
          </a:blip>
          <a:srcRect t="5658" b="5649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g23ec2985a68_1_56"/>
          <p:cNvSpPr txBox="1"/>
          <p:nvPr/>
        </p:nvSpPr>
        <p:spPr>
          <a:xfrm>
            <a:off x="109612" y="80193"/>
            <a:ext cx="8463000" cy="461635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49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5715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</a:pPr>
            <a:r>
              <a:rPr lang="en" sz="1800" b="1" dirty="0">
                <a:latin typeface="Rubik"/>
                <a:ea typeface="Rubik"/>
                <a:cs typeface="Rubik"/>
                <a:sym typeface="Rubik"/>
              </a:rPr>
              <a:t>6. Dashboard  Performance Analytics</a:t>
            </a:r>
            <a:endParaRPr sz="1800" b="1" i="0" u="none" strike="noStrike" cap="none" dirty="0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00BAD27-005D-FB1F-F012-197512C61775}"/>
              </a:ext>
            </a:extLst>
          </p:cNvPr>
          <p:cNvSpPr txBox="1"/>
          <p:nvPr/>
        </p:nvSpPr>
        <p:spPr>
          <a:xfrm>
            <a:off x="340499" y="4770301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100" dirty="0">
                <a:solidFill>
                  <a:schemeClr val="accent2">
                    <a:lumMod val="75000"/>
                    <a:lumOff val="25000"/>
                  </a:schemeClr>
                </a:solidFill>
                <a:latin typeface="Rubik"/>
                <a:ea typeface="Rubik"/>
                <a:cs typeface="Rubik"/>
                <a:sym typeface="Rubik"/>
              </a:rPr>
              <a:t>Kimia </a:t>
            </a:r>
            <a:r>
              <a:rPr lang="en-ID" sz="1100" dirty="0" err="1">
                <a:solidFill>
                  <a:schemeClr val="accent2">
                    <a:lumMod val="75000"/>
                    <a:lumOff val="25000"/>
                  </a:schemeClr>
                </a:solidFill>
                <a:latin typeface="Rubik"/>
                <a:ea typeface="Rubik"/>
                <a:cs typeface="Rubik"/>
                <a:sym typeface="Rubik"/>
              </a:rPr>
              <a:t>Farma</a:t>
            </a:r>
            <a:r>
              <a:rPr lang="en-ID" sz="1100" dirty="0">
                <a:solidFill>
                  <a:schemeClr val="accent2">
                    <a:lumMod val="75000"/>
                    <a:lumOff val="25000"/>
                  </a:schemeClr>
                </a:solidFill>
                <a:latin typeface="Rubik"/>
                <a:ea typeface="Rubik"/>
                <a:cs typeface="Rubik"/>
                <a:sym typeface="Rubik"/>
              </a:rPr>
              <a:t> Performance Analytics 2020-2023</a:t>
            </a:r>
            <a:endParaRPr lang="en-ID" sz="1100" dirty="0">
              <a:solidFill>
                <a:schemeClr val="accent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69D71D2-219F-2343-0F89-B8318C622D9B}"/>
              </a:ext>
            </a:extLst>
          </p:cNvPr>
          <p:cNvSpPr txBox="1">
            <a:spLocks/>
          </p:cNvSpPr>
          <p:nvPr/>
        </p:nvSpPr>
        <p:spPr>
          <a:xfrm>
            <a:off x="457200" y="43489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800" b="1">
                <a:solidFill>
                  <a:srgbClr val="003C7B"/>
                </a:solidFill>
                <a:latin typeface="Rubik" panose="020B0604020202020204" charset="-79"/>
                <a:cs typeface="Rubik" panose="020B0604020202020204" charset="-79"/>
              </a:rPr>
              <a:t>Insight &amp; Rekomendasi</a:t>
            </a:r>
            <a:endParaRPr lang="en-US" sz="2800" dirty="0">
              <a:solidFill>
                <a:srgbClr val="003C7B"/>
              </a:solidFill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13" name="Card">
            <a:extLst>
              <a:ext uri="{FF2B5EF4-FFF2-40B4-BE49-F238E27FC236}">
                <a16:creationId xmlns:a16="http://schemas.microsoft.com/office/drawing/2014/main" id="{E4B54BB9-7FA5-AB77-2B43-4EBEDB7EB056}"/>
              </a:ext>
            </a:extLst>
          </p:cNvPr>
          <p:cNvSpPr/>
          <p:nvPr/>
        </p:nvSpPr>
        <p:spPr>
          <a:xfrm>
            <a:off x="457200" y="123444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003C7B"/>
          </a:solidFill>
          <a:ln/>
        </p:spPr>
      </p:sp>
      <p:sp>
        <p:nvSpPr>
          <p:cNvPr id="14" name="IconCircle">
            <a:extLst>
              <a:ext uri="{FF2B5EF4-FFF2-40B4-BE49-F238E27FC236}">
                <a16:creationId xmlns:a16="http://schemas.microsoft.com/office/drawing/2014/main" id="{E1660B33-F5FE-340D-2678-50B75C0EEE88}"/>
              </a:ext>
            </a:extLst>
          </p:cNvPr>
          <p:cNvSpPr/>
          <p:nvPr/>
        </p:nvSpPr>
        <p:spPr>
          <a:xfrm>
            <a:off x="566928" y="1344168"/>
            <a:ext cx="384048" cy="384048"/>
          </a:xfrm>
          <a:prstGeom prst="ellipse">
            <a:avLst/>
          </a:prstGeom>
          <a:solidFill>
            <a:srgbClr val="1F3C88"/>
          </a:solidFill>
          <a:ln/>
        </p:spPr>
      </p:sp>
      <p:pic>
        <p:nvPicPr>
          <p:cNvPr id="15" name="Image 0" descr="ikon">
            <a:extLst>
              <a:ext uri="{FF2B5EF4-FFF2-40B4-BE49-F238E27FC236}">
                <a16:creationId xmlns:a16="http://schemas.microsoft.com/office/drawing/2014/main" id="{132F6128-1FFC-10C1-AFD1-BF4790B77F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" y="1440180"/>
            <a:ext cx="192024" cy="192024"/>
          </a:xfrm>
          <a:prstGeom prst="rect">
            <a:avLst/>
          </a:prstGeom>
        </p:spPr>
      </p:pic>
      <p:sp>
        <p:nvSpPr>
          <p:cNvPr id="16" name="Text 4">
            <a:extLst>
              <a:ext uri="{FF2B5EF4-FFF2-40B4-BE49-F238E27FC236}">
                <a16:creationId xmlns:a16="http://schemas.microsoft.com/office/drawing/2014/main" id="{85157FD2-9401-0EA6-A5D7-C1CE1A336022}"/>
              </a:ext>
            </a:extLst>
          </p:cNvPr>
          <p:cNvSpPr txBox="1"/>
          <p:nvPr/>
        </p:nvSpPr>
        <p:spPr>
          <a:xfrm>
            <a:off x="1024128" y="134416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  <a:latin typeface="Rubik" panose="020B0604020202020204" charset="-79"/>
                <a:cs typeface="Rubik" panose="020B0604020202020204" charset="-79"/>
              </a:rPr>
              <a:t>Konsentrasi Jawa Barat</a:t>
            </a:r>
            <a:endParaRPr lang="en-US" sz="1500" dirty="0"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F66714A0-C0EC-D762-F325-F4FB85B966F6}"/>
              </a:ext>
            </a:extLst>
          </p:cNvPr>
          <p:cNvSpPr txBox="1"/>
          <p:nvPr/>
        </p:nvSpPr>
        <p:spPr>
          <a:xfrm>
            <a:off x="566928" y="1801368"/>
            <a:ext cx="245059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29,5% nett sales dari satu provinsi. Perkuat provinsi lain untuk menekan risiko.</a:t>
            </a:r>
          </a:p>
        </p:txBody>
      </p:sp>
      <p:sp>
        <p:nvSpPr>
          <p:cNvPr id="18" name="Card">
            <a:extLst>
              <a:ext uri="{FF2B5EF4-FFF2-40B4-BE49-F238E27FC236}">
                <a16:creationId xmlns:a16="http://schemas.microsoft.com/office/drawing/2014/main" id="{909B1B3B-A172-C8DD-A60F-D2E26ACCC798}"/>
              </a:ext>
            </a:extLst>
          </p:cNvPr>
          <p:cNvSpPr/>
          <p:nvPr/>
        </p:nvSpPr>
        <p:spPr>
          <a:xfrm>
            <a:off x="3246120" y="123444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01949E"/>
          </a:solidFill>
          <a:ln/>
        </p:spPr>
      </p:sp>
      <p:sp>
        <p:nvSpPr>
          <p:cNvPr id="19" name="IconCircle">
            <a:extLst>
              <a:ext uri="{FF2B5EF4-FFF2-40B4-BE49-F238E27FC236}">
                <a16:creationId xmlns:a16="http://schemas.microsoft.com/office/drawing/2014/main" id="{9D6635FB-7D2F-8E37-D478-FF094A2D420F}"/>
              </a:ext>
            </a:extLst>
          </p:cNvPr>
          <p:cNvSpPr/>
          <p:nvPr/>
        </p:nvSpPr>
        <p:spPr>
          <a:xfrm>
            <a:off x="3355848" y="1344168"/>
            <a:ext cx="384048" cy="384048"/>
          </a:xfrm>
          <a:prstGeom prst="ellipse">
            <a:avLst/>
          </a:prstGeom>
          <a:solidFill>
            <a:srgbClr val="0E8A9A"/>
          </a:solidFill>
          <a:ln/>
        </p:spPr>
      </p:sp>
      <p:pic>
        <p:nvPicPr>
          <p:cNvPr id="20" name="Image 1" descr="ikon">
            <a:extLst>
              <a:ext uri="{FF2B5EF4-FFF2-40B4-BE49-F238E27FC236}">
                <a16:creationId xmlns:a16="http://schemas.microsoft.com/office/drawing/2014/main" id="{5E2EC649-CECE-D63C-E1E1-EBDD87B313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51860" y="1440180"/>
            <a:ext cx="192024" cy="192024"/>
          </a:xfrm>
          <a:prstGeom prst="rect">
            <a:avLst/>
          </a:prstGeom>
        </p:spPr>
      </p:pic>
      <p:sp>
        <p:nvSpPr>
          <p:cNvPr id="21" name="Text 8">
            <a:extLst>
              <a:ext uri="{FF2B5EF4-FFF2-40B4-BE49-F238E27FC236}">
                <a16:creationId xmlns:a16="http://schemas.microsoft.com/office/drawing/2014/main" id="{CEE2E916-65DB-916B-AA96-5C93D82BF935}"/>
              </a:ext>
            </a:extLst>
          </p:cNvPr>
          <p:cNvSpPr txBox="1"/>
          <p:nvPr/>
        </p:nvSpPr>
        <p:spPr>
          <a:xfrm>
            <a:off x="3813048" y="134416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  <a:latin typeface="Rubik" panose="020B0604020202020204" charset="-79"/>
                <a:cs typeface="Rubik" panose="020B0604020202020204" charset="-79"/>
              </a:rPr>
              <a:t>Tumbuh lewat volume</a:t>
            </a:r>
            <a:endParaRPr lang="en-US" sz="1500" dirty="0"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39578D81-602D-02FF-6E30-C0A8D6979E1D}"/>
              </a:ext>
            </a:extLst>
          </p:cNvPr>
          <p:cNvSpPr txBox="1"/>
          <p:nvPr/>
        </p:nvSpPr>
        <p:spPr>
          <a:xfrm>
            <a:off x="3355848" y="1801368"/>
            <a:ext cx="245059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Rubik" panose="020B0604020202020204" charset="-79"/>
                <a:cs typeface="Rubik" panose="020B0604020202020204" charset="-79"/>
              </a:rPr>
              <a:t>Nilai transaksi sekitar Rp516 rb di semua provinsi. Dorong jumlah transaksi dan customer.</a:t>
            </a:r>
            <a:endParaRPr lang="en-US" sz="1400" dirty="0"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23" name="Card">
            <a:extLst>
              <a:ext uri="{FF2B5EF4-FFF2-40B4-BE49-F238E27FC236}">
                <a16:creationId xmlns:a16="http://schemas.microsoft.com/office/drawing/2014/main" id="{80CAECCE-7044-6A7D-BBAF-95008340873B}"/>
              </a:ext>
            </a:extLst>
          </p:cNvPr>
          <p:cNvSpPr/>
          <p:nvPr/>
        </p:nvSpPr>
        <p:spPr>
          <a:xfrm>
            <a:off x="6035040" y="123444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003C7B"/>
          </a:solidFill>
          <a:ln/>
        </p:spPr>
      </p:sp>
      <p:sp>
        <p:nvSpPr>
          <p:cNvPr id="24" name="IconCircle">
            <a:extLst>
              <a:ext uri="{FF2B5EF4-FFF2-40B4-BE49-F238E27FC236}">
                <a16:creationId xmlns:a16="http://schemas.microsoft.com/office/drawing/2014/main" id="{61CE7388-FE16-9664-78E5-1D616857D7DD}"/>
              </a:ext>
            </a:extLst>
          </p:cNvPr>
          <p:cNvSpPr/>
          <p:nvPr/>
        </p:nvSpPr>
        <p:spPr>
          <a:xfrm>
            <a:off x="6144768" y="1344168"/>
            <a:ext cx="384048" cy="384048"/>
          </a:xfrm>
          <a:prstGeom prst="ellipse">
            <a:avLst/>
          </a:prstGeom>
          <a:solidFill>
            <a:srgbClr val="D9730D"/>
          </a:solidFill>
          <a:ln/>
        </p:spPr>
      </p:sp>
      <p:pic>
        <p:nvPicPr>
          <p:cNvPr id="25" name="Image 2" descr="ikon">
            <a:extLst>
              <a:ext uri="{FF2B5EF4-FFF2-40B4-BE49-F238E27FC236}">
                <a16:creationId xmlns:a16="http://schemas.microsoft.com/office/drawing/2014/main" id="{9701074B-67C3-C0E6-EC09-86767D97F8F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0780" y="1440180"/>
            <a:ext cx="192024" cy="192024"/>
          </a:xfrm>
          <a:prstGeom prst="rect">
            <a:avLst/>
          </a:prstGeom>
        </p:spPr>
      </p:pic>
      <p:sp>
        <p:nvSpPr>
          <p:cNvPr id="26" name="Text 12">
            <a:extLst>
              <a:ext uri="{FF2B5EF4-FFF2-40B4-BE49-F238E27FC236}">
                <a16:creationId xmlns:a16="http://schemas.microsoft.com/office/drawing/2014/main" id="{0DE86283-DDD7-A47E-6510-3B51D1184304}"/>
              </a:ext>
            </a:extLst>
          </p:cNvPr>
          <p:cNvSpPr txBox="1"/>
          <p:nvPr/>
        </p:nvSpPr>
        <p:spPr>
          <a:xfrm>
            <a:off x="6601968" y="134416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  <a:latin typeface="Rubik" panose="020B0604020202020204" charset="-79"/>
                <a:cs typeface="Rubik" panose="020B0604020202020204" charset="-79"/>
              </a:rPr>
              <a:t>Rating transaksi</a:t>
            </a:r>
            <a:endParaRPr lang="en-US" sz="1500" dirty="0"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27" name="Text 13">
            <a:extLst>
              <a:ext uri="{FF2B5EF4-FFF2-40B4-BE49-F238E27FC236}">
                <a16:creationId xmlns:a16="http://schemas.microsoft.com/office/drawing/2014/main" id="{7C1CFC75-B1F4-3E3E-EC5D-64BE1425576E}"/>
              </a:ext>
            </a:extLst>
          </p:cNvPr>
          <p:cNvSpPr txBox="1"/>
          <p:nvPr/>
        </p:nvSpPr>
        <p:spPr>
          <a:xfrm>
            <a:off x="6144768" y="1801368"/>
            <a:ext cx="245059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Rating cabang 4,5+ tetapi transaksi sekitar 4,0. Audit antrean, stok, dan layanan.</a:t>
            </a:r>
          </a:p>
        </p:txBody>
      </p:sp>
      <p:sp>
        <p:nvSpPr>
          <p:cNvPr id="33" name="Card">
            <a:extLst>
              <a:ext uri="{FF2B5EF4-FFF2-40B4-BE49-F238E27FC236}">
                <a16:creationId xmlns:a16="http://schemas.microsoft.com/office/drawing/2014/main" id="{4F5493F6-BFC1-3D81-2C6C-BD6DB1FBD5E2}"/>
              </a:ext>
            </a:extLst>
          </p:cNvPr>
          <p:cNvSpPr/>
          <p:nvPr/>
        </p:nvSpPr>
        <p:spPr>
          <a:xfrm>
            <a:off x="1673352" y="2964919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003C7B"/>
          </a:solidFill>
          <a:ln/>
        </p:spPr>
      </p:sp>
      <p:sp>
        <p:nvSpPr>
          <p:cNvPr id="34" name="IconCircle">
            <a:extLst>
              <a:ext uri="{FF2B5EF4-FFF2-40B4-BE49-F238E27FC236}">
                <a16:creationId xmlns:a16="http://schemas.microsoft.com/office/drawing/2014/main" id="{0B19EF50-8F64-30E3-2479-AC08858059DD}"/>
              </a:ext>
            </a:extLst>
          </p:cNvPr>
          <p:cNvSpPr/>
          <p:nvPr/>
        </p:nvSpPr>
        <p:spPr>
          <a:xfrm>
            <a:off x="1783080" y="3074647"/>
            <a:ext cx="384048" cy="384048"/>
          </a:xfrm>
          <a:prstGeom prst="ellipse">
            <a:avLst/>
          </a:prstGeom>
          <a:solidFill>
            <a:srgbClr val="1F3C88"/>
          </a:solidFill>
          <a:ln/>
        </p:spPr>
      </p:sp>
      <p:pic>
        <p:nvPicPr>
          <p:cNvPr id="35" name="Image 4" descr="ikon">
            <a:extLst>
              <a:ext uri="{FF2B5EF4-FFF2-40B4-BE49-F238E27FC236}">
                <a16:creationId xmlns:a16="http://schemas.microsoft.com/office/drawing/2014/main" id="{2457FF92-2593-B418-3425-2B84A15169D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79092" y="3170659"/>
            <a:ext cx="192024" cy="192024"/>
          </a:xfrm>
          <a:prstGeom prst="rect">
            <a:avLst/>
          </a:prstGeom>
        </p:spPr>
      </p:pic>
      <p:sp>
        <p:nvSpPr>
          <p:cNvPr id="36" name="Text 20">
            <a:extLst>
              <a:ext uri="{FF2B5EF4-FFF2-40B4-BE49-F238E27FC236}">
                <a16:creationId xmlns:a16="http://schemas.microsoft.com/office/drawing/2014/main" id="{6821116D-0C74-2BCC-FB62-8D5D39AB4915}"/>
              </a:ext>
            </a:extLst>
          </p:cNvPr>
          <p:cNvSpPr txBox="1"/>
          <p:nvPr/>
        </p:nvSpPr>
        <p:spPr>
          <a:xfrm>
            <a:off x="2240280" y="3074647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  <a:latin typeface="Rubik" panose="020B0604020202020204" charset="-79"/>
                <a:cs typeface="Rubik" panose="020B0604020202020204" charset="-79"/>
              </a:rPr>
              <a:t>Promo musiman</a:t>
            </a:r>
            <a:endParaRPr lang="en-US" sz="1500" dirty="0"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37" name="Text 21">
            <a:extLst>
              <a:ext uri="{FF2B5EF4-FFF2-40B4-BE49-F238E27FC236}">
                <a16:creationId xmlns:a16="http://schemas.microsoft.com/office/drawing/2014/main" id="{D1D9ABEE-72E7-80F2-4513-DDD9878634B7}"/>
              </a:ext>
            </a:extLst>
          </p:cNvPr>
          <p:cNvSpPr txBox="1"/>
          <p:nvPr/>
        </p:nvSpPr>
        <p:spPr>
          <a:xfrm>
            <a:off x="1783079" y="3531847"/>
            <a:ext cx="2487391" cy="944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Rubik" panose="020B0604020202020204" charset="-79"/>
                <a:cs typeface="Rubik" panose="020B0604020202020204" charset="-79"/>
              </a:rPr>
              <a:t>Februari paling rendah (sekitar Rp1,9 M). Siapkan kampanye di bulan itu.</a:t>
            </a:r>
          </a:p>
        </p:txBody>
      </p:sp>
      <p:sp>
        <p:nvSpPr>
          <p:cNvPr id="38" name="Card">
            <a:extLst>
              <a:ext uri="{FF2B5EF4-FFF2-40B4-BE49-F238E27FC236}">
                <a16:creationId xmlns:a16="http://schemas.microsoft.com/office/drawing/2014/main" id="{A9A68078-F6F4-41DC-2EF3-69FA86CFF54D}"/>
              </a:ext>
            </a:extLst>
          </p:cNvPr>
          <p:cNvSpPr/>
          <p:nvPr/>
        </p:nvSpPr>
        <p:spPr>
          <a:xfrm>
            <a:off x="4462272" y="2964919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01949E"/>
          </a:solidFill>
          <a:ln/>
        </p:spPr>
      </p:sp>
      <p:sp>
        <p:nvSpPr>
          <p:cNvPr id="39" name="IconCircle">
            <a:extLst>
              <a:ext uri="{FF2B5EF4-FFF2-40B4-BE49-F238E27FC236}">
                <a16:creationId xmlns:a16="http://schemas.microsoft.com/office/drawing/2014/main" id="{D5049367-B20B-DDA7-CF20-F072F109D9EB}"/>
              </a:ext>
            </a:extLst>
          </p:cNvPr>
          <p:cNvSpPr/>
          <p:nvPr/>
        </p:nvSpPr>
        <p:spPr>
          <a:xfrm>
            <a:off x="4572000" y="3074647"/>
            <a:ext cx="384048" cy="384048"/>
          </a:xfrm>
          <a:prstGeom prst="ellipse">
            <a:avLst/>
          </a:prstGeom>
          <a:solidFill>
            <a:srgbClr val="0E8A9A"/>
          </a:solidFill>
          <a:ln/>
        </p:spPr>
      </p:sp>
      <p:pic>
        <p:nvPicPr>
          <p:cNvPr id="40" name="Image 5" descr="ikon">
            <a:extLst>
              <a:ext uri="{FF2B5EF4-FFF2-40B4-BE49-F238E27FC236}">
                <a16:creationId xmlns:a16="http://schemas.microsoft.com/office/drawing/2014/main" id="{DDEBD027-55DD-1F3E-2B37-62FC1EADFFC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68012" y="3170659"/>
            <a:ext cx="192024" cy="192024"/>
          </a:xfrm>
          <a:prstGeom prst="rect">
            <a:avLst/>
          </a:prstGeom>
        </p:spPr>
      </p:pic>
      <p:sp>
        <p:nvSpPr>
          <p:cNvPr id="41" name="Text 24">
            <a:extLst>
              <a:ext uri="{FF2B5EF4-FFF2-40B4-BE49-F238E27FC236}">
                <a16:creationId xmlns:a16="http://schemas.microsoft.com/office/drawing/2014/main" id="{BAD9937D-8C85-7A8D-6699-60ED2AFA4E77}"/>
              </a:ext>
            </a:extLst>
          </p:cNvPr>
          <p:cNvSpPr txBox="1"/>
          <p:nvPr/>
        </p:nvSpPr>
        <p:spPr>
          <a:xfrm>
            <a:off x="5029200" y="3074647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  <a:latin typeface="Rubik" panose="020B0604020202020204" charset="-79"/>
                <a:cs typeface="Rubik" panose="020B0604020202020204" charset="-79"/>
              </a:rPr>
              <a:t>Efektivitas diskon</a:t>
            </a:r>
            <a:endParaRPr lang="en-US" sz="1500" dirty="0"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42" name="Text 25">
            <a:extLst>
              <a:ext uri="{FF2B5EF4-FFF2-40B4-BE49-F238E27FC236}">
                <a16:creationId xmlns:a16="http://schemas.microsoft.com/office/drawing/2014/main" id="{E3A53503-F342-819B-8F70-83899BCA21D7}"/>
              </a:ext>
            </a:extLst>
          </p:cNvPr>
          <p:cNvSpPr txBox="1"/>
          <p:nvPr/>
        </p:nvSpPr>
        <p:spPr>
          <a:xfrm>
            <a:off x="4572000" y="3531847"/>
            <a:ext cx="245059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Rubik" panose="020B0604020202020204" charset="-79"/>
                <a:cs typeface="Rubik" panose="020B0604020202020204" charset="-79"/>
              </a:rPr>
              <a:t>Diskon terpusat di Jawa Barat. Uji apakah diskon menaikkan profit atau hanya mengikuti volume.</a:t>
            </a:r>
            <a:endParaRPr lang="en-US" sz="1400" dirty="0">
              <a:latin typeface="Rubik" panose="020B0604020202020204" charset="-79"/>
              <a:cs typeface="Rubik" panose="020B060402020202020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3309760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9FAB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8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95425" y="4262625"/>
            <a:ext cx="1399901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8"/>
          <p:cNvSpPr txBox="1"/>
          <p:nvPr/>
        </p:nvSpPr>
        <p:spPr>
          <a:xfrm>
            <a:off x="245622" y="1889757"/>
            <a:ext cx="4392000" cy="8772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en" sz="4500" b="1" i="0" u="none" strike="noStrike" cap="none" dirty="0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rPr>
              <a:t>Thank You</a:t>
            </a:r>
            <a:endParaRPr sz="2000" b="0" i="0" u="none" strike="noStrike" cap="none" dirty="0">
              <a:solidFill>
                <a:schemeClr val="lt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53" name="Google Shape;153;p8"/>
          <p:cNvSpPr txBox="1"/>
          <p:nvPr/>
        </p:nvSpPr>
        <p:spPr>
          <a:xfrm>
            <a:off x="4314750" y="4248575"/>
            <a:ext cx="457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" sz="3000" b="0" i="0" u="none" strike="noStrike" cap="none">
                <a:solidFill>
                  <a:schemeClr val="lt1"/>
                </a:solidFill>
                <a:latin typeface="Rubik SemiBold"/>
                <a:ea typeface="Rubik SemiBold"/>
                <a:cs typeface="Rubik SemiBold"/>
                <a:sym typeface="Rubik SemiBold"/>
              </a:rPr>
              <a:t>X</a:t>
            </a:r>
            <a:endParaRPr sz="3000" b="0" i="0" u="none" strike="noStrike" cap="none">
              <a:solidFill>
                <a:schemeClr val="lt1"/>
              </a:solidFill>
              <a:latin typeface="Rubik SemiBold"/>
              <a:ea typeface="Rubik SemiBold"/>
              <a:cs typeface="Rubik SemiBold"/>
              <a:sym typeface="Rubik SemiBold"/>
            </a:endParaRPr>
          </a:p>
        </p:txBody>
      </p:sp>
      <p:pic>
        <p:nvPicPr>
          <p:cNvPr id="2" name="Google Shape;61;p1">
            <a:extLst>
              <a:ext uri="{FF2B5EF4-FFF2-40B4-BE49-F238E27FC236}">
                <a16:creationId xmlns:a16="http://schemas.microsoft.com/office/drawing/2014/main" id="{9076E468-BDA7-8370-B2F3-E5C58C99F52A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91974" y="4102852"/>
            <a:ext cx="1581660" cy="5694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hape 3">
            <a:extLst>
              <a:ext uri="{FF2B5EF4-FFF2-40B4-BE49-F238E27FC236}">
                <a16:creationId xmlns:a16="http://schemas.microsoft.com/office/drawing/2014/main" id="{82BE5EBE-2443-CAE0-39D7-B5FDC2FDD9C8}"/>
              </a:ext>
            </a:extLst>
          </p:cNvPr>
          <p:cNvSpPr/>
          <p:nvPr/>
        </p:nvSpPr>
        <p:spPr>
          <a:xfrm>
            <a:off x="4672191" y="780911"/>
            <a:ext cx="4023360" cy="877200"/>
          </a:xfrm>
          <a:prstGeom prst="roundRect">
            <a:avLst>
              <a:gd name="adj" fmla="val 6957"/>
            </a:avLst>
          </a:prstGeom>
          <a:solidFill>
            <a:srgbClr val="EEF3FA"/>
          </a:solidFill>
          <a:ln/>
        </p:spPr>
      </p:sp>
      <p:sp>
        <p:nvSpPr>
          <p:cNvPr id="4" name="IconCircle">
            <a:extLst>
              <a:ext uri="{FF2B5EF4-FFF2-40B4-BE49-F238E27FC236}">
                <a16:creationId xmlns:a16="http://schemas.microsoft.com/office/drawing/2014/main" id="{9E2FBA88-7341-4230-B423-395F0EB36484}"/>
              </a:ext>
            </a:extLst>
          </p:cNvPr>
          <p:cNvSpPr/>
          <p:nvPr/>
        </p:nvSpPr>
        <p:spPr>
          <a:xfrm>
            <a:off x="4809351" y="988325"/>
            <a:ext cx="502920" cy="502920"/>
          </a:xfrm>
          <a:prstGeom prst="ellipse">
            <a:avLst/>
          </a:prstGeom>
          <a:solidFill>
            <a:srgbClr val="1F3C88"/>
          </a:solidFill>
          <a:ln/>
        </p:spPr>
      </p:sp>
      <p:pic>
        <p:nvPicPr>
          <p:cNvPr id="5" name="Image 0" descr="ikon">
            <a:extLst>
              <a:ext uri="{FF2B5EF4-FFF2-40B4-BE49-F238E27FC236}">
                <a16:creationId xmlns:a16="http://schemas.microsoft.com/office/drawing/2014/main" id="{1CCEFD79-87C9-1571-6DEF-C4E61BD708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5081" y="1114055"/>
            <a:ext cx="251460" cy="251460"/>
          </a:xfrm>
          <a:prstGeom prst="rect">
            <a:avLst/>
          </a:prstGeom>
        </p:spPr>
      </p:pic>
      <p:sp>
        <p:nvSpPr>
          <p:cNvPr id="6" name="Text 5">
            <a:extLst>
              <a:ext uri="{FF2B5EF4-FFF2-40B4-BE49-F238E27FC236}">
                <a16:creationId xmlns:a16="http://schemas.microsoft.com/office/drawing/2014/main" id="{D236F228-7E92-D311-D302-D3BA19542448}"/>
              </a:ext>
            </a:extLst>
          </p:cNvPr>
          <p:cNvSpPr txBox="1"/>
          <p:nvPr/>
        </p:nvSpPr>
        <p:spPr>
          <a:xfrm>
            <a:off x="5495151" y="918071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75B"/>
                </a:solidFill>
              </a:rPr>
              <a:t>Dashboard Looker Studio</a:t>
            </a:r>
            <a:endParaRPr lang="en-US" sz="1500" dirty="0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C758CC84-B916-BA0D-61F3-AFC83CD56CAD}"/>
              </a:ext>
            </a:extLst>
          </p:cNvPr>
          <p:cNvSpPr txBox="1"/>
          <p:nvPr/>
        </p:nvSpPr>
        <p:spPr>
          <a:xfrm>
            <a:off x="5495151" y="116228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u="sng" dirty="0">
                <a:solidFill>
                  <a:srgbClr val="1F3C88"/>
                </a:solidFill>
                <a:hlinkClick r:id="rId7" tooltip="Dashboard Performance Analytic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Buka dashboard</a:t>
            </a:r>
            <a:endParaRPr lang="en-US" dirty="0"/>
          </a:p>
        </p:txBody>
      </p:sp>
      <p:sp>
        <p:nvSpPr>
          <p:cNvPr id="8" name="Shape 7">
            <a:extLst>
              <a:ext uri="{FF2B5EF4-FFF2-40B4-BE49-F238E27FC236}">
                <a16:creationId xmlns:a16="http://schemas.microsoft.com/office/drawing/2014/main" id="{1E8F4D1A-CCEE-D191-8336-D007770F2FA6}"/>
              </a:ext>
            </a:extLst>
          </p:cNvPr>
          <p:cNvSpPr/>
          <p:nvPr/>
        </p:nvSpPr>
        <p:spPr>
          <a:xfrm>
            <a:off x="4672191" y="1831351"/>
            <a:ext cx="4023360" cy="952720"/>
          </a:xfrm>
          <a:prstGeom prst="roundRect">
            <a:avLst>
              <a:gd name="adj" fmla="val 6957"/>
            </a:avLst>
          </a:prstGeom>
          <a:solidFill>
            <a:srgbClr val="EEF3FA"/>
          </a:solidFill>
          <a:ln/>
        </p:spPr>
      </p:sp>
      <p:sp>
        <p:nvSpPr>
          <p:cNvPr id="9" name="IconCircle">
            <a:extLst>
              <a:ext uri="{FF2B5EF4-FFF2-40B4-BE49-F238E27FC236}">
                <a16:creationId xmlns:a16="http://schemas.microsoft.com/office/drawing/2014/main" id="{CD3071F2-E14F-9B08-F035-23E21F109112}"/>
              </a:ext>
            </a:extLst>
          </p:cNvPr>
          <p:cNvSpPr/>
          <p:nvPr/>
        </p:nvSpPr>
        <p:spPr>
          <a:xfrm>
            <a:off x="4809351" y="2020925"/>
            <a:ext cx="502920" cy="502920"/>
          </a:xfrm>
          <a:prstGeom prst="ellipse">
            <a:avLst/>
          </a:prstGeom>
          <a:solidFill>
            <a:srgbClr val="14275B"/>
          </a:solidFill>
          <a:ln/>
        </p:spPr>
      </p:sp>
      <p:pic>
        <p:nvPicPr>
          <p:cNvPr id="10" name="Image 1" descr="ikon">
            <a:extLst>
              <a:ext uri="{FF2B5EF4-FFF2-40B4-BE49-F238E27FC236}">
                <a16:creationId xmlns:a16="http://schemas.microsoft.com/office/drawing/2014/main" id="{FF789BD2-AF42-5B6B-AD9D-F8E55523DE9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5081" y="2113207"/>
            <a:ext cx="251460" cy="251460"/>
          </a:xfrm>
          <a:prstGeom prst="rect">
            <a:avLst/>
          </a:prstGeom>
        </p:spPr>
      </p:pic>
      <p:sp>
        <p:nvSpPr>
          <p:cNvPr id="11" name="Text 9">
            <a:extLst>
              <a:ext uri="{FF2B5EF4-FFF2-40B4-BE49-F238E27FC236}">
                <a16:creationId xmlns:a16="http://schemas.microsoft.com/office/drawing/2014/main" id="{21F84665-3D8B-A826-4794-11BCFE425811}"/>
              </a:ext>
            </a:extLst>
          </p:cNvPr>
          <p:cNvSpPr txBox="1"/>
          <p:nvPr/>
        </p:nvSpPr>
        <p:spPr>
          <a:xfrm>
            <a:off x="5495151" y="198413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75B"/>
                </a:solidFill>
              </a:rPr>
              <a:t>Repository GitHub (syntax BigQuery)</a:t>
            </a:r>
            <a:endParaRPr lang="en-US" sz="15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9999DA47-82E2-0CA9-2497-1F0A15734477}"/>
              </a:ext>
            </a:extLst>
          </p:cNvPr>
          <p:cNvSpPr txBox="1"/>
          <p:nvPr/>
        </p:nvSpPr>
        <p:spPr>
          <a:xfrm>
            <a:off x="5495151" y="2339849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03C7B"/>
                </a:solidFill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Buka repository GitHub</a:t>
            </a:r>
            <a:endParaRPr lang="en-US" dirty="0">
              <a:solidFill>
                <a:srgbClr val="003C7B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56F40C43-BDC7-83F4-BAF9-FE9365D6D69A}"/>
              </a:ext>
            </a:extLst>
          </p:cNvPr>
          <p:cNvSpPr/>
          <p:nvPr/>
        </p:nvSpPr>
        <p:spPr>
          <a:xfrm>
            <a:off x="4672191" y="2968783"/>
            <a:ext cx="4023360" cy="867603"/>
          </a:xfrm>
          <a:prstGeom prst="roundRect">
            <a:avLst>
              <a:gd name="adj" fmla="val 6957"/>
            </a:avLst>
          </a:prstGeom>
          <a:solidFill>
            <a:srgbClr val="EEF3FA"/>
          </a:solidFill>
          <a:ln/>
        </p:spPr>
      </p:sp>
      <p:sp>
        <p:nvSpPr>
          <p:cNvPr id="14" name="IconCircle">
            <a:extLst>
              <a:ext uri="{FF2B5EF4-FFF2-40B4-BE49-F238E27FC236}">
                <a16:creationId xmlns:a16="http://schemas.microsoft.com/office/drawing/2014/main" id="{B3BACA04-6DE7-D9FD-389C-961861827F59}"/>
              </a:ext>
            </a:extLst>
          </p:cNvPr>
          <p:cNvSpPr/>
          <p:nvPr/>
        </p:nvSpPr>
        <p:spPr>
          <a:xfrm>
            <a:off x="4809351" y="3098140"/>
            <a:ext cx="502920" cy="502920"/>
          </a:xfrm>
          <a:prstGeom prst="ellipse">
            <a:avLst/>
          </a:prstGeom>
          <a:solidFill>
            <a:srgbClr val="D9730D"/>
          </a:solidFill>
          <a:ln/>
        </p:spPr>
      </p:sp>
      <p:pic>
        <p:nvPicPr>
          <p:cNvPr id="15" name="Image 2" descr="ikon">
            <a:extLst>
              <a:ext uri="{FF2B5EF4-FFF2-40B4-BE49-F238E27FC236}">
                <a16:creationId xmlns:a16="http://schemas.microsoft.com/office/drawing/2014/main" id="{E077FB73-5D7F-0902-AF9A-79C8949B083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35081" y="3212720"/>
            <a:ext cx="251460" cy="251460"/>
          </a:xfrm>
          <a:prstGeom prst="rect">
            <a:avLst/>
          </a:prstGeom>
        </p:spPr>
      </p:pic>
      <p:sp>
        <p:nvSpPr>
          <p:cNvPr id="16" name="Text 13">
            <a:extLst>
              <a:ext uri="{FF2B5EF4-FFF2-40B4-BE49-F238E27FC236}">
                <a16:creationId xmlns:a16="http://schemas.microsoft.com/office/drawing/2014/main" id="{A4722DBE-FD0D-C539-46EA-68A8CCEF1C95}"/>
              </a:ext>
            </a:extLst>
          </p:cNvPr>
          <p:cNvSpPr txBox="1"/>
          <p:nvPr/>
        </p:nvSpPr>
        <p:spPr>
          <a:xfrm>
            <a:off x="5495151" y="3050189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75B"/>
                </a:solidFill>
              </a:rPr>
              <a:t>Video presentasi</a:t>
            </a:r>
            <a:endParaRPr lang="en-US" sz="1500" dirty="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98D3082E-AE42-D89B-D0C2-907FE976A429}"/>
              </a:ext>
            </a:extLst>
          </p:cNvPr>
          <p:cNvSpPr txBox="1"/>
          <p:nvPr/>
        </p:nvSpPr>
        <p:spPr>
          <a:xfrm>
            <a:off x="5495151" y="335015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03C7B"/>
                </a:solidFill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Buka video </a:t>
            </a:r>
            <a:r>
              <a:rPr lang="en-US" dirty="0" err="1">
                <a:solidFill>
                  <a:srgbClr val="003C7B"/>
                </a:solidFill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presentasi</a:t>
            </a:r>
            <a:endParaRPr lang="en-US" dirty="0">
              <a:solidFill>
                <a:srgbClr val="003C7B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423</TotalTime>
  <Words>2320</Words>
  <Application>Microsoft Office PowerPoint</Application>
  <PresentationFormat>On-screen Show (16:9)</PresentationFormat>
  <Paragraphs>348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Rubik SemiBold</vt:lpstr>
      <vt:lpstr>Rubik Light</vt:lpstr>
      <vt:lpstr>Arial</vt:lpstr>
      <vt:lpstr>Rubik Medium</vt:lpstr>
      <vt:lpstr>Rubik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Ayass</dc:creator>
  <cp:lastModifiedBy>ayasmyssarh</cp:lastModifiedBy>
  <cp:revision>25</cp:revision>
  <dcterms:modified xsi:type="dcterms:W3CDTF">2026-10-10T05:16:19Z</dcterms:modified>
</cp:coreProperties>
</file>